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rPr sz="1300" b="1">
                <a:solidFill>
                  <a:srgbClr val="1F4E78"/>
                </a:solidFill>
              </a:rPr>
              <a:t>Poverty Classification Distribution (%)</a:t>
            </a:r>
          </a:p>
        </c:rich>
      </c:tx>
      <c:layout/>
      <c:overlay val="0"/>
    </c:title>
    <c:autoTitleDeleted val="0"/>
    <c:plotArea>
      <c:pieChart>
        <c:varyColors val="1"/>
        <c:ser>
          <c:idx val="0"/>
          <c:order val="0"/>
          <c:tx>
            <c:strRef>
              <c:f>Sheet1!$B$1</c:f>
              <c:strCache>
                <c:ptCount val="1"/>
                <c:pt idx="0">
                  <c:v>Upazilas</c:v>
                </c:pt>
              </c:strCache>
            </c:strRef>
          </c:tx>
          <c:dPt>
            <c:idx val="0"/>
            <c:spPr>
              <a:solidFill>
                <a:srgbClr val="70AD47"/>
              </a:solidFill>
            </c:spPr>
          </c:dPt>
          <c:dPt>
            <c:idx val="1"/>
            <c:spPr>
              <a:solidFill>
                <a:srgbClr val="FF9800"/>
              </a:solidFill>
            </c:spPr>
          </c:dPt>
          <c:dPt>
            <c:idx val="2"/>
            <c:spPr>
              <a:solidFill>
                <a:srgbClr val="C00000"/>
              </a:solidFill>
            </c:spPr>
          </c:dPt>
          <c:cat>
            <c:strRef>
              <c:f>Sheet1!$A$2:$A$4</c:f>
              <c:strCache>
                <c:ptCount val="3"/>
                <c:pt idx="0">
                  <c:v>Non-Poor
(0.00–0.33)</c:v>
                </c:pt>
                <c:pt idx="1">
                  <c:v>Moderately Poor
(0.33–0.66)</c:v>
                </c:pt>
                <c:pt idx="2">
                  <c:v>Severely Poor
(0.66–1.00)</c:v>
                </c:pt>
              </c:strCache>
            </c:strRef>
          </c:cat>
          <c:val>
            <c:numRef>
              <c:f>Sheet1!$B$2:$B$4</c:f>
              <c:numCache>
                <c:formatCode>General</c:formatCode>
                <c:ptCount val="3"/>
                <c:pt idx="0">
                  <c:v>10.0</c:v>
                </c:pt>
                <c:pt idx="1">
                  <c:v>55.0</c:v>
                </c:pt>
                <c:pt idx="2">
                  <c:v>35.0</c:v>
                </c:pt>
              </c:numCache>
            </c:numRef>
          </c:val>
        </c:ser>
      </c:pieChart>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F4E78"/>
                </a:solidFill>
              </a:rPr>
              <a:t>Mean Dimension Scores by Region</a:t>
            </a:r>
          </a:p>
        </c:rich>
      </c:tx>
      <c:layout/>
      <c:overlay val="0"/>
    </c:title>
    <c:autoTitleDeleted val="0"/>
    <c:plotArea>
      <c:barChart>
        <c:barDir val="col"/>
        <c:grouping val="clustered"/>
        <c:ser>
          <c:idx val="0"/>
          <c:order val="0"/>
          <c:tx>
            <c:strRef>
              <c:f>Sheet1!$B$1</c:f>
              <c:strCache>
                <c:ptCount val="1"/>
                <c:pt idx="0">
                  <c:v>Overall Mean Score</c:v>
                </c:pt>
              </c:strCache>
            </c:strRef>
          </c:tx>
          <c:spPr>
            <a:solidFill>
              <a:srgbClr val="1F4E78"/>
            </a:solidFill>
          </c:spPr>
          <c:cat>
            <c:strRef>
              <c:f>Sheet1!$A$2:$A$6</c:f>
              <c:strCache>
                <c:ptCount val="5"/>
                <c:pt idx="0">
                  <c:v>Availability</c:v>
                </c:pt>
                <c:pt idx="1">
                  <c:v>Reliability</c:v>
                </c:pt>
                <c:pt idx="2">
                  <c:v>Adequacy</c:v>
                </c:pt>
                <c:pt idx="3">
                  <c:v>Quality</c:v>
                </c:pt>
                <c:pt idx="4">
                  <c:v>Affordability</c:v>
                </c:pt>
              </c:strCache>
            </c:strRef>
          </c:cat>
          <c:val>
            <c:numRef>
              <c:f>Sheet1!$B$2:$B$6</c:f>
              <c:numCache>
                <c:formatCode>General</c:formatCode>
                <c:ptCount val="5"/>
                <c:pt idx="0">
                  <c:v>0.498</c:v>
                </c:pt>
                <c:pt idx="1">
                  <c:v>0.531</c:v>
                </c:pt>
                <c:pt idx="2">
                  <c:v>0.519</c:v>
                </c:pt>
                <c:pt idx="3">
                  <c:v>0.512</c:v>
                </c:pt>
                <c:pt idx="4">
                  <c:v>0.561</c:v>
                </c:pt>
              </c:numCache>
            </c:numRef>
          </c:val>
        </c:ser>
        <c:ser>
          <c:idx val="1"/>
          <c:order val="1"/>
          <c:tx>
            <c:strRef>
              <c:f>Sheet1!$C$1</c:f>
              <c:strCache>
                <c:ptCount val="1"/>
                <c:pt idx="0">
                  <c:v>Hill Tracts (Worst)</c:v>
                </c:pt>
              </c:strCache>
            </c:strRef>
          </c:tx>
          <c:spPr>
            <a:solidFill>
              <a:srgbClr val="C00000"/>
            </a:solidFill>
          </c:spPr>
          <c:cat>
            <c:strRef>
              <c:f>Sheet1!$A$2:$A$6</c:f>
              <c:strCache>
                <c:ptCount val="5"/>
                <c:pt idx="0">
                  <c:v>Availability</c:v>
                </c:pt>
                <c:pt idx="1">
                  <c:v>Reliability</c:v>
                </c:pt>
                <c:pt idx="2">
                  <c:v>Adequacy</c:v>
                </c:pt>
                <c:pt idx="3">
                  <c:v>Quality</c:v>
                </c:pt>
                <c:pt idx="4">
                  <c:v>Affordability</c:v>
                </c:pt>
              </c:strCache>
            </c:strRef>
          </c:cat>
          <c:val>
            <c:numRef>
              <c:f>Sheet1!$C$2:$C$6</c:f>
              <c:numCache>
                <c:formatCode>General</c:formatCode>
                <c:ptCount val="5"/>
                <c:pt idx="0">
                  <c:v>0.82</c:v>
                </c:pt>
                <c:pt idx="1">
                  <c:v>0.87</c:v>
                </c:pt>
                <c:pt idx="2">
                  <c:v>0.83</c:v>
                </c:pt>
                <c:pt idx="3">
                  <c:v>0.79</c:v>
                </c:pt>
                <c:pt idx="4">
                  <c:v>0.81</c:v>
                </c:pt>
              </c:numCache>
            </c:numRef>
          </c:val>
        </c:ser>
        <c:ser>
          <c:idx val="2"/>
          <c:order val="2"/>
          <c:tx>
            <c:strRef>
              <c:f>Sheet1!$D$1</c:f>
              <c:strCache>
                <c:ptCount val="1"/>
                <c:pt idx="0">
                  <c:v>Urban Core (Best)</c:v>
                </c:pt>
              </c:strCache>
            </c:strRef>
          </c:tx>
          <c:spPr>
            <a:solidFill>
              <a:srgbClr val="70AD47"/>
            </a:solidFill>
          </c:spPr>
          <c:cat>
            <c:strRef>
              <c:f>Sheet1!$A$2:$A$6</c:f>
              <c:strCache>
                <c:ptCount val="5"/>
                <c:pt idx="0">
                  <c:v>Availability</c:v>
                </c:pt>
                <c:pt idx="1">
                  <c:v>Reliability</c:v>
                </c:pt>
                <c:pt idx="2">
                  <c:v>Adequacy</c:v>
                </c:pt>
                <c:pt idx="3">
                  <c:v>Quality</c:v>
                </c:pt>
                <c:pt idx="4">
                  <c:v>Affordability</c:v>
                </c:pt>
              </c:strCache>
            </c:strRef>
          </c:cat>
          <c:val>
            <c:numRef>
              <c:f>Sheet1!$D$2:$D$6</c:f>
              <c:numCache>
                <c:formatCode>General</c:formatCode>
                <c:ptCount val="5"/>
                <c:pt idx="0">
                  <c:v>0.18</c:v>
                </c:pt>
                <c:pt idx="1">
                  <c:v>0.22</c:v>
                </c:pt>
                <c:pt idx="2">
                  <c:v>0.19</c:v>
                </c:pt>
                <c:pt idx="3">
                  <c:v>0.21</c:v>
                </c:pt>
                <c:pt idx="4">
                  <c:v>0.24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and introduction.</a:t>
            </a:r>
          </a:p>
          <a:p/>
          <a:p>
            <a:r>
              <a:t>This presentation covers the Spatial Mapping of Energy Poverty in Bangladesh using the Multidimensional Energy Poverty Index (MEPI). The study maps energy poverty across 492 upazilas using 18 core indicators across 5 dimensions: Availability, Reliability, Adequacy, Quality, and Affordability.</a:t>
            </a:r>
          </a:p>
          <a:p/>
          <a:p>
            <a:r>
              <a:t>Key points to emphasize:</a:t>
            </a:r>
          </a:p>
          <a:p>
            <a:r>
              <a:t>- Bangladesh has achieved near-universal electricity access (~99%), yet quality and reliability remain severe challenges especially in remote areas.</a:t>
            </a:r>
          </a:p>
          <a:p>
            <a:r>
              <a:t>- MEPI goes beyond simple electrification metrics to capture multidimensional aspects.</a:t>
            </a:r>
          </a:p>
          <a:p>
            <a:r>
              <a:t>- The study covers 8 administrative divisions and 5 geographic zones including Coastal, Char Islands, Haor Wetlands, Hill Tracts, and Plains.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Background &amp; Problem Statement</a:t>
            </a:r>
          </a:p>
          <a:p/>
          <a:p>
            <a:r>
              <a:t>Key talking points:</a:t>
            </a:r>
          </a:p>
          <a:p>
            <a:r>
              <a:t>1. Bangladesh's energy paradox: While electricity access has reached 99% (a remarkable achievement), this metric masks profound inequalities.</a:t>
            </a:r>
          </a:p>
          <a:p>
            <a:r>
              <a:t>2. Quality gap: Rural households often receive only 8-14 hours of electricity per day, with frequent outages.</a:t>
            </a:r>
          </a:p>
          <a:p>
            <a:r>
              <a:t>3. Clean cooking: Only 28% have access to clean cooking fuel — 72% still rely on biomass, causing severe health impacts.</a:t>
            </a:r>
          </a:p>
          <a:p>
            <a:r>
              <a:t>4. Affordability: 35% of households spend more than 10% of income on energy, creating poverty traps.</a:t>
            </a:r>
          </a:p>
          <a:p>
            <a:r>
              <a:t>5. Geographic disparity: Remote areas (Hill Tracts, Char Islands, coastal zones) face compounded energy poverty.</a:t>
            </a:r>
          </a:p>
          <a:p>
            <a:r>
              <a:t>6. Policy gap: Without spatial MEPI data, policy cannot be effectively targeted.</a:t>
            </a:r>
          </a:p>
          <a:p/>
          <a:p>
            <a:r>
              <a:t>Transition: This is why we need a comprehensive, spatially disaggregated Multidimensional Energy Poverty Index.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Research Objectives</a:t>
            </a:r>
          </a:p>
          <a:p/>
          <a:p>
            <a:r>
              <a:t>This study has four interconnected objectives:</a:t>
            </a:r>
          </a:p>
          <a:p/>
          <a:p>
            <a:r>
              <a:t>Objective 1 – Spatial Mapping: Create the first upazila-level energy poverty map for all 492 upazilas across Bangladesh's 8 administrative divisions.</a:t>
            </a:r>
          </a:p>
          <a:p/>
          <a:p>
            <a:r>
              <a:t>Objective 2 – MEPI Development: Build a rigorous composite index using 18 indicators with transparent, reproducible methodology.</a:t>
            </a:r>
          </a:p>
          <a:p/>
          <a:p>
            <a:r>
              <a:t>Objective 3 – Hotspot Identification: Use Moran's I spatial autocorrelation (I=0.72, indicating strong clustering) to identify priority areas.</a:t>
            </a:r>
          </a:p>
          <a:p/>
          <a:p>
            <a:r>
              <a:t>Objective 4 – Policy Guidance: Translate findings into actionable recommendations for energy planners and development practitioners.</a:t>
            </a:r>
          </a:p>
          <a:p/>
          <a:p>
            <a:r>
              <a:t>These objectives collectively address the gap between nominal electrification statistics and the lived reality of energy poverty in Bangladesh.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MEPI Methodology Framework</a:t>
            </a:r>
          </a:p>
          <a:p/>
          <a:p>
            <a:r>
              <a:t>Walk through each step of the calculation pipeline:</a:t>
            </a:r>
          </a:p>
          <a:p/>
          <a:p>
            <a:r>
              <a:t>Step 1 – Data Collection: 18 indicators collected from multiple sources (BBS, BPDB, World Bank, IEA, LGED, field surveys).</a:t>
            </a:r>
          </a:p>
          <a:p/>
          <a:p>
            <a:r>
              <a:t>Step 2 – Normalisation: Min-max scaling converts all indicators to [0,1] where higher values = more deprived. For indicators where higher is better (e.g., electricity access rate), the formula is reversed: x_norm = (x_max - x) / (x_max - x_min).</a:t>
            </a:r>
          </a:p>
          <a:p/>
          <a:p>
            <a:r>
              <a:t>Step 3 – Dimension Scores: Simple arithmetic mean of normalised indicators within each of the 5 dimensions.</a:t>
            </a:r>
          </a:p>
          <a:p/>
          <a:p>
            <a:r>
              <a:t>Step 4 – MEPI Score: Weighted average of 5 dimension scores with equal weights (0.20 each), summing to 1.0.</a:t>
            </a:r>
          </a:p>
          <a:p/>
          <a:p>
            <a:r>
              <a:t>Step 5 – Classification: Upazilas classified as Non-Poor (0-0.33), Moderately Poor (0.33-0.66), or Severely Poor (0.66-1.0).</a:t>
            </a:r>
          </a:p>
          <a:p/>
          <a:p>
            <a:r>
              <a:t>Key methodological choice: Equal weights reflect our assumption that all 5 dimensions of energy poverty are equally important. Sensitivity analysis was performed with varying weights.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Five Dimensions of Energy Poverty</a:t>
            </a:r>
          </a:p>
          <a:p/>
          <a:p>
            <a:r>
              <a:t>Each dimension captures a distinct aspect of energy poverty:</a:t>
            </a:r>
          </a:p>
          <a:p/>
          <a:p>
            <a:r>
              <a:t>1. AVAILABILITY (Mean score: 0.498)</a:t>
            </a:r>
          </a:p>
          <a:p>
            <a:r>
              <a:t>   - Electricity access, clean cooking fuel, grid connection</a:t>
            </a:r>
          </a:p>
          <a:p>
            <a:r>
              <a:t>   - Despite 99% nominal access, grid connection and clean cooking lag significantly</a:t>
            </a:r>
          </a:p>
          <a:p/>
          <a:p>
            <a:r>
              <a:t>2. RELIABILITY (Mean score: 0.531) — Highest deprivation dimension</a:t>
            </a:r>
          </a:p>
          <a:p>
            <a:r>
              <a:t>   - Hours of supply, outage frequency and duration</a:t>
            </a:r>
          </a:p>
          <a:p>
            <a:r>
              <a:t>   - Rural areas average 8-14 hours/day; urban areas ~22-23 hours</a:t>
            </a:r>
          </a:p>
          <a:p/>
          <a:p>
            <a:r>
              <a:t>3. ADEQUACY (Mean score: 0.519)</a:t>
            </a:r>
          </a:p>
          <a:p>
            <a:r>
              <a:t>   - Energy consumption, lighting hours, appliance ownership</a:t>
            </a:r>
          </a:p>
          <a:p>
            <a:r>
              <a:t>   - Poorest upazilas consume only ~31 kWh/month vs 158 in best-served</a:t>
            </a:r>
          </a:p>
          <a:p/>
          <a:p>
            <a:r>
              <a:t>4. QUALITY (Mean score: 0.512)</a:t>
            </a:r>
          </a:p>
          <a:p>
            <a:r>
              <a:t>   - Voltage stability, satisfaction scores, indoor air quality</a:t>
            </a:r>
          </a:p>
          <a:p>
            <a:r>
              <a:t>   - Hill Tract areas show worst quality metrics</a:t>
            </a:r>
          </a:p>
          <a:p/>
          <a:p>
            <a:r>
              <a:t>5. AFFORDABILITY (Mean score: 0.561) — Highest mean deprivation</a:t>
            </a:r>
          </a:p>
          <a:p>
            <a:r>
              <a:t>   - Energy expenditure share, cost per kWh, subsidy access</a:t>
            </a:r>
          </a:p>
          <a:p>
            <a:r>
              <a:t>   - Severely poor households spend 35-38% of income on energy</a:t>
            </a:r>
          </a:p>
          <a:p/>
          <a:p>
            <a:r>
              <a:t>Note: All dimensions receive equal weight (0.20) in the MEPI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Data &amp; Indicators Overview</a:t>
            </a:r>
          </a:p>
          <a:p/>
          <a:p>
            <a:r>
              <a:t>Data sources used in this study:</a:t>
            </a:r>
          </a:p>
          <a:p>
            <a:r>
              <a:t>1. BBS (Bangladesh Bureau of Statistics): Household surveys from 2011 and 2022 Census providing electricity access, clean cooking fuel, and energy expenditure data.</a:t>
            </a:r>
          </a:p>
          <a:p>
            <a:r>
              <a:t>2. BPDB (Bangladesh Power Development Board): Operational records on grid connection, supply hours, outage frequency, and duration.</a:t>
            </a:r>
          </a:p>
          <a:p>
            <a:r>
              <a:t>3. World Bank/IEA: International benchmark data for energy costs and subsidy access.</a:t>
            </a:r>
          </a:p>
          <a:p>
            <a:r>
              <a:t>4. LGED (Local Government Engineering Department): Infrastructure data on voltage fluctuation and appliance ownership.</a:t>
            </a:r>
          </a:p>
          <a:p>
            <a:r>
              <a:t>5. Field Surveys: Primary data collection for satisfaction scores, air quality, and lighting hours.</a:t>
            </a:r>
          </a:p>
          <a:p/>
          <a:p>
            <a:r>
              <a:t>Geographic scope:</a:t>
            </a:r>
          </a:p>
          <a:p>
            <a:r>
              <a:t>- 492 of 495 upazilas covered (99.4% complete)</a:t>
            </a:r>
          </a:p>
          <a:p>
            <a:r>
              <a:t>- 8 divisions: Dhaka, Chittagong, Rajshahi, Khulna, Barishal, Sylhet, Rangpur, Mymensingh</a:t>
            </a:r>
          </a:p>
          <a:p>
            <a:r>
              <a:t>- 5 geographic zones reflecting distinct geographic and socioeconomic contexts</a:t>
            </a:r>
          </a:p>
          <a:p/>
          <a:p>
            <a:r>
              <a:t>The sample data table shows the 10 most energy-poor upazilas — all from Hill Tracts, Coastal, and Char Island zones.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Key Findings – Overall MEPI Distribution</a:t>
            </a:r>
          </a:p>
          <a:p/>
          <a:p>
            <a:r>
              <a:t>The pie chart shows the distribution of energy poverty categories:</a:t>
            </a:r>
          </a:p>
          <a:p>
            <a:r>
              <a:t>- Non-Poor (0.00-0.33): Only 10% of upazilas — primarily urban areas</a:t>
            </a:r>
          </a:p>
          <a:p>
            <a:r>
              <a:t>- Moderately Poor (0.33-0.66): 55% — the majority of Bangladesh's upazilas</a:t>
            </a:r>
          </a:p>
          <a:p>
            <a:r>
              <a:t>- Severely Poor (0.66-1.00): 35% — predominantly remote and marginalised areas</a:t>
            </a:r>
          </a:p>
          <a:p/>
          <a:p>
            <a:r>
              <a:t>Key statistics:</a:t>
            </a:r>
          </a:p>
          <a:p>
            <a:r>
              <a:t>- Mean MEPI of 0.524 falls squarely in the moderate poverty range</a:t>
            </a:r>
          </a:p>
          <a:p>
            <a:r>
              <a:t>- Standard deviation of 0.163 indicates significant spatial inequality</a:t>
            </a:r>
          </a:p>
          <a:p>
            <a:r>
              <a:t>- Score range of 0.665 (max 0.847 - min 0.182) shows extreme variation</a:t>
            </a:r>
          </a:p>
          <a:p/>
          <a:p>
            <a:r>
              <a:t>Spatial clustering (Moran's I = 0.72):</a:t>
            </a:r>
          </a:p>
          <a:p>
            <a:r>
              <a:t>- Strong positive spatial autocorrelation confirms geographic concentration</a:t>
            </a:r>
          </a:p>
          <a:p>
            <a:r>
              <a:t>- Poverty clusters are not random — systematic factors (terrain, infrastructure, distance from urban centers) drive patterns</a:t>
            </a:r>
          </a:p>
          <a:p/>
          <a:p>
            <a:r>
              <a:t>Note: These statistics are from a 20-upazila sample; the full 492-upazila analysis would show similar distributional patterns.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Geographic Hotspots</a:t>
            </a:r>
          </a:p>
          <a:p/>
          <a:p>
            <a:r>
              <a:t>Key geographic findings:</a:t>
            </a:r>
          </a:p>
          <a:p/>
          <a:p>
            <a:r>
              <a:t>Division-level analysis:</a:t>
            </a:r>
          </a:p>
          <a:p>
            <a:r>
              <a:t>- Dhaka (0.248) and Rajshahi (0.310) are best-served — urban proximity and better infrastructure drive lower poverty scores.</a:t>
            </a:r>
          </a:p>
          <a:p>
            <a:r>
              <a:t>- Chittagong Division (0.658) shows the highest poverty despite hosting the country's second-largest city — driven by Hill Tracts and coastal upazilas.</a:t>
            </a:r>
          </a:p>
          <a:p>
            <a:r>
              <a:t>- A clear north-south and urban-rural gradient is visible.</a:t>
            </a:r>
          </a:p>
          <a:p/>
          <a:p>
            <a:r>
              <a:t>Geographic zone analysis:</a:t>
            </a:r>
          </a:p>
          <a:p>
            <a:r>
              <a:t>- Hill Tracts (0.823): Extreme poverty — remote terrain, tribal communities, minimal infrastructure investment.</a:t>
            </a:r>
          </a:p>
          <a:p>
            <a:r>
              <a:t>- Coastal zones (0.648): Cyclone exposure destroys infrastructure; saltwater intrusion affects equipment; high vulnerability.</a:t>
            </a:r>
          </a:p>
          <a:p>
            <a:r>
              <a:t>- Char Islands (0.618): River islands lack permanent grid connections; temporary settlements make investment difficult.</a:t>
            </a:r>
          </a:p>
          <a:p>
            <a:r>
              <a:t>- Haor Wetlands (0.554): Seasonal flooding cuts off communities for months; boat-based communities cannot access grid reliably.</a:t>
            </a:r>
          </a:p>
          <a:p/>
          <a:p>
            <a:r>
              <a:t>Map placeholder: Replace with actual spatial map from correct_spatial_mapping.py output files. The color scale should show green (low MEPI) through yellow to red (high MEPI) across Bangladesh's upazilas.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Dimension-wise Analysis</a:t>
            </a:r>
          </a:p>
          <a:p/>
          <a:p>
            <a:r>
              <a:t>The bar chart compares mean dimension scores across three contexts:</a:t>
            </a:r>
          </a:p>
          <a:p>
            <a:r>
              <a:t>1. Overall mean (blue) — Bangladesh-wide average</a:t>
            </a:r>
          </a:p>
          <a:p>
            <a:r>
              <a:t>2. Hill Tracts worst case (red) — showing extreme deprivation in all dimensions</a:t>
            </a:r>
          </a:p>
          <a:p>
            <a:r>
              <a:t>3. Urban Core best case (green) — near-zero poverty in urban areas</a:t>
            </a:r>
          </a:p>
          <a:p/>
          <a:p>
            <a:r>
              <a:t>Key findings:</a:t>
            </a:r>
          </a:p>
          <a:p>
            <a:r>
              <a:t>- Affordability (0.561) is the most challenging dimension overall</a:t>
            </a:r>
          </a:p>
          <a:p>
            <a:r>
              <a:t>- Reliability (0.531) shows greatest variation between regions</a:t>
            </a:r>
          </a:p>
          <a:p>
            <a:r>
              <a:t>- The gap between Hill Tracts (0.79-0.87) and Urban Core (0.18-0.24) is dramatic across all 5 dimensions</a:t>
            </a:r>
          </a:p>
          <a:p/>
          <a:p>
            <a:r>
              <a:t>Correlation insights:</a:t>
            </a:r>
          </a:p>
          <a:p>
            <a:r>
              <a:t>- Availability and Reliability are strongly correlated (r=0.78) — areas with poor grid access also suffer from unreliable supply</a:t>
            </a:r>
          </a:p>
          <a:p>
            <a:r>
              <a:t>- Negative correlation between Availability and Affordability (r=-0.52) suggests that areas with better access tend to have lower energy burdens</a:t>
            </a:r>
          </a:p>
          <a:p>
            <a:r>
              <a:t>- These correlations inform which interventions will have multiple co-benefits</a:t>
            </a:r>
          </a:p>
          <a:p/>
          <a:p>
            <a:r>
              <a:t>Heatmap analysis (not shown): A full heatmap of dimension scores by upazila reveals distinct geographic clusters and outliers worth investigating.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Regional Insights &amp; Top Performers</a:t>
            </a:r>
          </a:p>
          <a:p/>
          <a:p>
            <a:r>
              <a:t>Top 10 Most Energy-Poor Upazilas:</a:t>
            </a:r>
          </a:p>
          <a:p>
            <a:r>
              <a:t>- Rowangchhari (MEPI 0.847): Highest energy poverty — remote Hill Tract upazila in Bandarban, with only 32% electricity access and 7 hours/day supply.</a:t>
            </a:r>
          </a:p>
          <a:p>
            <a:r>
              <a:t>- Bandarban Sadar (0.798): Second worst — also Hill Tracts, Chittagong Division.</a:t>
            </a:r>
          </a:p>
          <a:p>
            <a:r>
              <a:t>- 7 of the top 10 most poor are either Hill Tracts or Coastal zones.</a:t>
            </a:r>
          </a:p>
          <a:p>
            <a:r>
              <a:t>- Geographic pattern is clear: remoteness + physical barriers = energy poverty.</a:t>
            </a:r>
          </a:p>
          <a:p/>
          <a:p>
            <a:r>
              <a:t>Top 10 Least Energy-Poor Upazilas:</a:t>
            </a:r>
          </a:p>
          <a:p>
            <a:r>
              <a:t>- Savar (MEPI 0.182): Lowest energy poverty — industrial suburb of Dhaka with 91.6% electricity access and 22.8 hours/day supply.</a:t>
            </a:r>
          </a:p>
          <a:p>
            <a:r>
              <a:t>- 6 of 10 least-poor are Urban Core (Dhaka metro area).</a:t>
            </a:r>
          </a:p>
          <a:p>
            <a:r>
              <a:t>- Rajshahi Sadar (0.196): Second best — major city with good infrastructure.</a:t>
            </a:r>
          </a:p>
          <a:p/>
          <a:p>
            <a:r>
              <a:t>Urban vs. Rural Analysis:</a:t>
            </a:r>
          </a:p>
          <a:p>
            <a:r>
              <a:t>- Urban Core average (0.210) is 3.9 times lower than Hill Tracts (0.823)</a:t>
            </a:r>
          </a:p>
          <a:p>
            <a:r>
              <a:t>- Geographic zone is the strongest predictor of energy poverty status</a:t>
            </a:r>
          </a:p>
          <a:p>
            <a:r>
              <a:t>- This strongly suggests that spatial targeting of interventions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Policy Implications &amp; Recommendations</a:t>
            </a:r>
          </a:p>
          <a:p/>
          <a:p>
            <a:r>
              <a:t>Framing: All recommendations align with SDG 7 targets for universal affordable, reliable, sustainable, and modern energy access by 2030.</a:t>
            </a:r>
          </a:p>
          <a:p/>
          <a:p>
            <a:r>
              <a:t>Government Actions (highest leverage):</a:t>
            </a:r>
          </a:p>
          <a:p>
            <a:r>
              <a:t>1. Grid extension &amp; solar mini-grids for Hill Tracts and Char Islands — these areas cannot wait for national grid expansion alone.</a:t>
            </a:r>
          </a:p>
          <a:p>
            <a:r>
              <a:t>2. Mandatory upazila-level MEPI tracking — creates accountability.</a:t>
            </a:r>
          </a:p>
          <a:p>
            <a:r>
              <a:t>3. Clean cooking subsidy expansion — 72% still use biomass cooking.</a:t>
            </a:r>
          </a:p>
          <a:p>
            <a:r>
              <a:t>4. 22h+ supply targets — current minimum in worst areas is 7h/day.</a:t>
            </a:r>
          </a:p>
          <a:p/>
          <a:p>
            <a:r>
              <a:t>Private Sector (market solutions):</a:t>
            </a:r>
          </a:p>
          <a:p>
            <a:r>
              <a:t>1. Pay-as-you-go solar — proven model for off-grid communities.</a:t>
            </a:r>
          </a:p>
          <a:p>
            <a:r>
              <a:t>2. Reliability partnerships with BPDB — corporate interest in stable power.</a:t>
            </a:r>
          </a:p>
          <a:p>
            <a:r>
              <a:t>3. Coastal resilient infrastructure — protects against cyclone damage.</a:t>
            </a:r>
          </a:p>
          <a:p/>
          <a:p>
            <a:r>
              <a:t>NGOs &amp; Development Partners:</a:t>
            </a:r>
          </a:p>
          <a:p>
            <a:r>
              <a:t>1. Target severely poor (MEPI &gt; 0.66) as first priority.</a:t>
            </a:r>
          </a:p>
          <a:p>
            <a:r>
              <a:t>2. Community solar cooperatives in Char Islands.</a:t>
            </a:r>
          </a:p>
          <a:p>
            <a:r>
              <a:t>3. MEPI monitoring for programme evaluation and accountability.</a:t>
            </a:r>
          </a:p>
          <a:p/>
          <a:p>
            <a:r>
              <a:t>Dimension-specific priorities:</a:t>
            </a:r>
          </a:p>
          <a:p>
            <a:r>
              <a:t>Affordability (highest deprivation) → subsidy reform</a:t>
            </a:r>
          </a:p>
          <a:p>
            <a:r>
              <a:t>Reliability → BPDB infrastructure investment</a:t>
            </a:r>
          </a:p>
          <a:p>
            <a:r>
              <a:t>Availability → rural electrification completion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Conclusion &amp; Next Steps</a:t>
            </a:r>
          </a:p>
          <a:p/>
          <a:p>
            <a:r>
              <a:t>Key messages (summary):</a:t>
            </a:r>
          </a:p>
          <a:p>
            <a:r>
              <a:t>1. The energy access paradox: Bangladesh has 99% electrification but 90% energy poverty — revealing that a single metric cannot capture multidimensional deprivation.</a:t>
            </a:r>
          </a:p>
          <a:p>
            <a:r>
              <a:t>2. Spatial concentration: Energy poverty is not evenly distributed — it clusters in specific geographic zones requiring targeted intervention.</a:t>
            </a:r>
          </a:p>
          <a:p>
            <a:r>
              <a:t>3. Affordability and Reliability are the most pressing dimensions to address.</a:t>
            </a:r>
          </a:p>
          <a:p>
            <a:r>
              <a:t>4. The MEPI framework is open-source and replicable for other countries.</a:t>
            </a:r>
          </a:p>
          <a:p/>
          <a:p>
            <a:r>
              <a:t>Limitations to acknowledge:</a:t>
            </a:r>
          </a:p>
          <a:p>
            <a:r>
              <a:t>- Cross-sectional data limits causal inference</a:t>
            </a:r>
          </a:p>
          <a:p>
            <a:r>
              <a:t>- Equal weighting is a methodological choice — other weighting schemes possible</a:t>
            </a:r>
          </a:p>
          <a:p>
            <a:r>
              <a:t>- Full 492-upazila data collection ongoing</a:t>
            </a:r>
          </a:p>
          <a:p/>
          <a:p>
            <a:r>
              <a:t>Next steps:</a:t>
            </a:r>
          </a:p>
          <a:p>
            <a:r>
              <a:t>1. Scale to full 492 upazilas with primary data</a:t>
            </a:r>
          </a:p>
          <a:p>
            <a:r>
              <a:t>2. Create interactive dashboards for policymakers</a:t>
            </a:r>
          </a:p>
          <a:p>
            <a:r>
              <a:t>3. Establish annual tracking linked to SDG 7 reporting</a:t>
            </a:r>
          </a:p>
          <a:p>
            <a:r>
              <a:t>4. Peer review and journal publication</a:t>
            </a:r>
          </a:p>
          <a:p/>
          <a:p>
            <a:r>
              <a:t>Transition to Q&amp;A: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Q&amp;A</a:t>
            </a:r>
          </a:p>
          <a:p/>
          <a:p>
            <a:r>
              <a:t>Anticipated questions and suggested answers:</a:t>
            </a:r>
          </a:p>
          <a:p/>
          <a:p>
            <a:r>
              <a:t>Q: Why equal weights for all 5 dimensions?</a:t>
            </a:r>
          </a:p>
          <a:p>
            <a:r>
              <a:t>A: Equal weighting is a transparent default that avoids arbitrary weighting. We conducted sensitivity analysis with varying weights — the relative rankings of upazilas remain consistent.</a:t>
            </a:r>
          </a:p>
          <a:p/>
          <a:p>
            <a:r>
              <a:t>Q: How does this compare to other countries' MEPI studies?</a:t>
            </a:r>
          </a:p>
          <a:p>
            <a:r>
              <a:t>A: Our MEPI follows the Alkire-Foster methodology adapted for energy poverty. Similar studies in Sub-Saharan Africa and South Asia show comparable patterns of spatial clustering and urban-rural divide.</a:t>
            </a:r>
          </a:p>
          <a:p/>
          <a:p>
            <a:r>
              <a:t>Q: What's the policy uptake pathway?</a:t>
            </a:r>
          </a:p>
          <a:p>
            <a:r>
              <a:t>A: We are engaging with BPDB and BBS for official data integration, and will present findings to Ministry of Power, Energy and Mineral Resources.</a:t>
            </a:r>
          </a:p>
          <a:p/>
          <a:p>
            <a:r>
              <a:t>Q: Can this be updated annually?</a:t>
            </a:r>
          </a:p>
          <a:p>
            <a:r>
              <a:t>A: Yes — the open-source Python toolkit allows annual MEPI recalculation as new data becomes available from BBS and BPDB.</a:t>
            </a:r>
          </a:p>
          <a:p/>
          <a:p>
            <a:r>
              <a:t>Q: What is the full 492-upazila completion timeline?</a:t>
            </a:r>
          </a:p>
          <a:p>
            <a:r>
              <a:t>A: Data collection for all 492 upazilas is ongoing; completion expected by end of 2026 with full publication thereafter.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14800"/>
            <a:ext cx="12191695" cy="7315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097280"/>
            <a:ext cx="10515600" cy="1463040"/>
          </a:xfrm>
          <a:prstGeom prst="rect">
            <a:avLst/>
          </a:prstGeom>
          <a:noFill/>
        </p:spPr>
        <p:txBody>
          <a:bodyPr wrap="square">
            <a:spAutoFit/>
          </a:bodyPr>
          <a:lstStyle/>
          <a:p>
            <a:pPr algn="ctr"/>
            <a:r>
              <a:rPr sz="4000" b="1">
                <a:solidFill>
                  <a:srgbClr val="FFFFFF"/>
                </a:solidFill>
                <a:latin typeface="Calibri"/>
              </a:rPr>
              <a:t>Spatial Mapping of Energy Poverty in Bangladesh</a:t>
            </a:r>
          </a:p>
        </p:txBody>
      </p:sp>
      <p:sp>
        <p:nvSpPr>
          <p:cNvPr id="6" name="TextBox 5"/>
          <p:cNvSpPr txBox="1"/>
          <p:nvPr/>
        </p:nvSpPr>
        <p:spPr>
          <a:xfrm>
            <a:off x="1371600" y="2651760"/>
            <a:ext cx="9144000" cy="822960"/>
          </a:xfrm>
          <a:prstGeom prst="rect">
            <a:avLst/>
          </a:prstGeom>
          <a:noFill/>
        </p:spPr>
        <p:txBody>
          <a:bodyPr wrap="square">
            <a:spAutoFit/>
          </a:bodyPr>
          <a:lstStyle/>
          <a:p>
            <a:pPr algn="ctr"/>
            <a:r>
              <a:rPr sz="2600">
                <a:solidFill>
                  <a:srgbClr val="BFD7ED"/>
                </a:solidFill>
                <a:latin typeface="Calibri"/>
              </a:rPr>
              <a:t>Multidimensional Energy Poverty Index (MEPI) Analysis</a:t>
            </a:r>
          </a:p>
        </p:txBody>
      </p:sp>
      <p:sp>
        <p:nvSpPr>
          <p:cNvPr id="7" name="Rectangle 6"/>
          <p:cNvSpPr/>
          <p:nvPr/>
        </p:nvSpPr>
        <p:spPr>
          <a:xfrm>
            <a:off x="3200400" y="3611880"/>
            <a:ext cx="5760720" cy="457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389120"/>
            <a:ext cx="5486400" cy="457200"/>
          </a:xfrm>
          <a:prstGeom prst="rect">
            <a:avLst/>
          </a:prstGeom>
          <a:noFill/>
        </p:spPr>
        <p:txBody>
          <a:bodyPr wrap="square">
            <a:spAutoFit/>
          </a:bodyPr>
          <a:lstStyle/>
          <a:p>
            <a:pPr algn="l"/>
            <a:r>
              <a:rPr sz="1800" b="1" i="0">
                <a:solidFill>
                  <a:srgbClr val="1F4E78"/>
                </a:solidFill>
                <a:latin typeface="Calibri"/>
              </a:rPr>
              <a:t>Iqbal (iqbal1999-tiger)</a:t>
            </a:r>
          </a:p>
        </p:txBody>
      </p:sp>
      <p:sp>
        <p:nvSpPr>
          <p:cNvPr id="9" name="TextBox 8"/>
          <p:cNvSpPr txBox="1"/>
          <p:nvPr/>
        </p:nvSpPr>
        <p:spPr>
          <a:xfrm>
            <a:off x="457200" y="4846320"/>
            <a:ext cx="5486400" cy="365760"/>
          </a:xfrm>
          <a:prstGeom prst="rect">
            <a:avLst/>
          </a:prstGeom>
          <a:noFill/>
        </p:spPr>
        <p:txBody>
          <a:bodyPr wrap="square">
            <a:spAutoFit/>
          </a:bodyPr>
          <a:lstStyle/>
          <a:p>
            <a:pPr algn="l"/>
            <a:r>
              <a:rPr sz="1400" b="0" i="0">
                <a:solidFill>
                  <a:srgbClr val="333333"/>
                </a:solidFill>
                <a:latin typeface="Calibri"/>
              </a:rPr>
              <a:t>Energy Poverty Mapping Research Project</a:t>
            </a:r>
          </a:p>
        </p:txBody>
      </p:sp>
      <p:sp>
        <p:nvSpPr>
          <p:cNvPr id="10" name="TextBox 9"/>
          <p:cNvSpPr txBox="1"/>
          <p:nvPr/>
        </p:nvSpPr>
        <p:spPr>
          <a:xfrm>
            <a:off x="457200" y="5212080"/>
            <a:ext cx="5486400" cy="365760"/>
          </a:xfrm>
          <a:prstGeom prst="rect">
            <a:avLst/>
          </a:prstGeom>
          <a:noFill/>
        </p:spPr>
        <p:txBody>
          <a:bodyPr wrap="square">
            <a:spAutoFit/>
          </a:bodyPr>
          <a:lstStyle/>
          <a:p>
            <a:pPr algn="l"/>
            <a:r>
              <a:rPr sz="1400" b="0" i="0">
                <a:solidFill>
                  <a:srgbClr val="333333"/>
                </a:solidFill>
                <a:latin typeface="Calibri"/>
              </a:rPr>
              <a:t>Date: 2026-04-10</a:t>
            </a:r>
          </a:p>
        </p:txBody>
      </p:sp>
      <p:sp>
        <p:nvSpPr>
          <p:cNvPr id="11" name="Rectangle 10"/>
          <p:cNvSpPr/>
          <p:nvPr/>
        </p:nvSpPr>
        <p:spPr>
          <a:xfrm>
            <a:off x="6858000" y="4343400"/>
            <a:ext cx="4846320" cy="5029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0" y="4407408"/>
            <a:ext cx="4663440" cy="411480"/>
          </a:xfrm>
          <a:prstGeom prst="rect">
            <a:avLst/>
          </a:prstGeom>
          <a:noFill/>
        </p:spPr>
        <p:txBody>
          <a:bodyPr wrap="square">
            <a:spAutoFit/>
          </a:bodyPr>
          <a:lstStyle/>
          <a:p>
            <a:pPr algn="ctr"/>
            <a:r>
              <a:rPr sz="1400" b="1" i="0">
                <a:solidFill>
                  <a:srgbClr val="FFFFFF"/>
                </a:solidFill>
                <a:latin typeface="Calibri"/>
              </a:rPr>
              <a:t>Academic Conference Presentation</a:t>
            </a:r>
          </a:p>
        </p:txBody>
      </p:sp>
      <p:sp>
        <p:nvSpPr>
          <p:cNvPr id="13" name="TextBox 12"/>
          <p:cNvSpPr txBox="1"/>
          <p:nvPr/>
        </p:nvSpPr>
        <p:spPr>
          <a:xfrm>
            <a:off x="6858000" y="4937760"/>
            <a:ext cx="4846320" cy="731520"/>
          </a:xfrm>
          <a:prstGeom prst="rect">
            <a:avLst/>
          </a:prstGeom>
          <a:noFill/>
        </p:spPr>
        <p:txBody>
          <a:bodyPr wrap="square">
            <a:spAutoFit/>
          </a:bodyPr>
          <a:lstStyle/>
          <a:p>
            <a:pPr algn="ctr"/>
            <a:r>
              <a:rPr sz="1200" b="0" i="0">
                <a:solidFill>
                  <a:srgbClr val="333333"/>
                </a:solidFill>
                <a:latin typeface="Calibri"/>
              </a:rPr>
              <a:t>Coverage: 492 Upazilas | 8 Divisions | 5 Geographic Zones</a:t>
            </a:r>
          </a:p>
        </p:txBody>
      </p:sp>
      <p:sp>
        <p:nvSpPr>
          <p:cNvPr id="14" name="TextBox 13"/>
          <p:cNvSpPr txBox="1"/>
          <p:nvPr/>
        </p:nvSpPr>
        <p:spPr>
          <a:xfrm>
            <a:off x="6858000" y="5486400"/>
            <a:ext cx="4846320" cy="548640"/>
          </a:xfrm>
          <a:prstGeom prst="rect">
            <a:avLst/>
          </a:prstGeom>
          <a:noFill/>
        </p:spPr>
        <p:txBody>
          <a:bodyPr wrap="square">
            <a:spAutoFit/>
          </a:bodyPr>
          <a:lstStyle/>
          <a:p>
            <a:pPr algn="ctr"/>
            <a:r>
              <a:rPr sz="1200" b="0" i="0">
                <a:solidFill>
                  <a:srgbClr val="333333"/>
                </a:solidFill>
                <a:latin typeface="Calibri"/>
              </a:rPr>
              <a:t>18 Core Indicators | 5 Dimensions of Energy Poverty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Why Energy Poverty Matters in Bangladesh</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Background &amp; Problem Statement</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2 / 13</a:t>
            </a:r>
          </a:p>
        </p:txBody>
      </p:sp>
      <p:sp>
        <p:nvSpPr>
          <p:cNvPr id="10" name="Rectangle 9"/>
          <p:cNvSpPr/>
          <p:nvPr/>
        </p:nvSpPr>
        <p:spPr>
          <a:xfrm>
            <a:off x="274320" y="1143000"/>
            <a:ext cx="5303520" cy="5120640"/>
          </a:xfrm>
          <a:prstGeom prst="rect">
            <a:avLst/>
          </a:prstGeom>
          <a:solidFill>
            <a:srgbClr val="FFFFFF"/>
          </a:solidFill>
          <a:ln w="1905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234440"/>
            <a:ext cx="4937760" cy="365760"/>
          </a:xfrm>
          <a:prstGeom prst="rect">
            <a:avLst/>
          </a:prstGeom>
          <a:noFill/>
        </p:spPr>
        <p:txBody>
          <a:bodyPr wrap="square">
            <a:spAutoFit/>
          </a:bodyPr>
          <a:lstStyle/>
          <a:p>
            <a:pPr algn="l"/>
            <a:r>
              <a:rPr sz="1600" b="1" i="0">
                <a:solidFill>
                  <a:srgbClr val="1F4E78"/>
                </a:solidFill>
                <a:latin typeface="Calibri"/>
              </a:rPr>
              <a:t>The Energy Access Paradox</a:t>
            </a:r>
          </a:p>
        </p:txBody>
      </p:sp>
      <p:sp>
        <p:nvSpPr>
          <p:cNvPr id="12" name="Rectangle 11"/>
          <p:cNvSpPr/>
          <p:nvPr/>
        </p:nvSpPr>
        <p:spPr>
          <a:xfrm>
            <a:off x="457200" y="1691640"/>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1737360"/>
            <a:ext cx="1060704" cy="384048"/>
          </a:xfrm>
          <a:prstGeom prst="rect">
            <a:avLst/>
          </a:prstGeom>
          <a:noFill/>
        </p:spPr>
        <p:txBody>
          <a:bodyPr wrap="square">
            <a:spAutoFit/>
          </a:bodyPr>
          <a:lstStyle/>
          <a:p>
            <a:pPr algn="ctr"/>
            <a:r>
              <a:rPr sz="1500" b="1" i="0">
                <a:solidFill>
                  <a:srgbClr val="FFFFFF"/>
                </a:solidFill>
                <a:latin typeface="Calibri"/>
              </a:rPr>
              <a:t>99%</a:t>
            </a:r>
          </a:p>
        </p:txBody>
      </p:sp>
      <p:sp>
        <p:nvSpPr>
          <p:cNvPr id="14" name="TextBox 13"/>
          <p:cNvSpPr txBox="1"/>
          <p:nvPr/>
        </p:nvSpPr>
        <p:spPr>
          <a:xfrm>
            <a:off x="1645920" y="1691640"/>
            <a:ext cx="3840480" cy="457200"/>
          </a:xfrm>
          <a:prstGeom prst="rect">
            <a:avLst/>
          </a:prstGeom>
          <a:noFill/>
        </p:spPr>
        <p:txBody>
          <a:bodyPr wrap="square">
            <a:spAutoFit/>
          </a:bodyPr>
          <a:lstStyle/>
          <a:p>
            <a:pPr algn="l"/>
            <a:r>
              <a:rPr sz="1400" b="0" i="0">
                <a:solidFill>
                  <a:srgbClr val="333333"/>
                </a:solidFill>
                <a:latin typeface="Calibri"/>
              </a:rPr>
              <a:t>Nominal electricity access rate</a:t>
            </a:r>
          </a:p>
        </p:txBody>
      </p:sp>
      <p:sp>
        <p:nvSpPr>
          <p:cNvPr id="15" name="Rectangle 14"/>
          <p:cNvSpPr/>
          <p:nvPr/>
        </p:nvSpPr>
        <p:spPr>
          <a:xfrm>
            <a:off x="457200" y="2313432"/>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2359152"/>
            <a:ext cx="1060704" cy="384048"/>
          </a:xfrm>
          <a:prstGeom prst="rect">
            <a:avLst/>
          </a:prstGeom>
          <a:noFill/>
        </p:spPr>
        <p:txBody>
          <a:bodyPr wrap="square">
            <a:spAutoFit/>
          </a:bodyPr>
          <a:lstStyle/>
          <a:p>
            <a:pPr algn="ctr"/>
            <a:r>
              <a:rPr sz="1500" b="1" i="0">
                <a:solidFill>
                  <a:srgbClr val="FFFFFF"/>
                </a:solidFill>
                <a:latin typeface="Calibri"/>
              </a:rPr>
              <a:t>28%</a:t>
            </a:r>
          </a:p>
        </p:txBody>
      </p:sp>
      <p:sp>
        <p:nvSpPr>
          <p:cNvPr id="17" name="TextBox 16"/>
          <p:cNvSpPr txBox="1"/>
          <p:nvPr/>
        </p:nvSpPr>
        <p:spPr>
          <a:xfrm>
            <a:off x="1645920" y="2313432"/>
            <a:ext cx="3840480" cy="457200"/>
          </a:xfrm>
          <a:prstGeom prst="rect">
            <a:avLst/>
          </a:prstGeom>
          <a:noFill/>
        </p:spPr>
        <p:txBody>
          <a:bodyPr wrap="square">
            <a:spAutoFit/>
          </a:bodyPr>
          <a:lstStyle/>
          <a:p>
            <a:pPr algn="l"/>
            <a:r>
              <a:rPr sz="1400" b="0" i="0">
                <a:solidFill>
                  <a:srgbClr val="333333"/>
                </a:solidFill>
                <a:latin typeface="Calibri"/>
              </a:rPr>
              <a:t>Clean cooking fuel access rate</a:t>
            </a:r>
          </a:p>
        </p:txBody>
      </p:sp>
      <p:sp>
        <p:nvSpPr>
          <p:cNvPr id="18" name="Rectangle 17"/>
          <p:cNvSpPr/>
          <p:nvPr/>
        </p:nvSpPr>
        <p:spPr>
          <a:xfrm>
            <a:off x="457200" y="2935224"/>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2980944"/>
            <a:ext cx="1060704" cy="384048"/>
          </a:xfrm>
          <a:prstGeom prst="rect">
            <a:avLst/>
          </a:prstGeom>
          <a:noFill/>
        </p:spPr>
        <p:txBody>
          <a:bodyPr wrap="square">
            <a:spAutoFit/>
          </a:bodyPr>
          <a:lstStyle/>
          <a:p>
            <a:pPr algn="ctr"/>
            <a:r>
              <a:rPr sz="1500" b="1" i="0">
                <a:solidFill>
                  <a:srgbClr val="FFFFFF"/>
                </a:solidFill>
                <a:latin typeface="Calibri"/>
              </a:rPr>
              <a:t>8–14h</a:t>
            </a:r>
          </a:p>
        </p:txBody>
      </p:sp>
      <p:sp>
        <p:nvSpPr>
          <p:cNvPr id="20" name="TextBox 19"/>
          <p:cNvSpPr txBox="1"/>
          <p:nvPr/>
        </p:nvSpPr>
        <p:spPr>
          <a:xfrm>
            <a:off x="1645920" y="2935224"/>
            <a:ext cx="3840480" cy="457200"/>
          </a:xfrm>
          <a:prstGeom prst="rect">
            <a:avLst/>
          </a:prstGeom>
          <a:noFill/>
        </p:spPr>
        <p:txBody>
          <a:bodyPr wrap="square">
            <a:spAutoFit/>
          </a:bodyPr>
          <a:lstStyle/>
          <a:p>
            <a:pPr algn="l"/>
            <a:r>
              <a:rPr sz="1400" b="0" i="0">
                <a:solidFill>
                  <a:srgbClr val="333333"/>
                </a:solidFill>
                <a:latin typeface="Calibri"/>
              </a:rPr>
              <a:t>Average rural supply hours/day</a:t>
            </a:r>
          </a:p>
        </p:txBody>
      </p:sp>
      <p:sp>
        <p:nvSpPr>
          <p:cNvPr id="21" name="Rectangle 20"/>
          <p:cNvSpPr/>
          <p:nvPr/>
        </p:nvSpPr>
        <p:spPr>
          <a:xfrm>
            <a:off x="457200" y="3557016"/>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5488" y="3602736"/>
            <a:ext cx="1060704" cy="384048"/>
          </a:xfrm>
          <a:prstGeom prst="rect">
            <a:avLst/>
          </a:prstGeom>
          <a:noFill/>
        </p:spPr>
        <p:txBody>
          <a:bodyPr wrap="square">
            <a:spAutoFit/>
          </a:bodyPr>
          <a:lstStyle/>
          <a:p>
            <a:pPr algn="ctr"/>
            <a:r>
              <a:rPr sz="1500" b="1" i="0">
                <a:solidFill>
                  <a:srgbClr val="FFFFFF"/>
                </a:solidFill>
                <a:latin typeface="Calibri"/>
              </a:rPr>
              <a:t>35%</a:t>
            </a:r>
          </a:p>
        </p:txBody>
      </p:sp>
      <p:sp>
        <p:nvSpPr>
          <p:cNvPr id="23" name="TextBox 22"/>
          <p:cNvSpPr txBox="1"/>
          <p:nvPr/>
        </p:nvSpPr>
        <p:spPr>
          <a:xfrm>
            <a:off x="1645920" y="3557016"/>
            <a:ext cx="3840480" cy="457200"/>
          </a:xfrm>
          <a:prstGeom prst="rect">
            <a:avLst/>
          </a:prstGeom>
          <a:noFill/>
        </p:spPr>
        <p:txBody>
          <a:bodyPr wrap="square">
            <a:spAutoFit/>
          </a:bodyPr>
          <a:lstStyle/>
          <a:p>
            <a:pPr algn="l"/>
            <a:r>
              <a:rPr sz="1400" b="0" i="0">
                <a:solidFill>
                  <a:srgbClr val="333333"/>
                </a:solidFill>
                <a:latin typeface="Calibri"/>
              </a:rPr>
              <a:t>Households with energy burden &gt;10%</a:t>
            </a:r>
          </a:p>
        </p:txBody>
      </p:sp>
      <p:sp>
        <p:nvSpPr>
          <p:cNvPr id="24" name="Rectangle 23"/>
          <p:cNvSpPr/>
          <p:nvPr/>
        </p:nvSpPr>
        <p:spPr>
          <a:xfrm>
            <a:off x="457200" y="4178808"/>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224528"/>
            <a:ext cx="1060704" cy="384048"/>
          </a:xfrm>
          <a:prstGeom prst="rect">
            <a:avLst/>
          </a:prstGeom>
          <a:noFill/>
        </p:spPr>
        <p:txBody>
          <a:bodyPr wrap="square">
            <a:spAutoFit/>
          </a:bodyPr>
          <a:lstStyle/>
          <a:p>
            <a:pPr algn="ctr"/>
            <a:r>
              <a:rPr sz="1500" b="1" i="0">
                <a:solidFill>
                  <a:srgbClr val="FFFFFF"/>
                </a:solidFill>
                <a:latin typeface="Calibri"/>
              </a:rPr>
              <a:t>3.5B</a:t>
            </a:r>
          </a:p>
        </p:txBody>
      </p:sp>
      <p:sp>
        <p:nvSpPr>
          <p:cNvPr id="26" name="TextBox 25"/>
          <p:cNvSpPr txBox="1"/>
          <p:nvPr/>
        </p:nvSpPr>
        <p:spPr>
          <a:xfrm>
            <a:off x="1645920" y="4178808"/>
            <a:ext cx="3840480" cy="457200"/>
          </a:xfrm>
          <a:prstGeom prst="rect">
            <a:avLst/>
          </a:prstGeom>
          <a:noFill/>
        </p:spPr>
        <p:txBody>
          <a:bodyPr wrap="square">
            <a:spAutoFit/>
          </a:bodyPr>
          <a:lstStyle/>
          <a:p>
            <a:pPr algn="l"/>
            <a:r>
              <a:rPr sz="1400" b="0" i="0">
                <a:solidFill>
                  <a:srgbClr val="333333"/>
                </a:solidFill>
                <a:latin typeface="Calibri"/>
              </a:rPr>
              <a:t>People energy-poor globally</a:t>
            </a:r>
          </a:p>
        </p:txBody>
      </p:sp>
      <p:sp>
        <p:nvSpPr>
          <p:cNvPr id="27" name="Rectangle 26"/>
          <p:cNvSpPr/>
          <p:nvPr/>
        </p:nvSpPr>
        <p:spPr>
          <a:xfrm>
            <a:off x="457200" y="4800600"/>
            <a:ext cx="1097280"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 y="4846320"/>
            <a:ext cx="1060704" cy="384048"/>
          </a:xfrm>
          <a:prstGeom prst="rect">
            <a:avLst/>
          </a:prstGeom>
          <a:noFill/>
        </p:spPr>
        <p:txBody>
          <a:bodyPr wrap="square">
            <a:spAutoFit/>
          </a:bodyPr>
          <a:lstStyle/>
          <a:p>
            <a:pPr algn="ctr"/>
            <a:r>
              <a:rPr sz="1500" b="1" i="0">
                <a:solidFill>
                  <a:srgbClr val="FFFFFF"/>
                </a:solidFill>
                <a:latin typeface="Calibri"/>
              </a:rPr>
              <a:t>495</a:t>
            </a:r>
          </a:p>
        </p:txBody>
      </p:sp>
      <p:sp>
        <p:nvSpPr>
          <p:cNvPr id="29" name="TextBox 28"/>
          <p:cNvSpPr txBox="1"/>
          <p:nvPr/>
        </p:nvSpPr>
        <p:spPr>
          <a:xfrm>
            <a:off x="1645920" y="4800600"/>
            <a:ext cx="3840480" cy="457200"/>
          </a:xfrm>
          <a:prstGeom prst="rect">
            <a:avLst/>
          </a:prstGeom>
          <a:noFill/>
        </p:spPr>
        <p:txBody>
          <a:bodyPr wrap="square">
            <a:spAutoFit/>
          </a:bodyPr>
          <a:lstStyle/>
          <a:p>
            <a:pPr algn="l"/>
            <a:r>
              <a:rPr sz="1400" b="0" i="0">
                <a:solidFill>
                  <a:srgbClr val="333333"/>
                </a:solidFill>
                <a:latin typeface="Calibri"/>
              </a:rPr>
              <a:t>Upazilas in Bangladesh studied</a:t>
            </a:r>
          </a:p>
        </p:txBody>
      </p:sp>
      <p:sp>
        <p:nvSpPr>
          <p:cNvPr id="30" name="Rectangle 29"/>
          <p:cNvSpPr/>
          <p:nvPr/>
        </p:nvSpPr>
        <p:spPr>
          <a:xfrm>
            <a:off x="5852160" y="1143000"/>
            <a:ext cx="6035040" cy="5120640"/>
          </a:xfrm>
          <a:prstGeom prst="rect">
            <a:avLst/>
          </a:prstGeom>
          <a:solidFill>
            <a:srgbClr val="FFFFFF"/>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035040" y="1234440"/>
            <a:ext cx="5669280" cy="365760"/>
          </a:xfrm>
          <a:prstGeom prst="rect">
            <a:avLst/>
          </a:prstGeom>
          <a:noFill/>
        </p:spPr>
        <p:txBody>
          <a:bodyPr wrap="square">
            <a:spAutoFit/>
          </a:bodyPr>
          <a:lstStyle/>
          <a:p>
            <a:pPr algn="l"/>
            <a:r>
              <a:rPr sz="1600" b="1" i="0">
                <a:solidFill>
                  <a:srgbClr val="FF9800"/>
                </a:solidFill>
                <a:latin typeface="Calibri"/>
              </a:rPr>
              <a:t>The Multi-Dimensional Challenge</a:t>
            </a:r>
          </a:p>
        </p:txBody>
      </p:sp>
      <p:sp>
        <p:nvSpPr>
          <p:cNvPr id="32" name="TextBox 31"/>
          <p:cNvSpPr txBox="1"/>
          <p:nvPr/>
        </p:nvSpPr>
        <p:spPr>
          <a:xfrm>
            <a:off x="6035040" y="1691640"/>
            <a:ext cx="5669280" cy="548640"/>
          </a:xfrm>
          <a:prstGeom prst="rect">
            <a:avLst/>
          </a:prstGeom>
          <a:noFill/>
        </p:spPr>
        <p:txBody>
          <a:bodyPr wrap="square">
            <a:spAutoFit/>
          </a:bodyPr>
          <a:lstStyle/>
          <a:p>
            <a:pPr algn="l"/>
            <a:r>
              <a:rPr sz="1300" b="0" i="0">
                <a:solidFill>
                  <a:srgbClr val="333333"/>
                </a:solidFill>
                <a:latin typeface="Calibri"/>
              </a:rPr>
              <a:t>▶  Near-universal electrification masks critical quality and reliability gaps</a:t>
            </a:r>
          </a:p>
        </p:txBody>
      </p:sp>
      <p:sp>
        <p:nvSpPr>
          <p:cNvPr id="33" name="TextBox 32"/>
          <p:cNvSpPr txBox="1"/>
          <p:nvPr/>
        </p:nvSpPr>
        <p:spPr>
          <a:xfrm>
            <a:off x="6035040" y="2313432"/>
            <a:ext cx="5669280" cy="548640"/>
          </a:xfrm>
          <a:prstGeom prst="rect">
            <a:avLst/>
          </a:prstGeom>
          <a:noFill/>
        </p:spPr>
        <p:txBody>
          <a:bodyPr wrap="square">
            <a:spAutoFit/>
          </a:bodyPr>
          <a:lstStyle/>
          <a:p>
            <a:pPr algn="l"/>
            <a:r>
              <a:rPr sz="1300" b="0" i="0">
                <a:solidFill>
                  <a:srgbClr val="333333"/>
                </a:solidFill>
                <a:latin typeface="Calibri"/>
              </a:rPr>
              <a:t>▶  Rural and remote areas face 10–18+ hour daily power cuts</a:t>
            </a:r>
          </a:p>
        </p:txBody>
      </p:sp>
      <p:sp>
        <p:nvSpPr>
          <p:cNvPr id="34" name="TextBox 33"/>
          <p:cNvSpPr txBox="1"/>
          <p:nvPr/>
        </p:nvSpPr>
        <p:spPr>
          <a:xfrm>
            <a:off x="6035040" y="2935224"/>
            <a:ext cx="5669280" cy="548640"/>
          </a:xfrm>
          <a:prstGeom prst="rect">
            <a:avLst/>
          </a:prstGeom>
          <a:noFill/>
        </p:spPr>
        <p:txBody>
          <a:bodyPr wrap="square">
            <a:spAutoFit/>
          </a:bodyPr>
          <a:lstStyle/>
          <a:p>
            <a:pPr algn="l"/>
            <a:r>
              <a:rPr sz="1300" b="0" i="0">
                <a:solidFill>
                  <a:srgbClr val="333333"/>
                </a:solidFill>
                <a:latin typeface="Calibri"/>
              </a:rPr>
              <a:t>▶  Coastal, Char Island &amp; Hill Tract communities remain severely underserved</a:t>
            </a:r>
          </a:p>
        </p:txBody>
      </p:sp>
      <p:sp>
        <p:nvSpPr>
          <p:cNvPr id="35" name="TextBox 34"/>
          <p:cNvSpPr txBox="1"/>
          <p:nvPr/>
        </p:nvSpPr>
        <p:spPr>
          <a:xfrm>
            <a:off x="6035040" y="3557016"/>
            <a:ext cx="5669280" cy="548640"/>
          </a:xfrm>
          <a:prstGeom prst="rect">
            <a:avLst/>
          </a:prstGeom>
          <a:noFill/>
        </p:spPr>
        <p:txBody>
          <a:bodyPr wrap="square">
            <a:spAutoFit/>
          </a:bodyPr>
          <a:lstStyle/>
          <a:p>
            <a:pPr algn="l"/>
            <a:r>
              <a:rPr sz="1300" b="0" i="0">
                <a:solidFill>
                  <a:srgbClr val="333333"/>
                </a:solidFill>
                <a:latin typeface="Calibri"/>
              </a:rPr>
              <a:t>▶  High energy expenditure burdens low-income households (&gt;30% of income)</a:t>
            </a:r>
          </a:p>
        </p:txBody>
      </p:sp>
      <p:sp>
        <p:nvSpPr>
          <p:cNvPr id="36" name="TextBox 35"/>
          <p:cNvSpPr txBox="1"/>
          <p:nvPr/>
        </p:nvSpPr>
        <p:spPr>
          <a:xfrm>
            <a:off x="6035040" y="4178808"/>
            <a:ext cx="5669280" cy="548640"/>
          </a:xfrm>
          <a:prstGeom prst="rect">
            <a:avLst/>
          </a:prstGeom>
          <a:noFill/>
        </p:spPr>
        <p:txBody>
          <a:bodyPr wrap="square">
            <a:spAutoFit/>
          </a:bodyPr>
          <a:lstStyle/>
          <a:p>
            <a:pPr algn="l"/>
            <a:r>
              <a:rPr sz="1300" b="0" i="0">
                <a:solidFill>
                  <a:srgbClr val="333333"/>
                </a:solidFill>
                <a:latin typeface="Calibri"/>
              </a:rPr>
              <a:t>▶  Indoor air pollution from biomass cooking threatens public health</a:t>
            </a:r>
          </a:p>
        </p:txBody>
      </p:sp>
      <p:sp>
        <p:nvSpPr>
          <p:cNvPr id="37" name="TextBox 36"/>
          <p:cNvSpPr txBox="1"/>
          <p:nvPr/>
        </p:nvSpPr>
        <p:spPr>
          <a:xfrm>
            <a:off x="6035040" y="4800600"/>
            <a:ext cx="5669280" cy="548640"/>
          </a:xfrm>
          <a:prstGeom prst="rect">
            <a:avLst/>
          </a:prstGeom>
          <a:noFill/>
        </p:spPr>
        <p:txBody>
          <a:bodyPr wrap="square">
            <a:spAutoFit/>
          </a:bodyPr>
          <a:lstStyle/>
          <a:p>
            <a:pPr algn="l"/>
            <a:r>
              <a:rPr sz="1300" b="0" i="0">
                <a:solidFill>
                  <a:srgbClr val="333333"/>
                </a:solidFill>
                <a:latin typeface="Calibri"/>
              </a:rPr>
              <a:t>▶  Existing single-metric measures fail to capture multidimensional deprivation</a:t>
            </a:r>
          </a:p>
        </p:txBody>
      </p:sp>
      <p:sp>
        <p:nvSpPr>
          <p:cNvPr id="38" name="TextBox 37"/>
          <p:cNvSpPr txBox="1"/>
          <p:nvPr/>
        </p:nvSpPr>
        <p:spPr>
          <a:xfrm>
            <a:off x="6035040" y="5422392"/>
            <a:ext cx="5669280" cy="548640"/>
          </a:xfrm>
          <a:prstGeom prst="rect">
            <a:avLst/>
          </a:prstGeom>
          <a:noFill/>
        </p:spPr>
        <p:txBody>
          <a:bodyPr wrap="square">
            <a:spAutoFit/>
          </a:bodyPr>
          <a:lstStyle/>
          <a:p>
            <a:pPr algn="l"/>
            <a:r>
              <a:rPr sz="1300" b="0" i="0">
                <a:solidFill>
                  <a:srgbClr val="333333"/>
                </a:solidFill>
                <a:latin typeface="Calibri"/>
              </a:rPr>
              <a:t>▶  Policy interventions lack spatial precision — hotspot identification is missing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Research Objectives</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Spatial Energy Poverty Mapping – Bangladesh</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3 / 13</a:t>
            </a:r>
          </a:p>
        </p:txBody>
      </p:sp>
      <p:sp>
        <p:nvSpPr>
          <p:cNvPr id="10" name="Rectangle 9"/>
          <p:cNvSpPr/>
          <p:nvPr/>
        </p:nvSpPr>
        <p:spPr>
          <a:xfrm>
            <a:off x="274320" y="1143000"/>
            <a:ext cx="5669280" cy="2468880"/>
          </a:xfrm>
          <a:prstGeom prst="rect">
            <a:avLst/>
          </a:prstGeom>
          <a:solidFill>
            <a:srgbClr val="F5F5F5"/>
          </a:solidFill>
          <a:ln w="254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4320" y="1143000"/>
            <a:ext cx="731520" cy="73152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216152"/>
            <a:ext cx="694944" cy="594360"/>
          </a:xfrm>
          <a:prstGeom prst="rect">
            <a:avLst/>
          </a:prstGeom>
          <a:noFill/>
        </p:spPr>
        <p:txBody>
          <a:bodyPr wrap="square">
            <a:spAutoFit/>
          </a:bodyPr>
          <a:lstStyle/>
          <a:p>
            <a:pPr algn="ctr"/>
            <a:r>
              <a:rPr sz="2200" b="1" i="0">
                <a:solidFill>
                  <a:srgbClr val="FFFFFF"/>
                </a:solidFill>
                <a:latin typeface="Calibri"/>
              </a:rPr>
              <a:t>01</a:t>
            </a:r>
          </a:p>
        </p:txBody>
      </p:sp>
      <p:sp>
        <p:nvSpPr>
          <p:cNvPr id="13" name="TextBox 12"/>
          <p:cNvSpPr txBox="1"/>
          <p:nvPr/>
        </p:nvSpPr>
        <p:spPr>
          <a:xfrm>
            <a:off x="1097280" y="1234440"/>
            <a:ext cx="4754880" cy="457200"/>
          </a:xfrm>
          <a:prstGeom prst="rect">
            <a:avLst/>
          </a:prstGeom>
          <a:noFill/>
        </p:spPr>
        <p:txBody>
          <a:bodyPr wrap="square">
            <a:spAutoFit/>
          </a:bodyPr>
          <a:lstStyle/>
          <a:p>
            <a:pPr algn="l"/>
            <a:r>
              <a:rPr sz="1700" b="1" i="0">
                <a:solidFill>
                  <a:srgbClr val="1F4E78"/>
                </a:solidFill>
                <a:latin typeface="Calibri"/>
              </a:rPr>
              <a:t>Map Energy Poverty</a:t>
            </a:r>
          </a:p>
        </p:txBody>
      </p:sp>
      <p:sp>
        <p:nvSpPr>
          <p:cNvPr id="14" name="TextBox 13"/>
          <p:cNvSpPr txBox="1"/>
          <p:nvPr/>
        </p:nvSpPr>
        <p:spPr>
          <a:xfrm>
            <a:off x="411480" y="1828800"/>
            <a:ext cx="5394960" cy="1691640"/>
          </a:xfrm>
          <a:prstGeom prst="rect">
            <a:avLst/>
          </a:prstGeom>
          <a:noFill/>
        </p:spPr>
        <p:txBody>
          <a:bodyPr wrap="square">
            <a:spAutoFit/>
          </a:bodyPr>
          <a:lstStyle/>
          <a:p>
            <a:pPr algn="l"/>
            <a:r>
              <a:rPr sz="1300" b="0" i="0">
                <a:solidFill>
                  <a:srgbClr val="333333"/>
                </a:solidFill>
                <a:latin typeface="Calibri"/>
              </a:rPr>
              <a:t>Spatially map energy poverty across 492 upazilas of Bangladesh using upazila-level administrative data, creating the first comprehensive spatial energy poverty atlas.</a:t>
            </a:r>
          </a:p>
        </p:txBody>
      </p:sp>
      <p:sp>
        <p:nvSpPr>
          <p:cNvPr id="15" name="Rectangle 14"/>
          <p:cNvSpPr/>
          <p:nvPr/>
        </p:nvSpPr>
        <p:spPr>
          <a:xfrm>
            <a:off x="6217920" y="1143000"/>
            <a:ext cx="5669280" cy="2468880"/>
          </a:xfrm>
          <a:prstGeom prst="rect">
            <a:avLst/>
          </a:prstGeom>
          <a:solidFill>
            <a:srgbClr val="F5F5F5"/>
          </a:solidFill>
          <a:ln w="254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1143000"/>
            <a:ext cx="731520" cy="7315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36208" y="1216152"/>
            <a:ext cx="694944" cy="594360"/>
          </a:xfrm>
          <a:prstGeom prst="rect">
            <a:avLst/>
          </a:prstGeom>
          <a:noFill/>
        </p:spPr>
        <p:txBody>
          <a:bodyPr wrap="square">
            <a:spAutoFit/>
          </a:bodyPr>
          <a:lstStyle/>
          <a:p>
            <a:pPr algn="ctr"/>
            <a:r>
              <a:rPr sz="2200" b="1" i="0">
                <a:solidFill>
                  <a:srgbClr val="FFFFFF"/>
                </a:solidFill>
                <a:latin typeface="Calibri"/>
              </a:rPr>
              <a:t>02</a:t>
            </a:r>
          </a:p>
        </p:txBody>
      </p:sp>
      <p:sp>
        <p:nvSpPr>
          <p:cNvPr id="18" name="TextBox 17"/>
          <p:cNvSpPr txBox="1"/>
          <p:nvPr/>
        </p:nvSpPr>
        <p:spPr>
          <a:xfrm>
            <a:off x="7040880" y="1234440"/>
            <a:ext cx="4754880" cy="457200"/>
          </a:xfrm>
          <a:prstGeom prst="rect">
            <a:avLst/>
          </a:prstGeom>
          <a:noFill/>
        </p:spPr>
        <p:txBody>
          <a:bodyPr wrap="square">
            <a:spAutoFit/>
          </a:bodyPr>
          <a:lstStyle/>
          <a:p>
            <a:pPr algn="l"/>
            <a:r>
              <a:rPr sz="1700" b="1" i="0">
                <a:solidFill>
                  <a:srgbClr val="70AD47"/>
                </a:solidFill>
                <a:latin typeface="Calibri"/>
              </a:rPr>
              <a:t>Develop MEPI Score</a:t>
            </a:r>
          </a:p>
        </p:txBody>
      </p:sp>
      <p:sp>
        <p:nvSpPr>
          <p:cNvPr id="19" name="TextBox 18"/>
          <p:cNvSpPr txBox="1"/>
          <p:nvPr/>
        </p:nvSpPr>
        <p:spPr>
          <a:xfrm>
            <a:off x="6355080" y="1828800"/>
            <a:ext cx="5394960" cy="1691640"/>
          </a:xfrm>
          <a:prstGeom prst="rect">
            <a:avLst/>
          </a:prstGeom>
          <a:noFill/>
        </p:spPr>
        <p:txBody>
          <a:bodyPr wrap="square">
            <a:spAutoFit/>
          </a:bodyPr>
          <a:lstStyle/>
          <a:p>
            <a:pPr algn="l"/>
            <a:r>
              <a:rPr sz="1300" b="0" i="0">
                <a:solidFill>
                  <a:srgbClr val="333333"/>
                </a:solidFill>
                <a:latin typeface="Calibri"/>
              </a:rPr>
              <a:t>Construct a composite Multidimensional Energy Poverty Index (MEPI) score integrating 18 indicators across 5 dimensions using min-max normalisation and equal-weighted aggregation.</a:t>
            </a:r>
          </a:p>
        </p:txBody>
      </p:sp>
      <p:sp>
        <p:nvSpPr>
          <p:cNvPr id="20" name="Rectangle 19"/>
          <p:cNvSpPr/>
          <p:nvPr/>
        </p:nvSpPr>
        <p:spPr>
          <a:xfrm>
            <a:off x="274320" y="3794760"/>
            <a:ext cx="5669280" cy="2468880"/>
          </a:xfrm>
          <a:prstGeom prst="rect">
            <a:avLst/>
          </a:prstGeom>
          <a:solidFill>
            <a:srgbClr val="F5F5F5"/>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794760"/>
            <a:ext cx="731520" cy="7315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92608" y="3867912"/>
            <a:ext cx="694944" cy="594360"/>
          </a:xfrm>
          <a:prstGeom prst="rect">
            <a:avLst/>
          </a:prstGeom>
          <a:noFill/>
        </p:spPr>
        <p:txBody>
          <a:bodyPr wrap="square">
            <a:spAutoFit/>
          </a:bodyPr>
          <a:lstStyle/>
          <a:p>
            <a:pPr algn="ctr"/>
            <a:r>
              <a:rPr sz="2200" b="1" i="0">
                <a:solidFill>
                  <a:srgbClr val="FFFFFF"/>
                </a:solidFill>
                <a:latin typeface="Calibri"/>
              </a:rPr>
              <a:t>03</a:t>
            </a:r>
          </a:p>
        </p:txBody>
      </p:sp>
      <p:sp>
        <p:nvSpPr>
          <p:cNvPr id="23" name="TextBox 22"/>
          <p:cNvSpPr txBox="1"/>
          <p:nvPr/>
        </p:nvSpPr>
        <p:spPr>
          <a:xfrm>
            <a:off x="1097280" y="3886200"/>
            <a:ext cx="4754880" cy="457200"/>
          </a:xfrm>
          <a:prstGeom prst="rect">
            <a:avLst/>
          </a:prstGeom>
          <a:noFill/>
        </p:spPr>
        <p:txBody>
          <a:bodyPr wrap="square">
            <a:spAutoFit/>
          </a:bodyPr>
          <a:lstStyle/>
          <a:p>
            <a:pPr algn="l"/>
            <a:r>
              <a:rPr sz="1700" b="1" i="0">
                <a:solidFill>
                  <a:srgbClr val="FF9800"/>
                </a:solidFill>
                <a:latin typeface="Calibri"/>
              </a:rPr>
              <a:t>Identify Geographic Hotspots</a:t>
            </a:r>
          </a:p>
        </p:txBody>
      </p:sp>
      <p:sp>
        <p:nvSpPr>
          <p:cNvPr id="24" name="TextBox 23"/>
          <p:cNvSpPr txBox="1"/>
          <p:nvPr/>
        </p:nvSpPr>
        <p:spPr>
          <a:xfrm>
            <a:off x="411480" y="4480560"/>
            <a:ext cx="5394960" cy="1691640"/>
          </a:xfrm>
          <a:prstGeom prst="rect">
            <a:avLst/>
          </a:prstGeom>
          <a:noFill/>
        </p:spPr>
        <p:txBody>
          <a:bodyPr wrap="square">
            <a:spAutoFit/>
          </a:bodyPr>
          <a:lstStyle/>
          <a:p>
            <a:pPr algn="l"/>
            <a:r>
              <a:rPr sz="1300" b="0" i="0">
                <a:solidFill>
                  <a:srgbClr val="333333"/>
                </a:solidFill>
                <a:latin typeface="Calibri"/>
              </a:rPr>
              <a:t>Apply spatial autocorrelation analysis (Moran's I = 0.72) to detect energy poverty clusters, outliers, and hotspot regions requiring priority intervention.</a:t>
            </a:r>
          </a:p>
        </p:txBody>
      </p:sp>
      <p:sp>
        <p:nvSpPr>
          <p:cNvPr id="25" name="Rectangle 24"/>
          <p:cNvSpPr/>
          <p:nvPr/>
        </p:nvSpPr>
        <p:spPr>
          <a:xfrm>
            <a:off x="6217920" y="3794760"/>
            <a:ext cx="5669280" cy="2468880"/>
          </a:xfrm>
          <a:prstGeom prst="rect">
            <a:avLst/>
          </a:prstGeom>
          <a:solidFill>
            <a:srgbClr val="F5F5F5"/>
          </a:solidFill>
          <a:ln w="254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3794760"/>
            <a:ext cx="731520" cy="7315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6208" y="3867912"/>
            <a:ext cx="694944" cy="594360"/>
          </a:xfrm>
          <a:prstGeom prst="rect">
            <a:avLst/>
          </a:prstGeom>
          <a:noFill/>
        </p:spPr>
        <p:txBody>
          <a:bodyPr wrap="square">
            <a:spAutoFit/>
          </a:bodyPr>
          <a:lstStyle/>
          <a:p>
            <a:pPr algn="ctr"/>
            <a:r>
              <a:rPr sz="2200" b="1" i="0">
                <a:solidFill>
                  <a:srgbClr val="FFFFFF"/>
                </a:solidFill>
                <a:latin typeface="Calibri"/>
              </a:rPr>
              <a:t>04</a:t>
            </a:r>
          </a:p>
        </p:txBody>
      </p:sp>
      <p:sp>
        <p:nvSpPr>
          <p:cNvPr id="28" name="TextBox 27"/>
          <p:cNvSpPr txBox="1"/>
          <p:nvPr/>
        </p:nvSpPr>
        <p:spPr>
          <a:xfrm>
            <a:off x="7040880" y="3886200"/>
            <a:ext cx="4754880" cy="457200"/>
          </a:xfrm>
          <a:prstGeom prst="rect">
            <a:avLst/>
          </a:prstGeom>
          <a:noFill/>
        </p:spPr>
        <p:txBody>
          <a:bodyPr wrap="square">
            <a:spAutoFit/>
          </a:bodyPr>
          <a:lstStyle/>
          <a:p>
            <a:pPr algn="l"/>
            <a:r>
              <a:rPr sz="1700" b="1" i="0">
                <a:solidFill>
                  <a:srgbClr val="9B59B6"/>
                </a:solidFill>
                <a:latin typeface="Calibri"/>
              </a:rPr>
              <a:t>Guide Policy Interventions</a:t>
            </a:r>
          </a:p>
        </p:txBody>
      </p:sp>
      <p:sp>
        <p:nvSpPr>
          <p:cNvPr id="29" name="TextBox 28"/>
          <p:cNvSpPr txBox="1"/>
          <p:nvPr/>
        </p:nvSpPr>
        <p:spPr>
          <a:xfrm>
            <a:off x="6355080" y="4480560"/>
            <a:ext cx="5394960" cy="1691640"/>
          </a:xfrm>
          <a:prstGeom prst="rect">
            <a:avLst/>
          </a:prstGeom>
          <a:noFill/>
        </p:spPr>
        <p:txBody>
          <a:bodyPr wrap="square">
            <a:spAutoFit/>
          </a:bodyPr>
          <a:lstStyle/>
          <a:p>
            <a:pPr algn="l"/>
            <a:r>
              <a:rPr sz="1300" b="0" i="0">
                <a:solidFill>
                  <a:srgbClr val="333333"/>
                </a:solidFill>
                <a:latin typeface="Calibri"/>
              </a:rPr>
              <a:t>Provide evidence-based, spatially targeted policy recommendations aligned with SDG 7 (Affordable &amp; Clean Energy) for government, private sector, and NGO stakeholders.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MEPI Methodology Framework</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Multidimensional Energy Poverty Index Calculation Pipeline</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4 / 13</a:t>
            </a:r>
          </a:p>
        </p:txBody>
      </p:sp>
      <p:sp>
        <p:nvSpPr>
          <p:cNvPr id="10" name="Rectangle 9"/>
          <p:cNvSpPr/>
          <p:nvPr/>
        </p:nvSpPr>
        <p:spPr>
          <a:xfrm>
            <a:off x="320040" y="1280160"/>
            <a:ext cx="2011680" cy="201168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25880"/>
            <a:ext cx="1920240" cy="502920"/>
          </a:xfrm>
          <a:prstGeom prst="rect">
            <a:avLst/>
          </a:prstGeom>
          <a:noFill/>
        </p:spPr>
        <p:txBody>
          <a:bodyPr wrap="square">
            <a:spAutoFit/>
          </a:bodyPr>
          <a:lstStyle/>
          <a:p>
            <a:pPr algn="ctr"/>
            <a:r>
              <a:rPr sz="1300" b="1" i="0">
                <a:solidFill>
                  <a:srgbClr val="FFFFFF"/>
                </a:solidFill>
                <a:latin typeface="Calibri"/>
              </a:rPr>
              <a:t>STEP 1
Raw Indicators</a:t>
            </a:r>
          </a:p>
        </p:txBody>
      </p:sp>
      <p:sp>
        <p:nvSpPr>
          <p:cNvPr id="12" name="TextBox 11"/>
          <p:cNvSpPr txBox="1"/>
          <p:nvPr/>
        </p:nvSpPr>
        <p:spPr>
          <a:xfrm>
            <a:off x="393192" y="1874520"/>
            <a:ext cx="1865376" cy="1325880"/>
          </a:xfrm>
          <a:prstGeom prst="rect">
            <a:avLst/>
          </a:prstGeom>
          <a:noFill/>
        </p:spPr>
        <p:txBody>
          <a:bodyPr wrap="square">
            <a:spAutoFit/>
          </a:bodyPr>
          <a:lstStyle/>
          <a:p>
            <a:pPr algn="ctr"/>
            <a:r>
              <a:rPr sz="1100" b="0" i="0">
                <a:solidFill>
                  <a:srgbClr val="FFFFFF"/>
                </a:solidFill>
                <a:latin typeface="Calibri"/>
              </a:rPr>
              <a:t>18 indicators
across 5 dimensions
collected from
multiple sources</a:t>
            </a:r>
          </a:p>
        </p:txBody>
      </p:sp>
      <p:sp>
        <p:nvSpPr>
          <p:cNvPr id="13" name="Rectangle 12"/>
          <p:cNvSpPr/>
          <p:nvPr/>
        </p:nvSpPr>
        <p:spPr>
          <a:xfrm>
            <a:off x="2377440" y="2103120"/>
            <a:ext cx="320040"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86584" y="2084832"/>
            <a:ext cx="274320" cy="320040"/>
          </a:xfrm>
          <a:prstGeom prst="rect">
            <a:avLst/>
          </a:prstGeom>
          <a:noFill/>
        </p:spPr>
        <p:txBody>
          <a:bodyPr wrap="square">
            <a:spAutoFit/>
          </a:bodyPr>
          <a:lstStyle/>
          <a:p>
            <a:pPr algn="ctr"/>
            <a:r>
              <a:rPr sz="1800" b="1" i="0">
                <a:solidFill>
                  <a:srgbClr val="FFFFFF"/>
                </a:solidFill>
                <a:latin typeface="Calibri"/>
              </a:rPr>
              <a:t>▶</a:t>
            </a:r>
          </a:p>
        </p:txBody>
      </p:sp>
      <p:sp>
        <p:nvSpPr>
          <p:cNvPr id="15" name="Rectangle 14"/>
          <p:cNvSpPr/>
          <p:nvPr/>
        </p:nvSpPr>
        <p:spPr>
          <a:xfrm>
            <a:off x="2697480" y="1280160"/>
            <a:ext cx="2011680" cy="20116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325880"/>
            <a:ext cx="1920240" cy="502920"/>
          </a:xfrm>
          <a:prstGeom prst="rect">
            <a:avLst/>
          </a:prstGeom>
          <a:noFill/>
        </p:spPr>
        <p:txBody>
          <a:bodyPr wrap="square">
            <a:spAutoFit/>
          </a:bodyPr>
          <a:lstStyle/>
          <a:p>
            <a:pPr algn="ctr"/>
            <a:r>
              <a:rPr sz="1300" b="1" i="0">
                <a:solidFill>
                  <a:srgbClr val="FFFFFF"/>
                </a:solidFill>
                <a:latin typeface="Calibri"/>
              </a:rPr>
              <a:t>STEP 2
Normalisation</a:t>
            </a:r>
          </a:p>
        </p:txBody>
      </p:sp>
      <p:sp>
        <p:nvSpPr>
          <p:cNvPr id="17" name="TextBox 16"/>
          <p:cNvSpPr txBox="1"/>
          <p:nvPr/>
        </p:nvSpPr>
        <p:spPr>
          <a:xfrm>
            <a:off x="2770632" y="1874520"/>
            <a:ext cx="1865376" cy="1325880"/>
          </a:xfrm>
          <a:prstGeom prst="rect">
            <a:avLst/>
          </a:prstGeom>
          <a:noFill/>
        </p:spPr>
        <p:txBody>
          <a:bodyPr wrap="square">
            <a:spAutoFit/>
          </a:bodyPr>
          <a:lstStyle/>
          <a:p>
            <a:pPr algn="ctr"/>
            <a:r>
              <a:rPr sz="1100" b="0" i="0">
                <a:solidFill>
                  <a:srgbClr val="FFFFFF"/>
                </a:solidFill>
                <a:latin typeface="Calibri"/>
              </a:rPr>
              <a:t>Min-max scaling
to [0, 1] range
higher = more
deprived</a:t>
            </a:r>
          </a:p>
        </p:txBody>
      </p:sp>
      <p:sp>
        <p:nvSpPr>
          <p:cNvPr id="18" name="Rectangle 17"/>
          <p:cNvSpPr/>
          <p:nvPr/>
        </p:nvSpPr>
        <p:spPr>
          <a:xfrm>
            <a:off x="4754880" y="2103120"/>
            <a:ext cx="320040"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64024" y="2084832"/>
            <a:ext cx="274320" cy="320040"/>
          </a:xfrm>
          <a:prstGeom prst="rect">
            <a:avLst/>
          </a:prstGeom>
          <a:noFill/>
        </p:spPr>
        <p:txBody>
          <a:bodyPr wrap="square">
            <a:spAutoFit/>
          </a:bodyPr>
          <a:lstStyle/>
          <a:p>
            <a:pPr algn="ctr"/>
            <a:r>
              <a:rPr sz="1800" b="1" i="0">
                <a:solidFill>
                  <a:srgbClr val="FFFFFF"/>
                </a:solidFill>
                <a:latin typeface="Calibri"/>
              </a:rPr>
              <a:t>▶</a:t>
            </a:r>
          </a:p>
        </p:txBody>
      </p:sp>
      <p:sp>
        <p:nvSpPr>
          <p:cNvPr id="20" name="Rectangle 19"/>
          <p:cNvSpPr/>
          <p:nvPr/>
        </p:nvSpPr>
        <p:spPr>
          <a:xfrm>
            <a:off x="5074920" y="1280160"/>
            <a:ext cx="2011680" cy="20116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0" y="1325880"/>
            <a:ext cx="1920240" cy="502920"/>
          </a:xfrm>
          <a:prstGeom prst="rect">
            <a:avLst/>
          </a:prstGeom>
          <a:noFill/>
        </p:spPr>
        <p:txBody>
          <a:bodyPr wrap="square">
            <a:spAutoFit/>
          </a:bodyPr>
          <a:lstStyle/>
          <a:p>
            <a:pPr algn="ctr"/>
            <a:r>
              <a:rPr sz="1300" b="1" i="0">
                <a:solidFill>
                  <a:srgbClr val="FFFFFF"/>
                </a:solidFill>
                <a:latin typeface="Calibri"/>
              </a:rPr>
              <a:t>STEP 3
Dimension
Scores</a:t>
            </a:r>
          </a:p>
        </p:txBody>
      </p:sp>
      <p:sp>
        <p:nvSpPr>
          <p:cNvPr id="22" name="TextBox 21"/>
          <p:cNvSpPr txBox="1"/>
          <p:nvPr/>
        </p:nvSpPr>
        <p:spPr>
          <a:xfrm>
            <a:off x="5148072" y="1874520"/>
            <a:ext cx="1865376" cy="1325880"/>
          </a:xfrm>
          <a:prstGeom prst="rect">
            <a:avLst/>
          </a:prstGeom>
          <a:noFill/>
        </p:spPr>
        <p:txBody>
          <a:bodyPr wrap="square">
            <a:spAutoFit/>
          </a:bodyPr>
          <a:lstStyle/>
          <a:p>
            <a:pPr algn="ctr"/>
            <a:r>
              <a:rPr sz="1100" b="0" i="0">
                <a:solidFill>
                  <a:srgbClr val="FFFFFF"/>
                </a:solidFill>
                <a:latin typeface="Calibri"/>
              </a:rPr>
              <a:t>Arithmetic mean
of normalised
indicators within
each dimension</a:t>
            </a:r>
          </a:p>
        </p:txBody>
      </p:sp>
      <p:sp>
        <p:nvSpPr>
          <p:cNvPr id="23" name="Rectangle 22"/>
          <p:cNvSpPr/>
          <p:nvPr/>
        </p:nvSpPr>
        <p:spPr>
          <a:xfrm>
            <a:off x="7132320" y="2103120"/>
            <a:ext cx="320040"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41464" y="2084832"/>
            <a:ext cx="274320" cy="320040"/>
          </a:xfrm>
          <a:prstGeom prst="rect">
            <a:avLst/>
          </a:prstGeom>
          <a:noFill/>
        </p:spPr>
        <p:txBody>
          <a:bodyPr wrap="square">
            <a:spAutoFit/>
          </a:bodyPr>
          <a:lstStyle/>
          <a:p>
            <a:pPr algn="ctr"/>
            <a:r>
              <a:rPr sz="1800" b="1" i="0">
                <a:solidFill>
                  <a:srgbClr val="FFFFFF"/>
                </a:solidFill>
                <a:latin typeface="Calibri"/>
              </a:rPr>
              <a:t>▶</a:t>
            </a:r>
          </a:p>
        </p:txBody>
      </p:sp>
      <p:sp>
        <p:nvSpPr>
          <p:cNvPr id="25" name="Rectangle 24"/>
          <p:cNvSpPr/>
          <p:nvPr/>
        </p:nvSpPr>
        <p:spPr>
          <a:xfrm>
            <a:off x="7452360" y="1280160"/>
            <a:ext cx="2011680" cy="20116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0" y="1325880"/>
            <a:ext cx="1920240" cy="502920"/>
          </a:xfrm>
          <a:prstGeom prst="rect">
            <a:avLst/>
          </a:prstGeom>
          <a:noFill/>
        </p:spPr>
        <p:txBody>
          <a:bodyPr wrap="square">
            <a:spAutoFit/>
          </a:bodyPr>
          <a:lstStyle/>
          <a:p>
            <a:pPr algn="ctr"/>
            <a:r>
              <a:rPr sz="1300" b="1" i="0">
                <a:solidFill>
                  <a:srgbClr val="FFFFFF"/>
                </a:solidFill>
                <a:latin typeface="Calibri"/>
              </a:rPr>
              <a:t>STEP 4
MEPI Score</a:t>
            </a:r>
          </a:p>
        </p:txBody>
      </p:sp>
      <p:sp>
        <p:nvSpPr>
          <p:cNvPr id="27" name="TextBox 26"/>
          <p:cNvSpPr txBox="1"/>
          <p:nvPr/>
        </p:nvSpPr>
        <p:spPr>
          <a:xfrm>
            <a:off x="7525512" y="1874520"/>
            <a:ext cx="1865376" cy="1325880"/>
          </a:xfrm>
          <a:prstGeom prst="rect">
            <a:avLst/>
          </a:prstGeom>
          <a:noFill/>
        </p:spPr>
        <p:txBody>
          <a:bodyPr wrap="square">
            <a:spAutoFit/>
          </a:bodyPr>
          <a:lstStyle/>
          <a:p>
            <a:pPr algn="ctr"/>
            <a:r>
              <a:rPr sz="1100" b="0" i="0">
                <a:solidFill>
                  <a:srgbClr val="FFFFFF"/>
                </a:solidFill>
                <a:latin typeface="Calibri"/>
              </a:rPr>
              <a:t>Weighted sum
of 5 dimension
scores
(equal weights)</a:t>
            </a:r>
          </a:p>
        </p:txBody>
      </p:sp>
      <p:sp>
        <p:nvSpPr>
          <p:cNvPr id="28" name="Rectangle 27"/>
          <p:cNvSpPr/>
          <p:nvPr/>
        </p:nvSpPr>
        <p:spPr>
          <a:xfrm>
            <a:off x="9509760" y="2103120"/>
            <a:ext cx="320040" cy="3657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18904" y="2084832"/>
            <a:ext cx="274320" cy="320040"/>
          </a:xfrm>
          <a:prstGeom prst="rect">
            <a:avLst/>
          </a:prstGeom>
          <a:noFill/>
        </p:spPr>
        <p:txBody>
          <a:bodyPr wrap="square">
            <a:spAutoFit/>
          </a:bodyPr>
          <a:lstStyle/>
          <a:p>
            <a:pPr algn="ctr"/>
            <a:r>
              <a:rPr sz="1800" b="1" i="0">
                <a:solidFill>
                  <a:srgbClr val="FFFFFF"/>
                </a:solidFill>
                <a:latin typeface="Calibri"/>
              </a:rPr>
              <a:t>▶</a:t>
            </a:r>
          </a:p>
        </p:txBody>
      </p:sp>
      <p:sp>
        <p:nvSpPr>
          <p:cNvPr id="30" name="Rectangle 29"/>
          <p:cNvSpPr/>
          <p:nvPr/>
        </p:nvSpPr>
        <p:spPr>
          <a:xfrm>
            <a:off x="9829800" y="1280160"/>
            <a:ext cx="2011680" cy="20116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875520" y="1325880"/>
            <a:ext cx="1920240" cy="502920"/>
          </a:xfrm>
          <a:prstGeom prst="rect">
            <a:avLst/>
          </a:prstGeom>
          <a:noFill/>
        </p:spPr>
        <p:txBody>
          <a:bodyPr wrap="square">
            <a:spAutoFit/>
          </a:bodyPr>
          <a:lstStyle/>
          <a:p>
            <a:pPr algn="ctr"/>
            <a:r>
              <a:rPr sz="1300" b="1" i="0">
                <a:solidFill>
                  <a:srgbClr val="FFFFFF"/>
                </a:solidFill>
                <a:latin typeface="Calibri"/>
              </a:rPr>
              <a:t>STEP 5
Classification</a:t>
            </a:r>
          </a:p>
        </p:txBody>
      </p:sp>
      <p:sp>
        <p:nvSpPr>
          <p:cNvPr id="32" name="TextBox 31"/>
          <p:cNvSpPr txBox="1"/>
          <p:nvPr/>
        </p:nvSpPr>
        <p:spPr>
          <a:xfrm>
            <a:off x="9902952" y="1874520"/>
            <a:ext cx="1865376" cy="1325880"/>
          </a:xfrm>
          <a:prstGeom prst="rect">
            <a:avLst/>
          </a:prstGeom>
          <a:noFill/>
        </p:spPr>
        <p:txBody>
          <a:bodyPr wrap="square">
            <a:spAutoFit/>
          </a:bodyPr>
          <a:lstStyle/>
          <a:p>
            <a:pPr algn="ctr"/>
            <a:r>
              <a:rPr sz="1100" b="0" i="0">
                <a:solidFill>
                  <a:srgbClr val="FFFFFF"/>
                </a:solidFill>
                <a:latin typeface="Calibri"/>
              </a:rPr>
              <a:t>Non-Poor (0–0.33)
Moderate (0.33–0.66)
Severe (0.66–1.0)</a:t>
            </a:r>
          </a:p>
        </p:txBody>
      </p:sp>
      <p:sp>
        <p:nvSpPr>
          <p:cNvPr id="33" name="Rectangle 32"/>
          <p:cNvSpPr/>
          <p:nvPr/>
        </p:nvSpPr>
        <p:spPr>
          <a:xfrm>
            <a:off x="274320" y="3429000"/>
            <a:ext cx="11612880" cy="82296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3493008"/>
            <a:ext cx="11247120" cy="685800"/>
          </a:xfrm>
          <a:prstGeom prst="rect">
            <a:avLst/>
          </a:prstGeom>
          <a:noFill/>
        </p:spPr>
        <p:txBody>
          <a:bodyPr wrap="square">
            <a:spAutoFit/>
          </a:bodyPr>
          <a:lstStyle/>
          <a:p>
            <a:pPr algn="ctr"/>
            <a:r>
              <a:rPr sz="1300" b="1" i="0">
                <a:solidFill>
                  <a:srgbClr val="FFFFFF"/>
                </a:solidFill>
                <a:latin typeface="Calibri"/>
              </a:rPr>
              <a:t>KEY FORMULA:  MEPI = Σ (weight_d × dimension_score_d)   |   weight_d = 0.20 for each dimension (equal weights)   |   Min-max: x_norm = (x − x_min) / (x_max − x_min)</a:t>
            </a:r>
          </a:p>
        </p:txBody>
      </p:sp>
      <p:sp>
        <p:nvSpPr>
          <p:cNvPr id="35" name="TextBox 34"/>
          <p:cNvSpPr txBox="1"/>
          <p:nvPr/>
        </p:nvSpPr>
        <p:spPr>
          <a:xfrm>
            <a:off x="274320" y="4389120"/>
            <a:ext cx="4572000" cy="365760"/>
          </a:xfrm>
          <a:prstGeom prst="rect">
            <a:avLst/>
          </a:prstGeom>
          <a:noFill/>
        </p:spPr>
        <p:txBody>
          <a:bodyPr wrap="square">
            <a:spAutoFit/>
          </a:bodyPr>
          <a:lstStyle/>
          <a:p>
            <a:pPr algn="l"/>
            <a:r>
              <a:rPr sz="1500" b="1" i="0">
                <a:solidFill>
                  <a:srgbClr val="1F4E78"/>
                </a:solidFill>
                <a:latin typeface="Calibri"/>
              </a:rPr>
              <a:t>Poverty Classification Thresholds</a:t>
            </a:r>
          </a:p>
        </p:txBody>
      </p:sp>
      <p:graphicFrame>
        <p:nvGraphicFramePr>
          <p:cNvPr id="36" name="Table 35"/>
          <p:cNvGraphicFramePr>
            <a:graphicFrameLocks noGrp="1"/>
          </p:cNvGraphicFramePr>
          <p:nvPr/>
        </p:nvGraphicFramePr>
        <p:xfrm>
          <a:off x="274320" y="4800600"/>
          <a:ext cx="5486400" cy="1463040"/>
        </p:xfrm>
        <a:graphic>
          <a:graphicData uri="http://schemas.openxmlformats.org/drawingml/2006/table">
            <a:tbl>
              <a:tblPr firstRow="1" bandRow="1">
                <a:tableStyleId>{5C22544A-7EE6-4342-B048-85BDC9FD1C3A}</a:tableStyleId>
              </a:tblPr>
              <a:tblGrid>
                <a:gridCol w="1645920"/>
                <a:gridCol w="1737360"/>
                <a:gridCol w="2103120"/>
              </a:tblGrid>
              <a:tr h="365760">
                <a:tc>
                  <a:txBody>
                    <a:bodyPr/>
                    <a:lstStyle/>
                    <a:p>
                      <a:pPr algn="ctr"/>
                      <a:r>
                        <a:rPr sz="1100" b="1">
                          <a:solidFill>
                            <a:srgbClr val="FFFFFF"/>
                          </a:solidFill>
                          <a:latin typeface="Calibri"/>
                        </a:rPr>
                        <a:t>Category</a:t>
                      </a:r>
                    </a:p>
                  </a:txBody>
                  <a:tcPr>
                    <a:solidFill>
                      <a:srgbClr val="1F4E78"/>
                    </a:solidFill>
                  </a:tcPr>
                </a:tc>
                <a:tc>
                  <a:txBody>
                    <a:bodyPr/>
                    <a:lstStyle/>
                    <a:p>
                      <a:pPr algn="ctr"/>
                      <a:r>
                        <a:rPr sz="1100" b="1">
                          <a:solidFill>
                            <a:srgbClr val="FFFFFF"/>
                          </a:solidFill>
                          <a:latin typeface="Calibri"/>
                        </a:rPr>
                        <a:t>MEPI Score Range</a:t>
                      </a:r>
                    </a:p>
                  </a:txBody>
                  <a:tcPr>
                    <a:solidFill>
                      <a:srgbClr val="1F4E78"/>
                    </a:solidFill>
                  </a:tcPr>
                </a:tc>
                <a:tc>
                  <a:txBody>
                    <a:bodyPr/>
                    <a:lstStyle/>
                    <a:p>
                      <a:pPr algn="ctr"/>
                      <a:r>
                        <a:rPr sz="1100" b="1">
                          <a:solidFill>
                            <a:srgbClr val="FFFFFF"/>
                          </a:solidFill>
                          <a:latin typeface="Calibri"/>
                        </a:rPr>
                        <a:t>Interpretation</a:t>
                      </a:r>
                    </a:p>
                  </a:txBody>
                  <a:tcPr>
                    <a:solidFill>
                      <a:srgbClr val="1F4E78"/>
                    </a:solidFill>
                  </a:tcPr>
                </a:tc>
              </a:tr>
              <a:tr h="365760">
                <a:tc>
                  <a:txBody>
                    <a:bodyPr/>
                    <a:lstStyle/>
                    <a:p>
                      <a:pPr algn="ctr"/>
                      <a:r>
                        <a:rPr sz="1100">
                          <a:solidFill>
                            <a:srgbClr val="333333"/>
                          </a:solidFill>
                          <a:latin typeface="Calibri"/>
                        </a:rPr>
                        <a:t>Non-Poor</a:t>
                      </a:r>
                    </a:p>
                  </a:txBody>
                  <a:tcPr/>
                </a:tc>
                <a:tc>
                  <a:txBody>
                    <a:bodyPr/>
                    <a:lstStyle/>
                    <a:p>
                      <a:pPr algn="ctr"/>
                      <a:r>
                        <a:rPr sz="1100">
                          <a:solidFill>
                            <a:srgbClr val="333333"/>
                          </a:solidFill>
                          <a:latin typeface="Calibri"/>
                        </a:rPr>
                        <a:t>0.00 – 0.33</a:t>
                      </a:r>
                    </a:p>
                  </a:txBody>
                  <a:tcPr/>
                </a:tc>
                <a:tc>
                  <a:txBody>
                    <a:bodyPr/>
                    <a:lstStyle/>
                    <a:p>
                      <a:pPr algn="ctr"/>
                      <a:r>
                        <a:rPr sz="1100">
                          <a:solidFill>
                            <a:srgbClr val="333333"/>
                          </a:solidFill>
                          <a:latin typeface="Calibri"/>
                        </a:rPr>
                        <a:t>Good energy access, minor gaps</a:t>
                      </a:r>
                    </a:p>
                  </a:txBody>
                  <a:tcPr/>
                </a:tc>
              </a:tr>
              <a:tr h="365760">
                <a:tc>
                  <a:txBody>
                    <a:bodyPr/>
                    <a:lstStyle/>
                    <a:p>
                      <a:pPr algn="ctr"/>
                      <a:r>
                        <a:rPr sz="1100">
                          <a:solidFill>
                            <a:srgbClr val="333333"/>
                          </a:solidFill>
                          <a:latin typeface="Calibri"/>
                        </a:rPr>
                        <a:t>Moderately Poor</a:t>
                      </a:r>
                    </a:p>
                  </a:txBody>
                  <a:tcPr/>
                </a:tc>
                <a:tc>
                  <a:txBody>
                    <a:bodyPr/>
                    <a:lstStyle/>
                    <a:p>
                      <a:pPr algn="ctr"/>
                      <a:r>
                        <a:rPr sz="1100">
                          <a:solidFill>
                            <a:srgbClr val="333333"/>
                          </a:solidFill>
                          <a:latin typeface="Calibri"/>
                        </a:rPr>
                        <a:t>0.33 – 0.66</a:t>
                      </a:r>
                    </a:p>
                  </a:txBody>
                  <a:tcPr/>
                </a:tc>
                <a:tc>
                  <a:txBody>
                    <a:bodyPr/>
                    <a:lstStyle/>
                    <a:p>
                      <a:pPr algn="ctr"/>
                      <a:r>
                        <a:rPr sz="1100">
                          <a:solidFill>
                            <a:srgbClr val="333333"/>
                          </a:solidFill>
                          <a:latin typeface="Calibri"/>
                        </a:rPr>
                        <a:t>Significant energy deprivation</a:t>
                      </a:r>
                    </a:p>
                  </a:txBody>
                  <a:tcPr/>
                </a:tc>
              </a:tr>
              <a:tr h="365760">
                <a:tc>
                  <a:txBody>
                    <a:bodyPr/>
                    <a:lstStyle/>
                    <a:p>
                      <a:pPr algn="ctr"/>
                      <a:r>
                        <a:rPr sz="1100">
                          <a:solidFill>
                            <a:srgbClr val="333333"/>
                          </a:solidFill>
                          <a:latin typeface="Calibri"/>
                        </a:rPr>
                        <a:t>Severely Poor</a:t>
                      </a:r>
                    </a:p>
                  </a:txBody>
                  <a:tcPr/>
                </a:tc>
                <a:tc>
                  <a:txBody>
                    <a:bodyPr/>
                    <a:lstStyle/>
                    <a:p>
                      <a:pPr algn="ctr"/>
                      <a:r>
                        <a:rPr sz="1100">
                          <a:solidFill>
                            <a:srgbClr val="333333"/>
                          </a:solidFill>
                          <a:latin typeface="Calibri"/>
                        </a:rPr>
                        <a:t>0.66 – 1.00</a:t>
                      </a:r>
                    </a:p>
                  </a:txBody>
                  <a:tcPr/>
                </a:tc>
                <a:tc>
                  <a:txBody>
                    <a:bodyPr/>
                    <a:lstStyle/>
                    <a:p>
                      <a:pPr algn="ctr"/>
                      <a:r>
                        <a:rPr sz="1100">
                          <a:solidFill>
                            <a:srgbClr val="333333"/>
                          </a:solidFill>
                          <a:latin typeface="Calibri"/>
                        </a:rPr>
                        <a:t>Critical energy poverty, priority intervention</a:t>
                      </a:r>
                    </a:p>
                  </a:txBody>
                  <a:tcPr/>
                </a:tc>
              </a:tr>
            </a:tbl>
          </a:graphicData>
        </a:graphic>
      </p:graphicFrame>
      <p:sp>
        <p:nvSpPr>
          <p:cNvPr id="37" name="TextBox 36"/>
          <p:cNvSpPr txBox="1"/>
          <p:nvPr/>
        </p:nvSpPr>
        <p:spPr>
          <a:xfrm>
            <a:off x="6035040" y="4389120"/>
            <a:ext cx="5852160" cy="365760"/>
          </a:xfrm>
          <a:prstGeom prst="rect">
            <a:avLst/>
          </a:prstGeom>
          <a:noFill/>
        </p:spPr>
        <p:txBody>
          <a:bodyPr wrap="square">
            <a:spAutoFit/>
          </a:bodyPr>
          <a:lstStyle/>
          <a:p>
            <a:pPr algn="l"/>
            <a:r>
              <a:rPr sz="1500" b="1" i="0">
                <a:solidFill>
                  <a:srgbClr val="1F4E78"/>
                </a:solidFill>
                <a:latin typeface="Calibri"/>
              </a:rPr>
              <a:t>Dimension Deprivation Threshold</a:t>
            </a:r>
          </a:p>
        </p:txBody>
      </p:sp>
      <p:graphicFrame>
        <p:nvGraphicFramePr>
          <p:cNvPr id="38" name="Table 37"/>
          <p:cNvGraphicFramePr>
            <a:graphicFrameLocks noGrp="1"/>
          </p:cNvGraphicFramePr>
          <p:nvPr/>
        </p:nvGraphicFramePr>
        <p:xfrm>
          <a:off x="6035040" y="4800600"/>
          <a:ext cx="5852160" cy="1463040"/>
        </p:xfrm>
        <a:graphic>
          <a:graphicData uri="http://schemas.openxmlformats.org/drawingml/2006/table">
            <a:tbl>
              <a:tblPr firstRow="1" bandRow="1">
                <a:tableStyleId>{5C22544A-7EE6-4342-B048-85BDC9FD1C3A}</a:tableStyleId>
              </a:tblPr>
              <a:tblGrid>
                <a:gridCol w="2011680"/>
                <a:gridCol w="914400"/>
                <a:gridCol w="2926080"/>
              </a:tblGrid>
              <a:tr h="365760">
                <a:tc>
                  <a:txBody>
                    <a:bodyPr/>
                    <a:lstStyle/>
                    <a:p>
                      <a:pPr algn="ctr"/>
                      <a:r>
                        <a:rPr sz="1100" b="1">
                          <a:solidFill>
                            <a:srgbClr val="FFFFFF"/>
                          </a:solidFill>
                          <a:latin typeface="Calibri"/>
                        </a:rPr>
                        <a:t>Metric</a:t>
                      </a:r>
                    </a:p>
                  </a:txBody>
                  <a:tcPr>
                    <a:solidFill>
                      <a:srgbClr val="70AD47"/>
                    </a:solidFill>
                  </a:tcPr>
                </a:tc>
                <a:tc>
                  <a:txBody>
                    <a:bodyPr/>
                    <a:lstStyle/>
                    <a:p>
                      <a:pPr algn="ctr"/>
                      <a:r>
                        <a:rPr sz="1100" b="1">
                          <a:solidFill>
                            <a:srgbClr val="FFFFFF"/>
                          </a:solidFill>
                          <a:latin typeface="Calibri"/>
                        </a:rPr>
                        <a:t>Value</a:t>
                      </a:r>
                    </a:p>
                  </a:txBody>
                  <a:tcPr>
                    <a:solidFill>
                      <a:srgbClr val="70AD47"/>
                    </a:solidFill>
                  </a:tcPr>
                </a:tc>
                <a:tc>
                  <a:txBody>
                    <a:bodyPr/>
                    <a:lstStyle/>
                    <a:p>
                      <a:pPr algn="ctr"/>
                      <a:r>
                        <a:rPr sz="1100" b="1">
                          <a:solidFill>
                            <a:srgbClr val="FFFFFF"/>
                          </a:solidFill>
                          <a:latin typeface="Calibri"/>
                        </a:rPr>
                        <a:t>Meaning</a:t>
                      </a:r>
                    </a:p>
                  </a:txBody>
                  <a:tcPr>
                    <a:solidFill>
                      <a:srgbClr val="70AD47"/>
                    </a:solidFill>
                  </a:tcPr>
                </a:tc>
              </a:tr>
              <a:tr h="365760">
                <a:tc>
                  <a:txBody>
                    <a:bodyPr/>
                    <a:lstStyle/>
                    <a:p>
                      <a:pPr algn="ctr"/>
                      <a:r>
                        <a:rPr sz="1100">
                          <a:solidFill>
                            <a:srgbClr val="333333"/>
                          </a:solidFill>
                          <a:latin typeface="Calibri"/>
                        </a:rPr>
                        <a:t>Deprivation threshold</a:t>
                      </a:r>
                    </a:p>
                  </a:txBody>
                  <a:tcPr/>
                </a:tc>
                <a:tc>
                  <a:txBody>
                    <a:bodyPr/>
                    <a:lstStyle/>
                    <a:p>
                      <a:pPr algn="ctr"/>
                      <a:r>
                        <a:rPr sz="1100">
                          <a:solidFill>
                            <a:srgbClr val="333333"/>
                          </a:solidFill>
                          <a:latin typeface="Calibri"/>
                        </a:rPr>
                        <a:t>0.33</a:t>
                      </a:r>
                    </a:p>
                  </a:txBody>
                  <a:tcPr/>
                </a:tc>
                <a:tc>
                  <a:txBody>
                    <a:bodyPr/>
                    <a:lstStyle/>
                    <a:p>
                      <a:pPr algn="ctr"/>
                      <a:r>
                        <a:rPr sz="1100">
                          <a:solidFill>
                            <a:srgbClr val="333333"/>
                          </a:solidFill>
                          <a:latin typeface="Calibri"/>
                        </a:rPr>
                        <a:t>Dimension score &gt; 0.33 = deprived in that dimension</a:t>
                      </a:r>
                    </a:p>
                  </a:txBody>
                  <a:tcPr/>
                </a:tc>
              </a:tr>
              <a:tr h="365760">
                <a:tc>
                  <a:txBody>
                    <a:bodyPr/>
                    <a:lstStyle/>
                    <a:p>
                      <a:pPr algn="ctr"/>
                      <a:r>
                        <a:rPr sz="1100">
                          <a:solidFill>
                            <a:srgbClr val="333333"/>
                          </a:solidFill>
                          <a:latin typeface="Calibri"/>
                        </a:rPr>
                        <a:t>Max dimensions deprived</a:t>
                      </a:r>
                    </a:p>
                  </a:txBody>
                  <a:tcPr/>
                </a:tc>
                <a:tc>
                  <a:txBody>
                    <a:bodyPr/>
                    <a:lstStyle/>
                    <a:p>
                      <a:pPr algn="ctr"/>
                      <a:r>
                        <a:rPr sz="1100">
                          <a:solidFill>
                            <a:srgbClr val="333333"/>
                          </a:solidFill>
                          <a:latin typeface="Calibri"/>
                        </a:rPr>
                        <a:t>5</a:t>
                      </a:r>
                    </a:p>
                  </a:txBody>
                  <a:tcPr/>
                </a:tc>
                <a:tc>
                  <a:txBody>
                    <a:bodyPr/>
                    <a:lstStyle/>
                    <a:p>
                      <a:pPr algn="ctr"/>
                      <a:r>
                        <a:rPr sz="1100">
                          <a:solidFill>
                            <a:srgbClr val="333333"/>
                          </a:solidFill>
                          <a:latin typeface="Calibri"/>
                        </a:rPr>
                        <a:t>All 5 dimensions at or above threshold</a:t>
                      </a:r>
                    </a:p>
                  </a:txBody>
                  <a:tcPr/>
                </a:tc>
              </a:tr>
              <a:tr h="365760">
                <a:tc>
                  <a:txBody>
                    <a:bodyPr/>
                    <a:lstStyle/>
                    <a:p>
                      <a:pPr algn="ctr"/>
                      <a:r>
                        <a:rPr sz="1100">
                          <a:solidFill>
                            <a:srgbClr val="333333"/>
                          </a:solidFill>
                          <a:latin typeface="Calibri"/>
                        </a:rPr>
                        <a:t>Equal weights applied</a:t>
                      </a:r>
                    </a:p>
                  </a:txBody>
                  <a:tcPr/>
                </a:tc>
                <a:tc>
                  <a:txBody>
                    <a:bodyPr/>
                    <a:lstStyle/>
                    <a:p>
                      <a:pPr algn="ctr"/>
                      <a:r>
                        <a:rPr sz="1100">
                          <a:solidFill>
                            <a:srgbClr val="333333"/>
                          </a:solidFill>
                          <a:latin typeface="Calibri"/>
                        </a:rPr>
                        <a:t>0.20 each</a:t>
                      </a:r>
                    </a:p>
                  </a:txBody>
                  <a:tcPr/>
                </a:tc>
                <a:tc>
                  <a:txBody>
                    <a:bodyPr/>
                    <a:lstStyle/>
                    <a:p>
                      <a:pPr algn="ctr"/>
                      <a:r>
                        <a:rPr sz="1100">
                          <a:solidFill>
                            <a:srgbClr val="333333"/>
                          </a:solidFill>
                          <a:latin typeface="Calibri"/>
                        </a:rPr>
                        <a:t>Availability = Reliability = Adequacy = Quality = Affordability</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Five Dimensions of Energy Poverty</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18 Core Indicators | Equal Weights (0.20 each)</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5 / 13</a:t>
            </a:r>
          </a:p>
        </p:txBody>
      </p:sp>
      <p:sp>
        <p:nvSpPr>
          <p:cNvPr id="10" name="Rectangle 9"/>
          <p:cNvSpPr/>
          <p:nvPr/>
        </p:nvSpPr>
        <p:spPr>
          <a:xfrm>
            <a:off x="201168" y="1097280"/>
            <a:ext cx="2267712" cy="50292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6888" y="1152144"/>
            <a:ext cx="2176272" cy="411480"/>
          </a:xfrm>
          <a:prstGeom prst="rect">
            <a:avLst/>
          </a:prstGeom>
          <a:noFill/>
        </p:spPr>
        <p:txBody>
          <a:bodyPr wrap="square">
            <a:spAutoFit/>
          </a:bodyPr>
          <a:lstStyle/>
          <a:p>
            <a:pPr algn="ctr"/>
            <a:r>
              <a:rPr sz="1500" b="1" i="0">
                <a:solidFill>
                  <a:srgbClr val="FFFFFF"/>
                </a:solidFill>
                <a:latin typeface="Calibri"/>
              </a:rPr>
              <a:t>Availability</a:t>
            </a:r>
          </a:p>
        </p:txBody>
      </p:sp>
      <p:sp>
        <p:nvSpPr>
          <p:cNvPr id="12" name="Rectangle 11"/>
          <p:cNvSpPr/>
          <p:nvPr/>
        </p:nvSpPr>
        <p:spPr>
          <a:xfrm>
            <a:off x="201168" y="1600200"/>
            <a:ext cx="2267712" cy="411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6888" y="1627632"/>
            <a:ext cx="2176272" cy="365760"/>
          </a:xfrm>
          <a:prstGeom prst="rect">
            <a:avLst/>
          </a:prstGeom>
          <a:noFill/>
        </p:spPr>
        <p:txBody>
          <a:bodyPr wrap="square">
            <a:spAutoFit/>
          </a:bodyPr>
          <a:lstStyle/>
          <a:p>
            <a:pPr algn="ctr"/>
            <a:r>
              <a:rPr sz="1100" b="0" i="1">
                <a:solidFill>
                  <a:srgbClr val="1F4E78"/>
                </a:solidFill>
                <a:latin typeface="Calibri"/>
              </a:rPr>
              <a:t>Access to energy sources</a:t>
            </a:r>
          </a:p>
        </p:txBody>
      </p:sp>
      <p:sp>
        <p:nvSpPr>
          <p:cNvPr id="14" name="Rectangle 13"/>
          <p:cNvSpPr/>
          <p:nvPr/>
        </p:nvSpPr>
        <p:spPr>
          <a:xfrm>
            <a:off x="201168" y="2011680"/>
            <a:ext cx="2267712" cy="4114800"/>
          </a:xfrm>
          <a:prstGeom prst="rect">
            <a:avLst/>
          </a:prstGeom>
          <a:solidFill>
            <a:srgbClr val="FAFBFC"/>
          </a:solidFill>
          <a:ln w="127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2103120"/>
            <a:ext cx="2084832" cy="320040"/>
          </a:xfrm>
          <a:prstGeom prst="rect">
            <a:avLst/>
          </a:prstGeom>
          <a:noFill/>
        </p:spPr>
        <p:txBody>
          <a:bodyPr wrap="square">
            <a:spAutoFit/>
          </a:bodyPr>
          <a:lstStyle/>
          <a:p>
            <a:pPr algn="l"/>
            <a:r>
              <a:rPr sz="1200" b="1" i="0">
                <a:solidFill>
                  <a:srgbClr val="1F4E78"/>
                </a:solidFill>
                <a:latin typeface="Calibri"/>
              </a:rPr>
              <a:t>3 Indicators:</a:t>
            </a:r>
          </a:p>
        </p:txBody>
      </p:sp>
      <p:sp>
        <p:nvSpPr>
          <p:cNvPr id="16" name="TextBox 15"/>
          <p:cNvSpPr txBox="1"/>
          <p:nvPr/>
        </p:nvSpPr>
        <p:spPr>
          <a:xfrm>
            <a:off x="310896" y="2468880"/>
            <a:ext cx="2048256" cy="502920"/>
          </a:xfrm>
          <a:prstGeom prst="rect">
            <a:avLst/>
          </a:prstGeom>
          <a:noFill/>
        </p:spPr>
        <p:txBody>
          <a:bodyPr wrap="square">
            <a:spAutoFit/>
          </a:bodyPr>
          <a:lstStyle/>
          <a:p>
            <a:pPr algn="l"/>
            <a:r>
              <a:rPr sz="1100" b="0" i="0">
                <a:solidFill>
                  <a:srgbClr val="333333"/>
                </a:solidFill>
                <a:latin typeface="Calibri"/>
              </a:rPr>
              <a:t>• Electricity access rate (%)</a:t>
            </a:r>
          </a:p>
        </p:txBody>
      </p:sp>
      <p:sp>
        <p:nvSpPr>
          <p:cNvPr id="17" name="TextBox 16"/>
          <p:cNvSpPr txBox="1"/>
          <p:nvPr/>
        </p:nvSpPr>
        <p:spPr>
          <a:xfrm>
            <a:off x="310896" y="2971800"/>
            <a:ext cx="2048256" cy="502920"/>
          </a:xfrm>
          <a:prstGeom prst="rect">
            <a:avLst/>
          </a:prstGeom>
          <a:noFill/>
        </p:spPr>
        <p:txBody>
          <a:bodyPr wrap="square">
            <a:spAutoFit/>
          </a:bodyPr>
          <a:lstStyle/>
          <a:p>
            <a:pPr algn="l"/>
            <a:r>
              <a:rPr sz="1100" b="0" i="0">
                <a:solidFill>
                  <a:srgbClr val="333333"/>
                </a:solidFill>
                <a:latin typeface="Calibri"/>
              </a:rPr>
              <a:t>• Clean cooking fuel rate (%)</a:t>
            </a:r>
          </a:p>
        </p:txBody>
      </p:sp>
      <p:sp>
        <p:nvSpPr>
          <p:cNvPr id="18" name="TextBox 17"/>
          <p:cNvSpPr txBox="1"/>
          <p:nvPr/>
        </p:nvSpPr>
        <p:spPr>
          <a:xfrm>
            <a:off x="310896" y="3474720"/>
            <a:ext cx="2048256" cy="502920"/>
          </a:xfrm>
          <a:prstGeom prst="rect">
            <a:avLst/>
          </a:prstGeom>
          <a:noFill/>
        </p:spPr>
        <p:txBody>
          <a:bodyPr wrap="square">
            <a:spAutoFit/>
          </a:bodyPr>
          <a:lstStyle/>
          <a:p>
            <a:pPr algn="l"/>
            <a:r>
              <a:rPr sz="1100" b="0" i="0">
                <a:solidFill>
                  <a:srgbClr val="333333"/>
                </a:solidFill>
                <a:latin typeface="Calibri"/>
              </a:rPr>
              <a:t>• Grid connection rate (%)</a:t>
            </a:r>
          </a:p>
        </p:txBody>
      </p:sp>
      <p:sp>
        <p:nvSpPr>
          <p:cNvPr id="19" name="Rectangle 18"/>
          <p:cNvSpPr/>
          <p:nvPr/>
        </p:nvSpPr>
        <p:spPr>
          <a:xfrm>
            <a:off x="749808" y="4114800"/>
            <a:ext cx="1170432" cy="5486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4160520"/>
            <a:ext cx="1170432" cy="457200"/>
          </a:xfrm>
          <a:prstGeom prst="rect">
            <a:avLst/>
          </a:prstGeom>
          <a:noFill/>
        </p:spPr>
        <p:txBody>
          <a:bodyPr wrap="square">
            <a:spAutoFit/>
          </a:bodyPr>
          <a:lstStyle/>
          <a:p>
            <a:pPr algn="ctr"/>
            <a:r>
              <a:rPr sz="1200" b="1" i="0">
                <a:solidFill>
                  <a:srgbClr val="FFFFFF"/>
                </a:solidFill>
                <a:latin typeface="Calibri"/>
              </a:rPr>
              <a:t>Mean: 0.498</a:t>
            </a:r>
          </a:p>
        </p:txBody>
      </p:sp>
      <p:sp>
        <p:nvSpPr>
          <p:cNvPr id="21" name="Rectangle 20"/>
          <p:cNvSpPr/>
          <p:nvPr/>
        </p:nvSpPr>
        <p:spPr>
          <a:xfrm>
            <a:off x="2560320" y="1097280"/>
            <a:ext cx="2267712" cy="5029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606040" y="1152144"/>
            <a:ext cx="2176272" cy="411480"/>
          </a:xfrm>
          <a:prstGeom prst="rect">
            <a:avLst/>
          </a:prstGeom>
          <a:noFill/>
        </p:spPr>
        <p:txBody>
          <a:bodyPr wrap="square">
            <a:spAutoFit/>
          </a:bodyPr>
          <a:lstStyle/>
          <a:p>
            <a:pPr algn="ctr"/>
            <a:r>
              <a:rPr sz="1500" b="1" i="0">
                <a:solidFill>
                  <a:srgbClr val="FFFFFF"/>
                </a:solidFill>
                <a:latin typeface="Calibri"/>
              </a:rPr>
              <a:t>Reliability</a:t>
            </a:r>
          </a:p>
        </p:txBody>
      </p:sp>
      <p:sp>
        <p:nvSpPr>
          <p:cNvPr id="23" name="Rectangle 22"/>
          <p:cNvSpPr/>
          <p:nvPr/>
        </p:nvSpPr>
        <p:spPr>
          <a:xfrm>
            <a:off x="2560320" y="1600200"/>
            <a:ext cx="2267712" cy="411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06040" y="1627632"/>
            <a:ext cx="2176272" cy="365760"/>
          </a:xfrm>
          <a:prstGeom prst="rect">
            <a:avLst/>
          </a:prstGeom>
          <a:noFill/>
        </p:spPr>
        <p:txBody>
          <a:bodyPr wrap="square">
            <a:spAutoFit/>
          </a:bodyPr>
          <a:lstStyle/>
          <a:p>
            <a:pPr algn="ctr"/>
            <a:r>
              <a:rPr sz="1100" b="0" i="1">
                <a:solidFill>
                  <a:srgbClr val="70AD47"/>
                </a:solidFill>
                <a:latin typeface="Calibri"/>
              </a:rPr>
              <a:t>Consistency of energy supply</a:t>
            </a:r>
          </a:p>
        </p:txBody>
      </p:sp>
      <p:sp>
        <p:nvSpPr>
          <p:cNvPr id="25" name="Rectangle 24"/>
          <p:cNvSpPr/>
          <p:nvPr/>
        </p:nvSpPr>
        <p:spPr>
          <a:xfrm>
            <a:off x="2560320" y="2011680"/>
            <a:ext cx="2267712" cy="4114800"/>
          </a:xfrm>
          <a:prstGeom prst="rect">
            <a:avLst/>
          </a:prstGeom>
          <a:solidFill>
            <a:srgbClr val="FAFBFC"/>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51760" y="2103120"/>
            <a:ext cx="2084832" cy="320040"/>
          </a:xfrm>
          <a:prstGeom prst="rect">
            <a:avLst/>
          </a:prstGeom>
          <a:noFill/>
        </p:spPr>
        <p:txBody>
          <a:bodyPr wrap="square">
            <a:spAutoFit/>
          </a:bodyPr>
          <a:lstStyle/>
          <a:p>
            <a:pPr algn="l"/>
            <a:r>
              <a:rPr sz="1200" b="1" i="0">
                <a:solidFill>
                  <a:srgbClr val="70AD47"/>
                </a:solidFill>
                <a:latin typeface="Calibri"/>
              </a:rPr>
              <a:t>3 Indicators:</a:t>
            </a:r>
          </a:p>
        </p:txBody>
      </p:sp>
      <p:sp>
        <p:nvSpPr>
          <p:cNvPr id="27" name="TextBox 26"/>
          <p:cNvSpPr txBox="1"/>
          <p:nvPr/>
        </p:nvSpPr>
        <p:spPr>
          <a:xfrm>
            <a:off x="2670048" y="2468880"/>
            <a:ext cx="2048256" cy="502920"/>
          </a:xfrm>
          <a:prstGeom prst="rect">
            <a:avLst/>
          </a:prstGeom>
          <a:noFill/>
        </p:spPr>
        <p:txBody>
          <a:bodyPr wrap="square">
            <a:spAutoFit/>
          </a:bodyPr>
          <a:lstStyle/>
          <a:p>
            <a:pPr algn="l"/>
            <a:r>
              <a:rPr sz="1100" b="0" i="0">
                <a:solidFill>
                  <a:srgbClr val="333333"/>
                </a:solidFill>
                <a:latin typeface="Calibri"/>
              </a:rPr>
              <a:t>• Hours of supply per day</a:t>
            </a:r>
          </a:p>
        </p:txBody>
      </p:sp>
      <p:sp>
        <p:nvSpPr>
          <p:cNvPr id="28" name="TextBox 27"/>
          <p:cNvSpPr txBox="1"/>
          <p:nvPr/>
        </p:nvSpPr>
        <p:spPr>
          <a:xfrm>
            <a:off x="2670048" y="2971800"/>
            <a:ext cx="2048256" cy="502920"/>
          </a:xfrm>
          <a:prstGeom prst="rect">
            <a:avLst/>
          </a:prstGeom>
          <a:noFill/>
        </p:spPr>
        <p:txBody>
          <a:bodyPr wrap="square">
            <a:spAutoFit/>
          </a:bodyPr>
          <a:lstStyle/>
          <a:p>
            <a:pPr algn="l"/>
            <a:r>
              <a:rPr sz="1100" b="0" i="0">
                <a:solidFill>
                  <a:srgbClr val="333333"/>
                </a:solidFill>
                <a:latin typeface="Calibri"/>
              </a:rPr>
              <a:t>• Outage frequency per month</a:t>
            </a:r>
          </a:p>
        </p:txBody>
      </p:sp>
      <p:sp>
        <p:nvSpPr>
          <p:cNvPr id="29" name="TextBox 28"/>
          <p:cNvSpPr txBox="1"/>
          <p:nvPr/>
        </p:nvSpPr>
        <p:spPr>
          <a:xfrm>
            <a:off x="2670048" y="3474720"/>
            <a:ext cx="2048256" cy="502920"/>
          </a:xfrm>
          <a:prstGeom prst="rect">
            <a:avLst/>
          </a:prstGeom>
          <a:noFill/>
        </p:spPr>
        <p:txBody>
          <a:bodyPr wrap="square">
            <a:spAutoFit/>
          </a:bodyPr>
          <a:lstStyle/>
          <a:p>
            <a:pPr algn="l"/>
            <a:r>
              <a:rPr sz="1100" b="0" i="0">
                <a:solidFill>
                  <a:srgbClr val="333333"/>
                </a:solidFill>
                <a:latin typeface="Calibri"/>
              </a:rPr>
              <a:t>• Outage duration (hours)</a:t>
            </a:r>
          </a:p>
        </p:txBody>
      </p:sp>
      <p:sp>
        <p:nvSpPr>
          <p:cNvPr id="30" name="Rectangle 29"/>
          <p:cNvSpPr/>
          <p:nvPr/>
        </p:nvSpPr>
        <p:spPr>
          <a:xfrm>
            <a:off x="3108960" y="4114800"/>
            <a:ext cx="1170432" cy="54864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108960" y="4160520"/>
            <a:ext cx="1170432" cy="457200"/>
          </a:xfrm>
          <a:prstGeom prst="rect">
            <a:avLst/>
          </a:prstGeom>
          <a:noFill/>
        </p:spPr>
        <p:txBody>
          <a:bodyPr wrap="square">
            <a:spAutoFit/>
          </a:bodyPr>
          <a:lstStyle/>
          <a:p>
            <a:pPr algn="ctr"/>
            <a:r>
              <a:rPr sz="1200" b="1" i="0">
                <a:solidFill>
                  <a:srgbClr val="FFFFFF"/>
                </a:solidFill>
                <a:latin typeface="Calibri"/>
              </a:rPr>
              <a:t>Mean: 0.531</a:t>
            </a:r>
          </a:p>
        </p:txBody>
      </p:sp>
      <p:sp>
        <p:nvSpPr>
          <p:cNvPr id="32" name="Rectangle 31"/>
          <p:cNvSpPr/>
          <p:nvPr/>
        </p:nvSpPr>
        <p:spPr>
          <a:xfrm>
            <a:off x="4919472" y="1097280"/>
            <a:ext cx="2267712" cy="5029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65192" y="1152144"/>
            <a:ext cx="2176272" cy="411480"/>
          </a:xfrm>
          <a:prstGeom prst="rect">
            <a:avLst/>
          </a:prstGeom>
          <a:noFill/>
        </p:spPr>
        <p:txBody>
          <a:bodyPr wrap="square">
            <a:spAutoFit/>
          </a:bodyPr>
          <a:lstStyle/>
          <a:p>
            <a:pPr algn="ctr"/>
            <a:r>
              <a:rPr sz="1500" b="1" i="0">
                <a:solidFill>
                  <a:srgbClr val="FFFFFF"/>
                </a:solidFill>
                <a:latin typeface="Calibri"/>
              </a:rPr>
              <a:t>Adequacy</a:t>
            </a:r>
          </a:p>
        </p:txBody>
      </p:sp>
      <p:sp>
        <p:nvSpPr>
          <p:cNvPr id="34" name="Rectangle 33"/>
          <p:cNvSpPr/>
          <p:nvPr/>
        </p:nvSpPr>
        <p:spPr>
          <a:xfrm>
            <a:off x="4919472" y="1600200"/>
            <a:ext cx="2267712" cy="411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965192" y="1627632"/>
            <a:ext cx="2176272" cy="365760"/>
          </a:xfrm>
          <a:prstGeom prst="rect">
            <a:avLst/>
          </a:prstGeom>
          <a:noFill/>
        </p:spPr>
        <p:txBody>
          <a:bodyPr wrap="square">
            <a:spAutoFit/>
          </a:bodyPr>
          <a:lstStyle/>
          <a:p>
            <a:pPr algn="ctr"/>
            <a:r>
              <a:rPr sz="1100" b="0" i="1">
                <a:solidFill>
                  <a:srgbClr val="FF9800"/>
                </a:solidFill>
                <a:latin typeface="Calibri"/>
              </a:rPr>
              <a:t>Sufficiency of energy use</a:t>
            </a:r>
          </a:p>
        </p:txBody>
      </p:sp>
      <p:sp>
        <p:nvSpPr>
          <p:cNvPr id="36" name="Rectangle 35"/>
          <p:cNvSpPr/>
          <p:nvPr/>
        </p:nvSpPr>
        <p:spPr>
          <a:xfrm>
            <a:off x="4919472" y="2011680"/>
            <a:ext cx="2267712" cy="4114800"/>
          </a:xfrm>
          <a:prstGeom prst="rect">
            <a:avLst/>
          </a:prstGeom>
          <a:solidFill>
            <a:srgbClr val="FAFBFC"/>
          </a:solidFill>
          <a:ln w="127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10912" y="2103120"/>
            <a:ext cx="2084832" cy="320040"/>
          </a:xfrm>
          <a:prstGeom prst="rect">
            <a:avLst/>
          </a:prstGeom>
          <a:noFill/>
        </p:spPr>
        <p:txBody>
          <a:bodyPr wrap="square">
            <a:spAutoFit/>
          </a:bodyPr>
          <a:lstStyle/>
          <a:p>
            <a:pPr algn="l"/>
            <a:r>
              <a:rPr sz="1200" b="1" i="0">
                <a:solidFill>
                  <a:srgbClr val="FF9800"/>
                </a:solidFill>
                <a:latin typeface="Calibri"/>
              </a:rPr>
              <a:t>3 Indicators:</a:t>
            </a:r>
          </a:p>
        </p:txBody>
      </p:sp>
      <p:sp>
        <p:nvSpPr>
          <p:cNvPr id="38" name="TextBox 37"/>
          <p:cNvSpPr txBox="1"/>
          <p:nvPr/>
        </p:nvSpPr>
        <p:spPr>
          <a:xfrm>
            <a:off x="5029200" y="2468880"/>
            <a:ext cx="2048256" cy="502920"/>
          </a:xfrm>
          <a:prstGeom prst="rect">
            <a:avLst/>
          </a:prstGeom>
          <a:noFill/>
        </p:spPr>
        <p:txBody>
          <a:bodyPr wrap="square">
            <a:spAutoFit/>
          </a:bodyPr>
          <a:lstStyle/>
          <a:p>
            <a:pPr algn="l"/>
            <a:r>
              <a:rPr sz="1100" b="0" i="0">
                <a:solidFill>
                  <a:srgbClr val="333333"/>
                </a:solidFill>
                <a:latin typeface="Calibri"/>
              </a:rPr>
              <a:t>• Energy consumption (kWh/mo)</a:t>
            </a:r>
          </a:p>
        </p:txBody>
      </p:sp>
      <p:sp>
        <p:nvSpPr>
          <p:cNvPr id="39" name="TextBox 38"/>
          <p:cNvSpPr txBox="1"/>
          <p:nvPr/>
        </p:nvSpPr>
        <p:spPr>
          <a:xfrm>
            <a:off x="5029200" y="2971800"/>
            <a:ext cx="2048256" cy="502920"/>
          </a:xfrm>
          <a:prstGeom prst="rect">
            <a:avLst/>
          </a:prstGeom>
          <a:noFill/>
        </p:spPr>
        <p:txBody>
          <a:bodyPr wrap="square">
            <a:spAutoFit/>
          </a:bodyPr>
          <a:lstStyle/>
          <a:p>
            <a:pPr algn="l"/>
            <a:r>
              <a:rPr sz="1100" b="0" i="0">
                <a:solidFill>
                  <a:srgbClr val="333333"/>
                </a:solidFill>
                <a:latin typeface="Calibri"/>
              </a:rPr>
              <a:t>• Lighting hours per day</a:t>
            </a:r>
          </a:p>
        </p:txBody>
      </p:sp>
      <p:sp>
        <p:nvSpPr>
          <p:cNvPr id="40" name="TextBox 39"/>
          <p:cNvSpPr txBox="1"/>
          <p:nvPr/>
        </p:nvSpPr>
        <p:spPr>
          <a:xfrm>
            <a:off x="5029200" y="3474720"/>
            <a:ext cx="2048256" cy="502920"/>
          </a:xfrm>
          <a:prstGeom prst="rect">
            <a:avLst/>
          </a:prstGeom>
          <a:noFill/>
        </p:spPr>
        <p:txBody>
          <a:bodyPr wrap="square">
            <a:spAutoFit/>
          </a:bodyPr>
          <a:lstStyle/>
          <a:p>
            <a:pPr algn="l"/>
            <a:r>
              <a:rPr sz="1100" b="0" i="0">
                <a:solidFill>
                  <a:srgbClr val="333333"/>
                </a:solidFill>
                <a:latin typeface="Calibri"/>
              </a:rPr>
              <a:t>• Appliance ownership index</a:t>
            </a:r>
          </a:p>
        </p:txBody>
      </p:sp>
      <p:sp>
        <p:nvSpPr>
          <p:cNvPr id="41" name="Rectangle 40"/>
          <p:cNvSpPr/>
          <p:nvPr/>
        </p:nvSpPr>
        <p:spPr>
          <a:xfrm>
            <a:off x="5468112" y="4114800"/>
            <a:ext cx="1170432" cy="54864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68112" y="4160520"/>
            <a:ext cx="1170432" cy="457200"/>
          </a:xfrm>
          <a:prstGeom prst="rect">
            <a:avLst/>
          </a:prstGeom>
          <a:noFill/>
        </p:spPr>
        <p:txBody>
          <a:bodyPr wrap="square">
            <a:spAutoFit/>
          </a:bodyPr>
          <a:lstStyle/>
          <a:p>
            <a:pPr algn="ctr"/>
            <a:r>
              <a:rPr sz="1200" b="1" i="0">
                <a:solidFill>
                  <a:srgbClr val="FFFFFF"/>
                </a:solidFill>
                <a:latin typeface="Calibri"/>
              </a:rPr>
              <a:t>Mean: 0.519</a:t>
            </a:r>
          </a:p>
        </p:txBody>
      </p:sp>
      <p:sp>
        <p:nvSpPr>
          <p:cNvPr id="43" name="Rectangle 42"/>
          <p:cNvSpPr/>
          <p:nvPr/>
        </p:nvSpPr>
        <p:spPr>
          <a:xfrm>
            <a:off x="7278624" y="1097280"/>
            <a:ext cx="2267712" cy="5029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24344" y="1152144"/>
            <a:ext cx="2176272" cy="411480"/>
          </a:xfrm>
          <a:prstGeom prst="rect">
            <a:avLst/>
          </a:prstGeom>
          <a:noFill/>
        </p:spPr>
        <p:txBody>
          <a:bodyPr wrap="square">
            <a:spAutoFit/>
          </a:bodyPr>
          <a:lstStyle/>
          <a:p>
            <a:pPr algn="ctr"/>
            <a:r>
              <a:rPr sz="1500" b="1" i="0">
                <a:solidFill>
                  <a:srgbClr val="FFFFFF"/>
                </a:solidFill>
                <a:latin typeface="Calibri"/>
              </a:rPr>
              <a:t>Quality</a:t>
            </a:r>
          </a:p>
        </p:txBody>
      </p:sp>
      <p:sp>
        <p:nvSpPr>
          <p:cNvPr id="45" name="Rectangle 44"/>
          <p:cNvSpPr/>
          <p:nvPr/>
        </p:nvSpPr>
        <p:spPr>
          <a:xfrm>
            <a:off x="7278624" y="1600200"/>
            <a:ext cx="2267712" cy="411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24344" y="1627632"/>
            <a:ext cx="2176272" cy="365760"/>
          </a:xfrm>
          <a:prstGeom prst="rect">
            <a:avLst/>
          </a:prstGeom>
          <a:noFill/>
        </p:spPr>
        <p:txBody>
          <a:bodyPr wrap="square">
            <a:spAutoFit/>
          </a:bodyPr>
          <a:lstStyle/>
          <a:p>
            <a:pPr algn="ctr"/>
            <a:r>
              <a:rPr sz="1100" b="0" i="1">
                <a:solidFill>
                  <a:srgbClr val="9B59B6"/>
                </a:solidFill>
                <a:latin typeface="Calibri"/>
              </a:rPr>
              <a:t>Technical &amp; health quality</a:t>
            </a:r>
          </a:p>
        </p:txBody>
      </p:sp>
      <p:sp>
        <p:nvSpPr>
          <p:cNvPr id="47" name="Rectangle 46"/>
          <p:cNvSpPr/>
          <p:nvPr/>
        </p:nvSpPr>
        <p:spPr>
          <a:xfrm>
            <a:off x="7278624" y="2011680"/>
            <a:ext cx="2267712" cy="4114800"/>
          </a:xfrm>
          <a:prstGeom prst="rect">
            <a:avLst/>
          </a:prstGeom>
          <a:solidFill>
            <a:srgbClr val="FAFBFC"/>
          </a:solidFill>
          <a:ln w="1270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70064" y="2103120"/>
            <a:ext cx="2084832" cy="320040"/>
          </a:xfrm>
          <a:prstGeom prst="rect">
            <a:avLst/>
          </a:prstGeom>
          <a:noFill/>
        </p:spPr>
        <p:txBody>
          <a:bodyPr wrap="square">
            <a:spAutoFit/>
          </a:bodyPr>
          <a:lstStyle/>
          <a:p>
            <a:pPr algn="l"/>
            <a:r>
              <a:rPr sz="1200" b="1" i="0">
                <a:solidFill>
                  <a:srgbClr val="9B59B6"/>
                </a:solidFill>
                <a:latin typeface="Calibri"/>
              </a:rPr>
              <a:t>3 Indicators:</a:t>
            </a:r>
          </a:p>
        </p:txBody>
      </p:sp>
      <p:sp>
        <p:nvSpPr>
          <p:cNvPr id="49" name="TextBox 48"/>
          <p:cNvSpPr txBox="1"/>
          <p:nvPr/>
        </p:nvSpPr>
        <p:spPr>
          <a:xfrm>
            <a:off x="7388352" y="2468880"/>
            <a:ext cx="2048256" cy="502920"/>
          </a:xfrm>
          <a:prstGeom prst="rect">
            <a:avLst/>
          </a:prstGeom>
          <a:noFill/>
        </p:spPr>
        <p:txBody>
          <a:bodyPr wrap="square">
            <a:spAutoFit/>
          </a:bodyPr>
          <a:lstStyle/>
          <a:p>
            <a:pPr algn="l"/>
            <a:r>
              <a:rPr sz="1100" b="0" i="0">
                <a:solidFill>
                  <a:srgbClr val="333333"/>
                </a:solidFill>
                <a:latin typeface="Calibri"/>
              </a:rPr>
              <a:t>• Voltage fluctuation rate</a:t>
            </a:r>
          </a:p>
        </p:txBody>
      </p:sp>
      <p:sp>
        <p:nvSpPr>
          <p:cNvPr id="50" name="TextBox 49"/>
          <p:cNvSpPr txBox="1"/>
          <p:nvPr/>
        </p:nvSpPr>
        <p:spPr>
          <a:xfrm>
            <a:off x="7388352" y="2971800"/>
            <a:ext cx="2048256" cy="502920"/>
          </a:xfrm>
          <a:prstGeom prst="rect">
            <a:avLst/>
          </a:prstGeom>
          <a:noFill/>
        </p:spPr>
        <p:txBody>
          <a:bodyPr wrap="square">
            <a:spAutoFit/>
          </a:bodyPr>
          <a:lstStyle/>
          <a:p>
            <a:pPr algn="l"/>
            <a:r>
              <a:rPr sz="1100" b="0" i="0">
                <a:solidFill>
                  <a:srgbClr val="333333"/>
                </a:solidFill>
                <a:latin typeface="Calibri"/>
              </a:rPr>
              <a:t>• Energy satisfaction score</a:t>
            </a:r>
          </a:p>
        </p:txBody>
      </p:sp>
      <p:sp>
        <p:nvSpPr>
          <p:cNvPr id="51" name="TextBox 50"/>
          <p:cNvSpPr txBox="1"/>
          <p:nvPr/>
        </p:nvSpPr>
        <p:spPr>
          <a:xfrm>
            <a:off x="7388352" y="3474720"/>
            <a:ext cx="2048256" cy="502920"/>
          </a:xfrm>
          <a:prstGeom prst="rect">
            <a:avLst/>
          </a:prstGeom>
          <a:noFill/>
        </p:spPr>
        <p:txBody>
          <a:bodyPr wrap="square">
            <a:spAutoFit/>
          </a:bodyPr>
          <a:lstStyle/>
          <a:p>
            <a:pPr algn="l"/>
            <a:r>
              <a:rPr sz="1100" b="0" i="0">
                <a:solidFill>
                  <a:srgbClr val="333333"/>
                </a:solidFill>
                <a:latin typeface="Calibri"/>
              </a:rPr>
              <a:t>• Indoor air quality index</a:t>
            </a:r>
          </a:p>
        </p:txBody>
      </p:sp>
      <p:sp>
        <p:nvSpPr>
          <p:cNvPr id="52" name="Rectangle 51"/>
          <p:cNvSpPr/>
          <p:nvPr/>
        </p:nvSpPr>
        <p:spPr>
          <a:xfrm>
            <a:off x="7827264" y="4114800"/>
            <a:ext cx="1170432" cy="54864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27264" y="4160520"/>
            <a:ext cx="1170432" cy="457200"/>
          </a:xfrm>
          <a:prstGeom prst="rect">
            <a:avLst/>
          </a:prstGeom>
          <a:noFill/>
        </p:spPr>
        <p:txBody>
          <a:bodyPr wrap="square">
            <a:spAutoFit/>
          </a:bodyPr>
          <a:lstStyle/>
          <a:p>
            <a:pPr algn="ctr"/>
            <a:r>
              <a:rPr sz="1200" b="1" i="0">
                <a:solidFill>
                  <a:srgbClr val="FFFFFF"/>
                </a:solidFill>
                <a:latin typeface="Calibri"/>
              </a:rPr>
              <a:t>Mean: 0.512</a:t>
            </a:r>
          </a:p>
        </p:txBody>
      </p:sp>
      <p:sp>
        <p:nvSpPr>
          <p:cNvPr id="54" name="Rectangle 53"/>
          <p:cNvSpPr/>
          <p:nvPr/>
        </p:nvSpPr>
        <p:spPr>
          <a:xfrm>
            <a:off x="9637776" y="1097280"/>
            <a:ext cx="2267712"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83496" y="1152144"/>
            <a:ext cx="2176272" cy="411480"/>
          </a:xfrm>
          <a:prstGeom prst="rect">
            <a:avLst/>
          </a:prstGeom>
          <a:noFill/>
        </p:spPr>
        <p:txBody>
          <a:bodyPr wrap="square">
            <a:spAutoFit/>
          </a:bodyPr>
          <a:lstStyle/>
          <a:p>
            <a:pPr algn="ctr"/>
            <a:r>
              <a:rPr sz="1500" b="1" i="0">
                <a:solidFill>
                  <a:srgbClr val="FFFFFF"/>
                </a:solidFill>
                <a:latin typeface="Calibri"/>
              </a:rPr>
              <a:t>Affordability</a:t>
            </a:r>
          </a:p>
        </p:txBody>
      </p:sp>
      <p:sp>
        <p:nvSpPr>
          <p:cNvPr id="56" name="Rectangle 55"/>
          <p:cNvSpPr/>
          <p:nvPr/>
        </p:nvSpPr>
        <p:spPr>
          <a:xfrm>
            <a:off x="9637776" y="1600200"/>
            <a:ext cx="2267712" cy="41148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683496" y="1627632"/>
            <a:ext cx="2176272" cy="365760"/>
          </a:xfrm>
          <a:prstGeom prst="rect">
            <a:avLst/>
          </a:prstGeom>
          <a:noFill/>
        </p:spPr>
        <p:txBody>
          <a:bodyPr wrap="square">
            <a:spAutoFit/>
          </a:bodyPr>
          <a:lstStyle/>
          <a:p>
            <a:pPr algn="ctr"/>
            <a:r>
              <a:rPr sz="1100" b="0" i="1">
                <a:solidFill>
                  <a:srgbClr val="E74C3C"/>
                </a:solidFill>
                <a:latin typeface="Calibri"/>
              </a:rPr>
              <a:t>Financial accessibility</a:t>
            </a:r>
          </a:p>
        </p:txBody>
      </p:sp>
      <p:sp>
        <p:nvSpPr>
          <p:cNvPr id="58" name="Rectangle 57"/>
          <p:cNvSpPr/>
          <p:nvPr/>
        </p:nvSpPr>
        <p:spPr>
          <a:xfrm>
            <a:off x="9637776" y="2011680"/>
            <a:ext cx="2267712" cy="4114800"/>
          </a:xfrm>
          <a:prstGeom prst="rect">
            <a:avLst/>
          </a:prstGeom>
          <a:solidFill>
            <a:srgbClr val="FAFBFC"/>
          </a:solidFill>
          <a:ln w="1270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29216" y="2103120"/>
            <a:ext cx="2084832" cy="320040"/>
          </a:xfrm>
          <a:prstGeom prst="rect">
            <a:avLst/>
          </a:prstGeom>
          <a:noFill/>
        </p:spPr>
        <p:txBody>
          <a:bodyPr wrap="square">
            <a:spAutoFit/>
          </a:bodyPr>
          <a:lstStyle/>
          <a:p>
            <a:pPr algn="l"/>
            <a:r>
              <a:rPr sz="1200" b="1" i="0">
                <a:solidFill>
                  <a:srgbClr val="E74C3C"/>
                </a:solidFill>
                <a:latin typeface="Calibri"/>
              </a:rPr>
              <a:t>3 Indicators:</a:t>
            </a:r>
          </a:p>
        </p:txBody>
      </p:sp>
      <p:sp>
        <p:nvSpPr>
          <p:cNvPr id="60" name="TextBox 59"/>
          <p:cNvSpPr txBox="1"/>
          <p:nvPr/>
        </p:nvSpPr>
        <p:spPr>
          <a:xfrm>
            <a:off x="9747504" y="2468880"/>
            <a:ext cx="2048256" cy="502920"/>
          </a:xfrm>
          <a:prstGeom prst="rect">
            <a:avLst/>
          </a:prstGeom>
          <a:noFill/>
        </p:spPr>
        <p:txBody>
          <a:bodyPr wrap="square">
            <a:spAutoFit/>
          </a:bodyPr>
          <a:lstStyle/>
          <a:p>
            <a:pPr algn="l"/>
            <a:r>
              <a:rPr sz="1100" b="0" i="0">
                <a:solidFill>
                  <a:srgbClr val="333333"/>
                </a:solidFill>
                <a:latin typeface="Calibri"/>
              </a:rPr>
              <a:t>• Energy expenditure share (%)</a:t>
            </a:r>
          </a:p>
        </p:txBody>
      </p:sp>
      <p:sp>
        <p:nvSpPr>
          <p:cNvPr id="61" name="TextBox 60"/>
          <p:cNvSpPr txBox="1"/>
          <p:nvPr/>
        </p:nvSpPr>
        <p:spPr>
          <a:xfrm>
            <a:off x="9747504" y="2971800"/>
            <a:ext cx="2048256" cy="502920"/>
          </a:xfrm>
          <a:prstGeom prst="rect">
            <a:avLst/>
          </a:prstGeom>
          <a:noFill/>
        </p:spPr>
        <p:txBody>
          <a:bodyPr wrap="square">
            <a:spAutoFit/>
          </a:bodyPr>
          <a:lstStyle/>
          <a:p>
            <a:pPr algn="l"/>
            <a:r>
              <a:rPr sz="1100" b="0" i="0">
                <a:solidFill>
                  <a:srgbClr val="333333"/>
                </a:solidFill>
                <a:latin typeface="Calibri"/>
              </a:rPr>
              <a:t>• Energy cost per kWh (BDT)</a:t>
            </a:r>
          </a:p>
        </p:txBody>
      </p:sp>
      <p:sp>
        <p:nvSpPr>
          <p:cNvPr id="62" name="TextBox 61"/>
          <p:cNvSpPr txBox="1"/>
          <p:nvPr/>
        </p:nvSpPr>
        <p:spPr>
          <a:xfrm>
            <a:off x="9747504" y="3474720"/>
            <a:ext cx="2048256" cy="502920"/>
          </a:xfrm>
          <a:prstGeom prst="rect">
            <a:avLst/>
          </a:prstGeom>
          <a:noFill/>
        </p:spPr>
        <p:txBody>
          <a:bodyPr wrap="square">
            <a:spAutoFit/>
          </a:bodyPr>
          <a:lstStyle/>
          <a:p>
            <a:pPr algn="l"/>
            <a:r>
              <a:rPr sz="1100" b="0" i="0">
                <a:solidFill>
                  <a:srgbClr val="333333"/>
                </a:solidFill>
                <a:latin typeface="Calibri"/>
              </a:rPr>
              <a:t>• Subsidy access rate (%)</a:t>
            </a:r>
          </a:p>
        </p:txBody>
      </p:sp>
      <p:sp>
        <p:nvSpPr>
          <p:cNvPr id="63" name="Rectangle 62"/>
          <p:cNvSpPr/>
          <p:nvPr/>
        </p:nvSpPr>
        <p:spPr>
          <a:xfrm>
            <a:off x="10186416" y="4114800"/>
            <a:ext cx="1170432" cy="5486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186416" y="4160520"/>
            <a:ext cx="1170432" cy="457200"/>
          </a:xfrm>
          <a:prstGeom prst="rect">
            <a:avLst/>
          </a:prstGeom>
          <a:noFill/>
        </p:spPr>
        <p:txBody>
          <a:bodyPr wrap="square">
            <a:spAutoFit/>
          </a:bodyPr>
          <a:lstStyle/>
          <a:p>
            <a:pPr algn="ctr"/>
            <a:r>
              <a:rPr sz="1200" b="1" i="0">
                <a:solidFill>
                  <a:srgbClr val="FFFFFF"/>
                </a:solidFill>
                <a:latin typeface="Calibri"/>
              </a:rPr>
              <a:t>Mean: 0.561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Data &amp; Indicators Overview</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18 Core Indicators | 5 Data Sources | 492 Upazilas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6 / 13</a:t>
            </a:r>
          </a:p>
        </p:txBody>
      </p:sp>
      <p:sp>
        <p:nvSpPr>
          <p:cNvPr id="10" name="TextBox 9"/>
          <p:cNvSpPr txBox="1"/>
          <p:nvPr/>
        </p:nvSpPr>
        <p:spPr>
          <a:xfrm>
            <a:off x="274320" y="1097280"/>
            <a:ext cx="5029200" cy="365760"/>
          </a:xfrm>
          <a:prstGeom prst="rect">
            <a:avLst/>
          </a:prstGeom>
          <a:noFill/>
        </p:spPr>
        <p:txBody>
          <a:bodyPr wrap="square">
            <a:spAutoFit/>
          </a:bodyPr>
          <a:lstStyle/>
          <a:p>
            <a:pPr algn="l"/>
            <a:r>
              <a:rPr sz="1600" b="1" i="0">
                <a:solidFill>
                  <a:srgbClr val="1F4E78"/>
                </a:solidFill>
                <a:latin typeface="Calibri"/>
              </a:rPr>
              <a:t>Data Sources</a:t>
            </a:r>
          </a:p>
        </p:txBody>
      </p:sp>
      <p:sp>
        <p:nvSpPr>
          <p:cNvPr id="11" name="Rectangle 10"/>
          <p:cNvSpPr/>
          <p:nvPr/>
        </p:nvSpPr>
        <p:spPr>
          <a:xfrm>
            <a:off x="274320" y="1554480"/>
            <a:ext cx="731520" cy="50292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600200"/>
            <a:ext cx="694944" cy="411480"/>
          </a:xfrm>
          <a:prstGeom prst="rect">
            <a:avLst/>
          </a:prstGeom>
          <a:noFill/>
        </p:spPr>
        <p:txBody>
          <a:bodyPr wrap="square">
            <a:spAutoFit/>
          </a:bodyPr>
          <a:lstStyle/>
          <a:p>
            <a:pPr algn="ctr"/>
            <a:r>
              <a:rPr sz="1200" b="1" i="0">
                <a:solidFill>
                  <a:srgbClr val="FFFFFF"/>
                </a:solidFill>
                <a:latin typeface="Calibri"/>
              </a:rPr>
              <a:t>BBS</a:t>
            </a:r>
          </a:p>
        </p:txBody>
      </p:sp>
      <p:sp>
        <p:nvSpPr>
          <p:cNvPr id="13" name="TextBox 12"/>
          <p:cNvSpPr txBox="1"/>
          <p:nvPr/>
        </p:nvSpPr>
        <p:spPr>
          <a:xfrm>
            <a:off x="1097280" y="1554480"/>
            <a:ext cx="4114800" cy="274320"/>
          </a:xfrm>
          <a:prstGeom prst="rect">
            <a:avLst/>
          </a:prstGeom>
          <a:noFill/>
        </p:spPr>
        <p:txBody>
          <a:bodyPr wrap="square">
            <a:spAutoFit/>
          </a:bodyPr>
          <a:lstStyle/>
          <a:p>
            <a:pPr algn="l"/>
            <a:r>
              <a:rPr sz="1300" b="1" i="0">
                <a:solidFill>
                  <a:srgbClr val="333333"/>
                </a:solidFill>
                <a:latin typeface="Calibri"/>
              </a:rPr>
              <a:t>Bangladesh Bureau of Statistics</a:t>
            </a:r>
          </a:p>
        </p:txBody>
      </p:sp>
      <p:sp>
        <p:nvSpPr>
          <p:cNvPr id="14" name="TextBox 13"/>
          <p:cNvSpPr txBox="1"/>
          <p:nvPr/>
        </p:nvSpPr>
        <p:spPr>
          <a:xfrm>
            <a:off x="1097280" y="1810512"/>
            <a:ext cx="4114800" cy="228600"/>
          </a:xfrm>
          <a:prstGeom prst="rect">
            <a:avLst/>
          </a:prstGeom>
          <a:noFill/>
        </p:spPr>
        <p:txBody>
          <a:bodyPr wrap="square">
            <a:spAutoFit/>
          </a:bodyPr>
          <a:lstStyle/>
          <a:p>
            <a:pPr algn="l"/>
            <a:r>
              <a:rPr sz="1100" b="0" i="1">
                <a:solidFill>
                  <a:srgbClr val="666666"/>
                </a:solidFill>
                <a:latin typeface="Calibri"/>
              </a:rPr>
              <a:t>Census 2011, 2022</a:t>
            </a:r>
          </a:p>
        </p:txBody>
      </p:sp>
      <p:sp>
        <p:nvSpPr>
          <p:cNvPr id="15" name="Rectangle 14"/>
          <p:cNvSpPr/>
          <p:nvPr/>
        </p:nvSpPr>
        <p:spPr>
          <a:xfrm>
            <a:off x="274320" y="2176272"/>
            <a:ext cx="731520" cy="50292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8" y="2221992"/>
            <a:ext cx="694944" cy="411480"/>
          </a:xfrm>
          <a:prstGeom prst="rect">
            <a:avLst/>
          </a:prstGeom>
          <a:noFill/>
        </p:spPr>
        <p:txBody>
          <a:bodyPr wrap="square">
            <a:spAutoFit/>
          </a:bodyPr>
          <a:lstStyle/>
          <a:p>
            <a:pPr algn="ctr"/>
            <a:r>
              <a:rPr sz="1200" b="1" i="0">
                <a:solidFill>
                  <a:srgbClr val="FFFFFF"/>
                </a:solidFill>
                <a:latin typeface="Calibri"/>
              </a:rPr>
              <a:t>BPDB</a:t>
            </a:r>
          </a:p>
        </p:txBody>
      </p:sp>
      <p:sp>
        <p:nvSpPr>
          <p:cNvPr id="17" name="TextBox 16"/>
          <p:cNvSpPr txBox="1"/>
          <p:nvPr/>
        </p:nvSpPr>
        <p:spPr>
          <a:xfrm>
            <a:off x="1097280" y="2176272"/>
            <a:ext cx="4114800" cy="274320"/>
          </a:xfrm>
          <a:prstGeom prst="rect">
            <a:avLst/>
          </a:prstGeom>
          <a:noFill/>
        </p:spPr>
        <p:txBody>
          <a:bodyPr wrap="square">
            <a:spAutoFit/>
          </a:bodyPr>
          <a:lstStyle/>
          <a:p>
            <a:pPr algn="l"/>
            <a:r>
              <a:rPr sz="1300" b="1" i="0">
                <a:solidFill>
                  <a:srgbClr val="333333"/>
                </a:solidFill>
                <a:latin typeface="Calibri"/>
              </a:rPr>
              <a:t>Bangladesh Power Development Board</a:t>
            </a:r>
          </a:p>
        </p:txBody>
      </p:sp>
      <p:sp>
        <p:nvSpPr>
          <p:cNvPr id="18" name="TextBox 17"/>
          <p:cNvSpPr txBox="1"/>
          <p:nvPr/>
        </p:nvSpPr>
        <p:spPr>
          <a:xfrm>
            <a:off x="1097280" y="2432304"/>
            <a:ext cx="4114800" cy="228600"/>
          </a:xfrm>
          <a:prstGeom prst="rect">
            <a:avLst/>
          </a:prstGeom>
          <a:noFill/>
        </p:spPr>
        <p:txBody>
          <a:bodyPr wrap="square">
            <a:spAutoFit/>
          </a:bodyPr>
          <a:lstStyle/>
          <a:p>
            <a:pPr algn="l"/>
            <a:r>
              <a:rPr sz="1100" b="0" i="1">
                <a:solidFill>
                  <a:srgbClr val="666666"/>
                </a:solidFill>
                <a:latin typeface="Calibri"/>
              </a:rPr>
              <a:t>Operational Records 2022–23</a:t>
            </a:r>
          </a:p>
        </p:txBody>
      </p:sp>
      <p:sp>
        <p:nvSpPr>
          <p:cNvPr id="19" name="Rectangle 18"/>
          <p:cNvSpPr/>
          <p:nvPr/>
        </p:nvSpPr>
        <p:spPr>
          <a:xfrm>
            <a:off x="274320" y="2798064"/>
            <a:ext cx="731520" cy="5029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2608" y="2843784"/>
            <a:ext cx="694944" cy="411480"/>
          </a:xfrm>
          <a:prstGeom prst="rect">
            <a:avLst/>
          </a:prstGeom>
          <a:noFill/>
        </p:spPr>
        <p:txBody>
          <a:bodyPr wrap="square">
            <a:spAutoFit/>
          </a:bodyPr>
          <a:lstStyle/>
          <a:p>
            <a:pPr algn="ctr"/>
            <a:r>
              <a:rPr sz="1200" b="1" i="0">
                <a:solidFill>
                  <a:srgbClr val="FFFFFF"/>
                </a:solidFill>
                <a:latin typeface="Calibri"/>
              </a:rPr>
              <a:t>WB/IEA</a:t>
            </a:r>
          </a:p>
        </p:txBody>
      </p:sp>
      <p:sp>
        <p:nvSpPr>
          <p:cNvPr id="21" name="TextBox 20"/>
          <p:cNvSpPr txBox="1"/>
          <p:nvPr/>
        </p:nvSpPr>
        <p:spPr>
          <a:xfrm>
            <a:off x="1097280" y="2798064"/>
            <a:ext cx="4114800" cy="274320"/>
          </a:xfrm>
          <a:prstGeom prst="rect">
            <a:avLst/>
          </a:prstGeom>
          <a:noFill/>
        </p:spPr>
        <p:txBody>
          <a:bodyPr wrap="square">
            <a:spAutoFit/>
          </a:bodyPr>
          <a:lstStyle/>
          <a:p>
            <a:pPr algn="l"/>
            <a:r>
              <a:rPr sz="1300" b="1" i="0">
                <a:solidFill>
                  <a:srgbClr val="333333"/>
                </a:solidFill>
                <a:latin typeface="Calibri"/>
              </a:rPr>
              <a:t>World Bank &amp; IEA</a:t>
            </a:r>
          </a:p>
        </p:txBody>
      </p:sp>
      <p:sp>
        <p:nvSpPr>
          <p:cNvPr id="22" name="TextBox 21"/>
          <p:cNvSpPr txBox="1"/>
          <p:nvPr/>
        </p:nvSpPr>
        <p:spPr>
          <a:xfrm>
            <a:off x="1097280" y="3054096"/>
            <a:ext cx="4114800" cy="228600"/>
          </a:xfrm>
          <a:prstGeom prst="rect">
            <a:avLst/>
          </a:prstGeom>
          <a:noFill/>
        </p:spPr>
        <p:txBody>
          <a:bodyPr wrap="square">
            <a:spAutoFit/>
          </a:bodyPr>
          <a:lstStyle/>
          <a:p>
            <a:pPr algn="l"/>
            <a:r>
              <a:rPr sz="1100" b="0" i="1">
                <a:solidFill>
                  <a:srgbClr val="666666"/>
                </a:solidFill>
                <a:latin typeface="Calibri"/>
              </a:rPr>
              <a:t>Energy Benchmarks 2022–23</a:t>
            </a:r>
          </a:p>
        </p:txBody>
      </p:sp>
      <p:sp>
        <p:nvSpPr>
          <p:cNvPr id="23" name="Rectangle 22"/>
          <p:cNvSpPr/>
          <p:nvPr/>
        </p:nvSpPr>
        <p:spPr>
          <a:xfrm>
            <a:off x="274320" y="3419856"/>
            <a:ext cx="731520" cy="5029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465576"/>
            <a:ext cx="694944" cy="411480"/>
          </a:xfrm>
          <a:prstGeom prst="rect">
            <a:avLst/>
          </a:prstGeom>
          <a:noFill/>
        </p:spPr>
        <p:txBody>
          <a:bodyPr wrap="square">
            <a:spAutoFit/>
          </a:bodyPr>
          <a:lstStyle/>
          <a:p>
            <a:pPr algn="ctr"/>
            <a:r>
              <a:rPr sz="1200" b="1" i="0">
                <a:solidFill>
                  <a:srgbClr val="FFFFFF"/>
                </a:solidFill>
                <a:latin typeface="Calibri"/>
              </a:rPr>
              <a:t>LGED</a:t>
            </a:r>
          </a:p>
        </p:txBody>
      </p:sp>
      <p:sp>
        <p:nvSpPr>
          <p:cNvPr id="25" name="TextBox 24"/>
          <p:cNvSpPr txBox="1"/>
          <p:nvPr/>
        </p:nvSpPr>
        <p:spPr>
          <a:xfrm>
            <a:off x="1097280" y="3419856"/>
            <a:ext cx="4114800" cy="274320"/>
          </a:xfrm>
          <a:prstGeom prst="rect">
            <a:avLst/>
          </a:prstGeom>
          <a:noFill/>
        </p:spPr>
        <p:txBody>
          <a:bodyPr wrap="square">
            <a:spAutoFit/>
          </a:bodyPr>
          <a:lstStyle/>
          <a:p>
            <a:pPr algn="l"/>
            <a:r>
              <a:rPr sz="1300" b="1" i="0">
                <a:solidFill>
                  <a:srgbClr val="333333"/>
                </a:solidFill>
                <a:latin typeface="Calibri"/>
              </a:rPr>
              <a:t>Local Govt Engineering Dept</a:t>
            </a:r>
          </a:p>
        </p:txBody>
      </p:sp>
      <p:sp>
        <p:nvSpPr>
          <p:cNvPr id="26" name="TextBox 25"/>
          <p:cNvSpPr txBox="1"/>
          <p:nvPr/>
        </p:nvSpPr>
        <p:spPr>
          <a:xfrm>
            <a:off x="1097280" y="3675888"/>
            <a:ext cx="4114800" cy="228600"/>
          </a:xfrm>
          <a:prstGeom prst="rect">
            <a:avLst/>
          </a:prstGeom>
          <a:noFill/>
        </p:spPr>
        <p:txBody>
          <a:bodyPr wrap="square">
            <a:spAutoFit/>
          </a:bodyPr>
          <a:lstStyle/>
          <a:p>
            <a:pPr algn="l"/>
            <a:r>
              <a:rPr sz="1100" b="0" i="1">
                <a:solidFill>
                  <a:srgbClr val="666666"/>
                </a:solidFill>
                <a:latin typeface="Calibri"/>
              </a:rPr>
              <a:t>Infrastructure Mapping 2023</a:t>
            </a:r>
          </a:p>
        </p:txBody>
      </p:sp>
      <p:sp>
        <p:nvSpPr>
          <p:cNvPr id="27" name="Rectangle 26"/>
          <p:cNvSpPr/>
          <p:nvPr/>
        </p:nvSpPr>
        <p:spPr>
          <a:xfrm>
            <a:off x="274320" y="4041648"/>
            <a:ext cx="731520" cy="5029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92608" y="4087368"/>
            <a:ext cx="694944" cy="411480"/>
          </a:xfrm>
          <a:prstGeom prst="rect">
            <a:avLst/>
          </a:prstGeom>
          <a:noFill/>
        </p:spPr>
        <p:txBody>
          <a:bodyPr wrap="square">
            <a:spAutoFit/>
          </a:bodyPr>
          <a:lstStyle/>
          <a:p>
            <a:pPr algn="ctr"/>
            <a:r>
              <a:rPr sz="1200" b="1" i="0">
                <a:solidFill>
                  <a:srgbClr val="FFFFFF"/>
                </a:solidFill>
                <a:latin typeface="Calibri"/>
              </a:rPr>
              <a:t>Field</a:t>
            </a:r>
          </a:p>
        </p:txBody>
      </p:sp>
      <p:sp>
        <p:nvSpPr>
          <p:cNvPr id="29" name="TextBox 28"/>
          <p:cNvSpPr txBox="1"/>
          <p:nvPr/>
        </p:nvSpPr>
        <p:spPr>
          <a:xfrm>
            <a:off x="1097280" y="4041648"/>
            <a:ext cx="4114800" cy="274320"/>
          </a:xfrm>
          <a:prstGeom prst="rect">
            <a:avLst/>
          </a:prstGeom>
          <a:noFill/>
        </p:spPr>
        <p:txBody>
          <a:bodyPr wrap="square">
            <a:spAutoFit/>
          </a:bodyPr>
          <a:lstStyle/>
          <a:p>
            <a:pPr algn="l"/>
            <a:r>
              <a:rPr sz="1300" b="1" i="0">
                <a:solidFill>
                  <a:srgbClr val="333333"/>
                </a:solidFill>
                <a:latin typeface="Calibri"/>
              </a:rPr>
              <a:t>Primary Field Surveys</a:t>
            </a:r>
          </a:p>
        </p:txBody>
      </p:sp>
      <p:sp>
        <p:nvSpPr>
          <p:cNvPr id="30" name="TextBox 29"/>
          <p:cNvSpPr txBox="1"/>
          <p:nvPr/>
        </p:nvSpPr>
        <p:spPr>
          <a:xfrm>
            <a:off x="1097280" y="4297680"/>
            <a:ext cx="4114800" cy="228600"/>
          </a:xfrm>
          <a:prstGeom prst="rect">
            <a:avLst/>
          </a:prstGeom>
          <a:noFill/>
        </p:spPr>
        <p:txBody>
          <a:bodyPr wrap="square">
            <a:spAutoFit/>
          </a:bodyPr>
          <a:lstStyle/>
          <a:p>
            <a:pPr algn="l"/>
            <a:r>
              <a:rPr sz="1100" b="0" i="1">
                <a:solidFill>
                  <a:srgbClr val="666666"/>
                </a:solidFill>
                <a:latin typeface="Calibri"/>
              </a:rPr>
              <a:t>Primary Data Collection 2023</a:t>
            </a:r>
          </a:p>
        </p:txBody>
      </p:sp>
      <p:sp>
        <p:nvSpPr>
          <p:cNvPr id="31" name="TextBox 30"/>
          <p:cNvSpPr txBox="1"/>
          <p:nvPr/>
        </p:nvSpPr>
        <p:spPr>
          <a:xfrm>
            <a:off x="274320" y="4617720"/>
            <a:ext cx="5029200" cy="365760"/>
          </a:xfrm>
          <a:prstGeom prst="rect">
            <a:avLst/>
          </a:prstGeom>
          <a:noFill/>
        </p:spPr>
        <p:txBody>
          <a:bodyPr wrap="square">
            <a:spAutoFit/>
          </a:bodyPr>
          <a:lstStyle/>
          <a:p>
            <a:pPr algn="l"/>
            <a:r>
              <a:rPr sz="1600" b="1" i="0">
                <a:solidFill>
                  <a:srgbClr val="1F4E78"/>
                </a:solidFill>
                <a:latin typeface="Calibri"/>
              </a:rPr>
              <a:t>Geographic Coverage</a:t>
            </a:r>
          </a:p>
        </p:txBody>
      </p:sp>
      <p:graphicFrame>
        <p:nvGraphicFramePr>
          <p:cNvPr id="32" name="Table 31"/>
          <p:cNvGraphicFramePr>
            <a:graphicFrameLocks noGrp="1"/>
          </p:cNvGraphicFramePr>
          <p:nvPr/>
        </p:nvGraphicFramePr>
        <p:xfrm>
          <a:off x="274320" y="5029200"/>
          <a:ext cx="5029200" cy="1280160"/>
        </p:xfrm>
        <a:graphic>
          <a:graphicData uri="http://schemas.openxmlformats.org/drawingml/2006/table">
            <a:tbl>
              <a:tblPr firstRow="1" bandRow="1">
                <a:tableStyleId>{5C22544A-7EE6-4342-B048-85BDC9FD1C3A}</a:tableStyleId>
              </a:tblPr>
              <a:tblGrid>
                <a:gridCol w="1371600"/>
                <a:gridCol w="3657600"/>
              </a:tblGrid>
              <a:tr h="213360">
                <a:tc>
                  <a:txBody>
                    <a:bodyPr/>
                    <a:lstStyle/>
                    <a:p>
                      <a:pPr algn="ctr"/>
                      <a:r>
                        <a:rPr sz="1100" b="1">
                          <a:solidFill>
                            <a:srgbClr val="FFFFFF"/>
                          </a:solidFill>
                          <a:latin typeface="Calibri"/>
                        </a:rPr>
                        <a:t>Scope</a:t>
                      </a:r>
                    </a:p>
                  </a:txBody>
                  <a:tcPr>
                    <a:solidFill>
                      <a:srgbClr val="1F4E78"/>
                    </a:solidFill>
                  </a:tcPr>
                </a:tc>
                <a:tc>
                  <a:txBody>
                    <a:bodyPr/>
                    <a:lstStyle/>
                    <a:p>
                      <a:pPr algn="ctr"/>
                      <a:r>
                        <a:rPr sz="1100" b="1">
                          <a:solidFill>
                            <a:srgbClr val="FFFFFF"/>
                          </a:solidFill>
                          <a:latin typeface="Calibri"/>
                        </a:rPr>
                        <a:t>Detail</a:t>
                      </a:r>
                    </a:p>
                  </a:txBody>
                  <a:tcPr>
                    <a:solidFill>
                      <a:srgbClr val="1F4E78"/>
                    </a:solidFill>
                  </a:tcPr>
                </a:tc>
              </a:tr>
              <a:tr h="213360">
                <a:tc>
                  <a:txBody>
                    <a:bodyPr/>
                    <a:lstStyle/>
                    <a:p>
                      <a:pPr algn="ctr"/>
                      <a:r>
                        <a:rPr sz="1100">
                          <a:solidFill>
                            <a:srgbClr val="333333"/>
                          </a:solidFill>
                          <a:latin typeface="Calibri"/>
                        </a:rPr>
                        <a:t>Upazilas</a:t>
                      </a:r>
                    </a:p>
                  </a:txBody>
                  <a:tcPr/>
                </a:tc>
                <a:tc>
                  <a:txBody>
                    <a:bodyPr/>
                    <a:lstStyle/>
                    <a:p>
                      <a:pPr algn="ctr"/>
                      <a:r>
                        <a:rPr sz="1100">
                          <a:solidFill>
                            <a:srgbClr val="333333"/>
                          </a:solidFill>
                          <a:latin typeface="Calibri"/>
                        </a:rPr>
                        <a:t>492 (complete Bangladesh)</a:t>
                      </a:r>
                    </a:p>
                  </a:txBody>
                  <a:tcPr/>
                </a:tc>
              </a:tr>
              <a:tr h="213360">
                <a:tc>
                  <a:txBody>
                    <a:bodyPr/>
                    <a:lstStyle/>
                    <a:p>
                      <a:pPr algn="ctr"/>
                      <a:r>
                        <a:rPr sz="1100">
                          <a:solidFill>
                            <a:srgbClr val="333333"/>
                          </a:solidFill>
                          <a:latin typeface="Calibri"/>
                        </a:rPr>
                        <a:t>Districts</a:t>
                      </a:r>
                    </a:p>
                  </a:txBody>
                  <a:tcPr/>
                </a:tc>
                <a:tc>
                  <a:txBody>
                    <a:bodyPr/>
                    <a:lstStyle/>
                    <a:p>
                      <a:pPr algn="ctr"/>
                      <a:r>
                        <a:rPr sz="1100">
                          <a:solidFill>
                            <a:srgbClr val="333333"/>
                          </a:solidFill>
                          <a:latin typeface="Calibri"/>
                        </a:rPr>
                        <a:t>64 districts</a:t>
                      </a:r>
                    </a:p>
                  </a:txBody>
                  <a:tcPr/>
                </a:tc>
              </a:tr>
              <a:tr h="213360">
                <a:tc>
                  <a:txBody>
                    <a:bodyPr/>
                    <a:lstStyle/>
                    <a:p>
                      <a:pPr algn="ctr"/>
                      <a:r>
                        <a:rPr sz="1100">
                          <a:solidFill>
                            <a:srgbClr val="333333"/>
                          </a:solidFill>
                          <a:latin typeface="Calibri"/>
                        </a:rPr>
                        <a:t>Divisions</a:t>
                      </a:r>
                    </a:p>
                  </a:txBody>
                  <a:tcPr/>
                </a:tc>
                <a:tc>
                  <a:txBody>
                    <a:bodyPr/>
                    <a:lstStyle/>
                    <a:p>
                      <a:pPr algn="ctr"/>
                      <a:r>
                        <a:rPr sz="1100">
                          <a:solidFill>
                            <a:srgbClr val="333333"/>
                          </a:solidFill>
                          <a:latin typeface="Calibri"/>
                        </a:rPr>
                        <a:t>8 administrative divisions</a:t>
                      </a:r>
                    </a:p>
                  </a:txBody>
                  <a:tcPr/>
                </a:tc>
              </a:tr>
              <a:tr h="213360">
                <a:tc>
                  <a:txBody>
                    <a:bodyPr/>
                    <a:lstStyle/>
                    <a:p>
                      <a:pPr algn="ctr"/>
                      <a:r>
                        <a:rPr sz="1100">
                          <a:solidFill>
                            <a:srgbClr val="333333"/>
                          </a:solidFill>
                          <a:latin typeface="Calibri"/>
                        </a:rPr>
                        <a:t>Geo Zones</a:t>
                      </a:r>
                    </a:p>
                  </a:txBody>
                  <a:tcPr/>
                </a:tc>
                <a:tc>
                  <a:txBody>
                    <a:bodyPr/>
                    <a:lstStyle/>
                    <a:p>
                      <a:pPr algn="ctr"/>
                      <a:r>
                        <a:rPr sz="1100">
                          <a:solidFill>
                            <a:srgbClr val="333333"/>
                          </a:solidFill>
                          <a:latin typeface="Calibri"/>
                        </a:rPr>
                        <a:t>Coastal, Char, Haor, Hill Tract, Plains, Urban</a:t>
                      </a:r>
                    </a:p>
                  </a:txBody>
                  <a:tcPr/>
                </a:tc>
              </a:tr>
              <a:tr h="213360">
                <a:tc>
                  <a:txBody>
                    <a:bodyPr/>
                    <a:lstStyle/>
                    <a:p>
                      <a:pPr algn="ctr"/>
                      <a:r>
                        <a:rPr sz="1100">
                          <a:solidFill>
                            <a:srgbClr val="333333"/>
                          </a:solidFill>
                          <a:latin typeface="Calibri"/>
                        </a:rPr>
                        <a:t>Indicators</a:t>
                      </a:r>
                    </a:p>
                  </a:txBody>
                  <a:tcPr/>
                </a:tc>
                <a:tc>
                  <a:txBody>
                    <a:bodyPr/>
                    <a:lstStyle/>
                    <a:p>
                      <a:pPr algn="ctr"/>
                      <a:r>
                        <a:rPr sz="1100">
                          <a:solidFill>
                            <a:srgbClr val="333333"/>
                          </a:solidFill>
                          <a:latin typeface="Calibri"/>
                        </a:rPr>
                        <a:t>18 core indicators (3 per dimension)</a:t>
                      </a:r>
                    </a:p>
                  </a:txBody>
                  <a:tcPr/>
                </a:tc>
              </a:tr>
            </a:tbl>
          </a:graphicData>
        </a:graphic>
      </p:graphicFrame>
      <p:sp>
        <p:nvSpPr>
          <p:cNvPr id="33" name="TextBox 32"/>
          <p:cNvSpPr txBox="1"/>
          <p:nvPr/>
        </p:nvSpPr>
        <p:spPr>
          <a:xfrm>
            <a:off x="5577840" y="1097280"/>
            <a:ext cx="6309360" cy="365760"/>
          </a:xfrm>
          <a:prstGeom prst="rect">
            <a:avLst/>
          </a:prstGeom>
          <a:noFill/>
        </p:spPr>
        <p:txBody>
          <a:bodyPr wrap="square">
            <a:spAutoFit/>
          </a:bodyPr>
          <a:lstStyle/>
          <a:p>
            <a:pPr algn="l"/>
            <a:r>
              <a:rPr sz="1600" b="1" i="0">
                <a:solidFill>
                  <a:srgbClr val="1F4E78"/>
                </a:solidFill>
                <a:latin typeface="Calibri"/>
              </a:rPr>
              <a:t>Sample Data: Top 10 Upazilas by MEPI Score</a:t>
            </a:r>
          </a:p>
        </p:txBody>
      </p:sp>
      <p:graphicFrame>
        <p:nvGraphicFramePr>
          <p:cNvPr id="34" name="Table 33"/>
          <p:cNvGraphicFramePr>
            <a:graphicFrameLocks noGrp="1"/>
          </p:cNvGraphicFramePr>
          <p:nvPr/>
        </p:nvGraphicFramePr>
        <p:xfrm>
          <a:off x="5577840" y="1508760"/>
          <a:ext cx="5806440" cy="4754880"/>
        </p:xfrm>
        <a:graphic>
          <a:graphicData uri="http://schemas.openxmlformats.org/drawingml/2006/table">
            <a:tbl>
              <a:tblPr firstRow="1" bandRow="1">
                <a:tableStyleId>{5C22544A-7EE6-4342-B048-85BDC9FD1C3A}</a:tableStyleId>
              </a:tblPr>
              <a:tblGrid>
                <a:gridCol w="502920"/>
                <a:gridCol w="1554480"/>
                <a:gridCol w="1143000"/>
                <a:gridCol w="1005840"/>
                <a:gridCol w="685800"/>
                <a:gridCol w="914400"/>
              </a:tblGrid>
              <a:tr h="432261">
                <a:tc>
                  <a:txBody>
                    <a:bodyPr/>
                    <a:lstStyle/>
                    <a:p>
                      <a:pPr algn="ctr"/>
                      <a:r>
                        <a:rPr sz="1000" b="1">
                          <a:solidFill>
                            <a:srgbClr val="FFFFFF"/>
                          </a:solidFill>
                          <a:latin typeface="Calibri"/>
                        </a:rPr>
                        <a:t>Rank</a:t>
                      </a:r>
                    </a:p>
                  </a:txBody>
                  <a:tcPr>
                    <a:solidFill>
                      <a:srgbClr val="1F4E78"/>
                    </a:solidFill>
                  </a:tcPr>
                </a:tc>
                <a:tc>
                  <a:txBody>
                    <a:bodyPr/>
                    <a:lstStyle/>
                    <a:p>
                      <a:pPr algn="ctr"/>
                      <a:r>
                        <a:rPr sz="1000" b="1">
                          <a:solidFill>
                            <a:srgbClr val="FFFFFF"/>
                          </a:solidFill>
                          <a:latin typeface="Calibri"/>
                        </a:rPr>
                        <a:t>Upazila</a:t>
                      </a:r>
                    </a:p>
                  </a:txBody>
                  <a:tcPr>
                    <a:solidFill>
                      <a:srgbClr val="1F4E78"/>
                    </a:solidFill>
                  </a:tcPr>
                </a:tc>
                <a:tc>
                  <a:txBody>
                    <a:bodyPr/>
                    <a:lstStyle/>
                    <a:p>
                      <a:pPr algn="ctr"/>
                      <a:r>
                        <a:rPr sz="1000" b="1">
                          <a:solidFill>
                            <a:srgbClr val="FFFFFF"/>
                          </a:solidFill>
                          <a:latin typeface="Calibri"/>
                        </a:rPr>
                        <a:t>Division</a:t>
                      </a:r>
                    </a:p>
                  </a:txBody>
                  <a:tcPr>
                    <a:solidFill>
                      <a:srgbClr val="1F4E78"/>
                    </a:solidFill>
                  </a:tcPr>
                </a:tc>
                <a:tc>
                  <a:txBody>
                    <a:bodyPr/>
                    <a:lstStyle/>
                    <a:p>
                      <a:pPr algn="ctr"/>
                      <a:r>
                        <a:rPr sz="1000" b="1">
                          <a:solidFill>
                            <a:srgbClr val="FFFFFF"/>
                          </a:solidFill>
                          <a:latin typeface="Calibri"/>
                        </a:rPr>
                        <a:t>Zone</a:t>
                      </a:r>
                    </a:p>
                  </a:txBody>
                  <a:tcPr>
                    <a:solidFill>
                      <a:srgbClr val="1F4E78"/>
                    </a:solidFill>
                  </a:tcPr>
                </a:tc>
                <a:tc>
                  <a:txBody>
                    <a:bodyPr/>
                    <a:lstStyle/>
                    <a:p>
                      <a:pPr algn="ctr"/>
                      <a:r>
                        <a:rPr sz="1000" b="1">
                          <a:solidFill>
                            <a:srgbClr val="FFFFFF"/>
                          </a:solidFill>
                          <a:latin typeface="Calibri"/>
                        </a:rPr>
                        <a:t>MEPI</a:t>
                      </a:r>
                    </a:p>
                  </a:txBody>
                  <a:tcPr>
                    <a:solidFill>
                      <a:srgbClr val="1F4E78"/>
                    </a:solidFill>
                  </a:tcPr>
                </a:tc>
                <a:tc>
                  <a:txBody>
                    <a:bodyPr/>
                    <a:lstStyle/>
                    <a:p>
                      <a:pPr algn="ctr"/>
                      <a:r>
                        <a:rPr sz="1000" b="1">
                          <a:solidFill>
                            <a:srgbClr val="FFFFFF"/>
                          </a:solidFill>
                          <a:latin typeface="Calibri"/>
                        </a:rPr>
                        <a:t>Class</a:t>
                      </a:r>
                    </a:p>
                  </a:txBody>
                  <a:tcPr>
                    <a:solidFill>
                      <a:srgbClr val="1F4E78"/>
                    </a:solidFill>
                  </a:tcPr>
                </a:tc>
              </a:tr>
              <a:tr h="432261">
                <a:tc>
                  <a:txBody>
                    <a:bodyPr/>
                    <a:lstStyle/>
                    <a:p>
                      <a:pPr algn="ctr"/>
                      <a:r>
                        <a:rPr sz="1000">
                          <a:solidFill>
                            <a:srgbClr val="333333"/>
                          </a:solidFill>
                          <a:latin typeface="Calibri"/>
                        </a:rPr>
                        <a:t>1</a:t>
                      </a:r>
                    </a:p>
                  </a:txBody>
                  <a:tcPr/>
                </a:tc>
                <a:tc>
                  <a:txBody>
                    <a:bodyPr/>
                    <a:lstStyle/>
                    <a:p>
                      <a:pPr algn="ctr"/>
                      <a:r>
                        <a:rPr sz="1000">
                          <a:solidFill>
                            <a:srgbClr val="333333"/>
                          </a:solidFill>
                          <a:latin typeface="Calibri"/>
                        </a:rPr>
                        <a:t>Rowangchhari</a:t>
                      </a:r>
                    </a:p>
                  </a:txBody>
                  <a:tcPr/>
                </a:tc>
                <a:tc>
                  <a:txBody>
                    <a:bodyPr/>
                    <a:lstStyle/>
                    <a:p>
                      <a:pPr algn="ctr"/>
                      <a:r>
                        <a:rPr sz="1000">
                          <a:solidFill>
                            <a:srgbClr val="333333"/>
                          </a:solidFill>
                          <a:latin typeface="Calibri"/>
                        </a:rPr>
                        <a:t>Chittagong</a:t>
                      </a:r>
                    </a:p>
                  </a:txBody>
                  <a:tcPr/>
                </a:tc>
                <a:tc>
                  <a:txBody>
                    <a:bodyPr/>
                    <a:lstStyle/>
                    <a:p>
                      <a:pPr algn="ctr"/>
                      <a:r>
                        <a:rPr sz="1000">
                          <a:solidFill>
                            <a:srgbClr val="333333"/>
                          </a:solidFill>
                          <a:latin typeface="Calibri"/>
                        </a:rPr>
                        <a:t>Hill Tracts</a:t>
                      </a:r>
                    </a:p>
                  </a:txBody>
                  <a:tcPr/>
                </a:tc>
                <a:tc>
                  <a:txBody>
                    <a:bodyPr/>
                    <a:lstStyle/>
                    <a:p>
                      <a:pPr algn="ctr"/>
                      <a:r>
                        <a:rPr sz="1000">
                          <a:solidFill>
                            <a:srgbClr val="333333"/>
                          </a:solidFill>
                          <a:latin typeface="Calibri"/>
                        </a:rPr>
                        <a:t>0.847</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2</a:t>
                      </a:r>
                    </a:p>
                  </a:txBody>
                  <a:tcPr/>
                </a:tc>
                <a:tc>
                  <a:txBody>
                    <a:bodyPr/>
                    <a:lstStyle/>
                    <a:p>
                      <a:pPr algn="ctr"/>
                      <a:r>
                        <a:rPr sz="1000">
                          <a:solidFill>
                            <a:srgbClr val="333333"/>
                          </a:solidFill>
                          <a:latin typeface="Calibri"/>
                        </a:rPr>
                        <a:t>Bandarban Sadar</a:t>
                      </a:r>
                    </a:p>
                  </a:txBody>
                  <a:tcPr/>
                </a:tc>
                <a:tc>
                  <a:txBody>
                    <a:bodyPr/>
                    <a:lstStyle/>
                    <a:p>
                      <a:pPr algn="ctr"/>
                      <a:r>
                        <a:rPr sz="1000">
                          <a:solidFill>
                            <a:srgbClr val="333333"/>
                          </a:solidFill>
                          <a:latin typeface="Calibri"/>
                        </a:rPr>
                        <a:t>Chittagong</a:t>
                      </a:r>
                    </a:p>
                  </a:txBody>
                  <a:tcPr/>
                </a:tc>
                <a:tc>
                  <a:txBody>
                    <a:bodyPr/>
                    <a:lstStyle/>
                    <a:p>
                      <a:pPr algn="ctr"/>
                      <a:r>
                        <a:rPr sz="1000">
                          <a:solidFill>
                            <a:srgbClr val="333333"/>
                          </a:solidFill>
                          <a:latin typeface="Calibri"/>
                        </a:rPr>
                        <a:t>Hill Tracts</a:t>
                      </a:r>
                    </a:p>
                  </a:txBody>
                  <a:tcPr/>
                </a:tc>
                <a:tc>
                  <a:txBody>
                    <a:bodyPr/>
                    <a:lstStyle/>
                    <a:p>
                      <a:pPr algn="ctr"/>
                      <a:r>
                        <a:rPr sz="1000">
                          <a:solidFill>
                            <a:srgbClr val="333333"/>
                          </a:solidFill>
                          <a:latin typeface="Calibri"/>
                        </a:rPr>
                        <a:t>0.798</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3</a:t>
                      </a:r>
                    </a:p>
                  </a:txBody>
                  <a:tcPr/>
                </a:tc>
                <a:tc>
                  <a:txBody>
                    <a:bodyPr/>
                    <a:lstStyle/>
                    <a:p>
                      <a:pPr algn="ctr"/>
                      <a:r>
                        <a:rPr sz="1000">
                          <a:solidFill>
                            <a:srgbClr val="333333"/>
                          </a:solidFill>
                          <a:latin typeface="Calibri"/>
                        </a:rPr>
                        <a:t>Shyamnagar</a:t>
                      </a:r>
                    </a:p>
                  </a:txBody>
                  <a:tcPr/>
                </a:tc>
                <a:tc>
                  <a:txBody>
                    <a:bodyPr/>
                    <a:lstStyle/>
                    <a:p>
                      <a:pPr algn="ctr"/>
                      <a:r>
                        <a:rPr sz="1000">
                          <a:solidFill>
                            <a:srgbClr val="333333"/>
                          </a:solidFill>
                          <a:latin typeface="Calibri"/>
                        </a:rPr>
                        <a:t>Khulna</a:t>
                      </a:r>
                    </a:p>
                  </a:txBody>
                  <a:tcPr/>
                </a:tc>
                <a:tc>
                  <a:txBody>
                    <a:bodyPr/>
                    <a:lstStyle/>
                    <a:p>
                      <a:pPr algn="ctr"/>
                      <a:r>
                        <a:rPr sz="1000">
                          <a:solidFill>
                            <a:srgbClr val="333333"/>
                          </a:solidFill>
                          <a:latin typeface="Calibri"/>
                        </a:rPr>
                        <a:t>Coastal</a:t>
                      </a:r>
                    </a:p>
                  </a:txBody>
                  <a:tcPr/>
                </a:tc>
                <a:tc>
                  <a:txBody>
                    <a:bodyPr/>
                    <a:lstStyle/>
                    <a:p>
                      <a:pPr algn="ctr"/>
                      <a:r>
                        <a:rPr sz="1000">
                          <a:solidFill>
                            <a:srgbClr val="333333"/>
                          </a:solidFill>
                          <a:latin typeface="Calibri"/>
                        </a:rPr>
                        <a:t>0.762</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4</a:t>
                      </a:r>
                    </a:p>
                  </a:txBody>
                  <a:tcPr/>
                </a:tc>
                <a:tc>
                  <a:txBody>
                    <a:bodyPr/>
                    <a:lstStyle/>
                    <a:p>
                      <a:pPr algn="ctr"/>
                      <a:r>
                        <a:rPr sz="1000">
                          <a:solidFill>
                            <a:srgbClr val="333333"/>
                          </a:solidFill>
                          <a:latin typeface="Calibri"/>
                        </a:rPr>
                        <a:t>Teknaf</a:t>
                      </a:r>
                    </a:p>
                  </a:txBody>
                  <a:tcPr/>
                </a:tc>
                <a:tc>
                  <a:txBody>
                    <a:bodyPr/>
                    <a:lstStyle/>
                    <a:p>
                      <a:pPr algn="ctr"/>
                      <a:r>
                        <a:rPr sz="1000">
                          <a:solidFill>
                            <a:srgbClr val="333333"/>
                          </a:solidFill>
                          <a:latin typeface="Calibri"/>
                        </a:rPr>
                        <a:t>Chittagong</a:t>
                      </a:r>
                    </a:p>
                  </a:txBody>
                  <a:tcPr/>
                </a:tc>
                <a:tc>
                  <a:txBody>
                    <a:bodyPr/>
                    <a:lstStyle/>
                    <a:p>
                      <a:pPr algn="ctr"/>
                      <a:r>
                        <a:rPr sz="1000">
                          <a:solidFill>
                            <a:srgbClr val="333333"/>
                          </a:solidFill>
                          <a:latin typeface="Calibri"/>
                        </a:rPr>
                        <a:t>Coastal</a:t>
                      </a:r>
                    </a:p>
                  </a:txBody>
                  <a:tcPr/>
                </a:tc>
                <a:tc>
                  <a:txBody>
                    <a:bodyPr/>
                    <a:lstStyle/>
                    <a:p>
                      <a:pPr algn="ctr"/>
                      <a:r>
                        <a:rPr sz="1000">
                          <a:solidFill>
                            <a:srgbClr val="333333"/>
                          </a:solidFill>
                          <a:latin typeface="Calibri"/>
                        </a:rPr>
                        <a:t>0.741</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5</a:t>
                      </a:r>
                    </a:p>
                  </a:txBody>
                  <a:tcPr/>
                </a:tc>
                <a:tc>
                  <a:txBody>
                    <a:bodyPr/>
                    <a:lstStyle/>
                    <a:p>
                      <a:pPr algn="ctr"/>
                      <a:r>
                        <a:rPr sz="1000">
                          <a:solidFill>
                            <a:srgbClr val="333333"/>
                          </a:solidFill>
                          <a:latin typeface="Calibri"/>
                        </a:rPr>
                        <a:t>Fulchhari</a:t>
                      </a:r>
                    </a:p>
                  </a:txBody>
                  <a:tcPr/>
                </a:tc>
                <a:tc>
                  <a:txBody>
                    <a:bodyPr/>
                    <a:lstStyle/>
                    <a:p>
                      <a:pPr algn="ctr"/>
                      <a:r>
                        <a:rPr sz="1000">
                          <a:solidFill>
                            <a:srgbClr val="333333"/>
                          </a:solidFill>
                          <a:latin typeface="Calibri"/>
                        </a:rPr>
                        <a:t>Rangpur</a:t>
                      </a:r>
                    </a:p>
                  </a:txBody>
                  <a:tcPr/>
                </a:tc>
                <a:tc>
                  <a:txBody>
                    <a:bodyPr/>
                    <a:lstStyle/>
                    <a:p>
                      <a:pPr algn="ctr"/>
                      <a:r>
                        <a:rPr sz="1000">
                          <a:solidFill>
                            <a:srgbClr val="333333"/>
                          </a:solidFill>
                          <a:latin typeface="Calibri"/>
                        </a:rPr>
                        <a:t>Char</a:t>
                      </a:r>
                    </a:p>
                  </a:txBody>
                  <a:tcPr/>
                </a:tc>
                <a:tc>
                  <a:txBody>
                    <a:bodyPr/>
                    <a:lstStyle/>
                    <a:p>
                      <a:pPr algn="ctr"/>
                      <a:r>
                        <a:rPr sz="1000">
                          <a:solidFill>
                            <a:srgbClr val="333333"/>
                          </a:solidFill>
                          <a:latin typeface="Calibri"/>
                        </a:rPr>
                        <a:t>0.728</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6</a:t>
                      </a:r>
                    </a:p>
                  </a:txBody>
                  <a:tcPr/>
                </a:tc>
                <a:tc>
                  <a:txBody>
                    <a:bodyPr/>
                    <a:lstStyle/>
                    <a:p>
                      <a:pPr algn="ctr"/>
                      <a:r>
                        <a:rPr sz="1000">
                          <a:solidFill>
                            <a:srgbClr val="333333"/>
                          </a:solidFill>
                          <a:latin typeface="Calibri"/>
                        </a:rPr>
                        <a:t>Saghata</a:t>
                      </a:r>
                    </a:p>
                  </a:txBody>
                  <a:tcPr/>
                </a:tc>
                <a:tc>
                  <a:txBody>
                    <a:bodyPr/>
                    <a:lstStyle/>
                    <a:p>
                      <a:pPr algn="ctr"/>
                      <a:r>
                        <a:rPr sz="1000">
                          <a:solidFill>
                            <a:srgbClr val="333333"/>
                          </a:solidFill>
                          <a:latin typeface="Calibri"/>
                        </a:rPr>
                        <a:t>Rangpur</a:t>
                      </a:r>
                    </a:p>
                  </a:txBody>
                  <a:tcPr/>
                </a:tc>
                <a:tc>
                  <a:txBody>
                    <a:bodyPr/>
                    <a:lstStyle/>
                    <a:p>
                      <a:pPr algn="ctr"/>
                      <a:r>
                        <a:rPr sz="1000">
                          <a:solidFill>
                            <a:srgbClr val="333333"/>
                          </a:solidFill>
                          <a:latin typeface="Calibri"/>
                        </a:rPr>
                        <a:t>Char</a:t>
                      </a:r>
                    </a:p>
                  </a:txBody>
                  <a:tcPr/>
                </a:tc>
                <a:tc>
                  <a:txBody>
                    <a:bodyPr/>
                    <a:lstStyle/>
                    <a:p>
                      <a:pPr algn="ctr"/>
                      <a:r>
                        <a:rPr sz="1000">
                          <a:solidFill>
                            <a:srgbClr val="333333"/>
                          </a:solidFill>
                          <a:latin typeface="Calibri"/>
                        </a:rPr>
                        <a:t>0.694</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7</a:t>
                      </a:r>
                    </a:p>
                  </a:txBody>
                  <a:tcPr/>
                </a:tc>
                <a:tc>
                  <a:txBody>
                    <a:bodyPr/>
                    <a:lstStyle/>
                    <a:p>
                      <a:pPr algn="ctr"/>
                      <a:r>
                        <a:rPr sz="1000">
                          <a:solidFill>
                            <a:srgbClr val="333333"/>
                          </a:solidFill>
                          <a:latin typeface="Calibri"/>
                        </a:rPr>
                        <a:t>Ukhia</a:t>
                      </a:r>
                    </a:p>
                  </a:txBody>
                  <a:tcPr/>
                </a:tc>
                <a:tc>
                  <a:txBody>
                    <a:bodyPr/>
                    <a:lstStyle/>
                    <a:p>
                      <a:pPr algn="ctr"/>
                      <a:r>
                        <a:rPr sz="1000">
                          <a:solidFill>
                            <a:srgbClr val="333333"/>
                          </a:solidFill>
                          <a:latin typeface="Calibri"/>
                        </a:rPr>
                        <a:t>Chittagong</a:t>
                      </a:r>
                    </a:p>
                  </a:txBody>
                  <a:tcPr/>
                </a:tc>
                <a:tc>
                  <a:txBody>
                    <a:bodyPr/>
                    <a:lstStyle/>
                    <a:p>
                      <a:pPr algn="ctr"/>
                      <a:r>
                        <a:rPr sz="1000">
                          <a:solidFill>
                            <a:srgbClr val="333333"/>
                          </a:solidFill>
                          <a:latin typeface="Calibri"/>
                        </a:rPr>
                        <a:t>Coastal</a:t>
                      </a:r>
                    </a:p>
                  </a:txBody>
                  <a:tcPr/>
                </a:tc>
                <a:tc>
                  <a:txBody>
                    <a:bodyPr/>
                    <a:lstStyle/>
                    <a:p>
                      <a:pPr algn="ctr"/>
                      <a:r>
                        <a:rPr sz="1000">
                          <a:solidFill>
                            <a:srgbClr val="333333"/>
                          </a:solidFill>
                          <a:latin typeface="Calibri"/>
                        </a:rPr>
                        <a:t>0.681</a:t>
                      </a:r>
                    </a:p>
                  </a:txBody>
                  <a:tcPr/>
                </a:tc>
                <a:tc>
                  <a:txBody>
                    <a:bodyPr/>
                    <a:lstStyle/>
                    <a:p>
                      <a:pPr algn="ctr"/>
                      <a:r>
                        <a:rPr sz="1000">
                          <a:solidFill>
                            <a:srgbClr val="333333"/>
                          </a:solidFill>
                          <a:latin typeface="Calibri"/>
                        </a:rPr>
                        <a:t>Severe</a:t>
                      </a:r>
                    </a:p>
                  </a:txBody>
                  <a:tcPr/>
                </a:tc>
              </a:tr>
              <a:tr h="432261">
                <a:tc>
                  <a:txBody>
                    <a:bodyPr/>
                    <a:lstStyle/>
                    <a:p>
                      <a:pPr algn="ctr"/>
                      <a:r>
                        <a:rPr sz="1000">
                          <a:solidFill>
                            <a:srgbClr val="333333"/>
                          </a:solidFill>
                          <a:latin typeface="Calibri"/>
                        </a:rPr>
                        <a:t>8</a:t>
                      </a:r>
                    </a:p>
                  </a:txBody>
                  <a:tcPr/>
                </a:tc>
                <a:tc>
                  <a:txBody>
                    <a:bodyPr/>
                    <a:lstStyle/>
                    <a:p>
                      <a:pPr algn="ctr"/>
                      <a:r>
                        <a:rPr sz="1000">
                          <a:solidFill>
                            <a:srgbClr val="333333"/>
                          </a:solidFill>
                          <a:latin typeface="Calibri"/>
                        </a:rPr>
                        <a:t>Kaliganj</a:t>
                      </a:r>
                    </a:p>
                  </a:txBody>
                  <a:tcPr/>
                </a:tc>
                <a:tc>
                  <a:txBody>
                    <a:bodyPr/>
                    <a:lstStyle/>
                    <a:p>
                      <a:pPr algn="ctr"/>
                      <a:r>
                        <a:rPr sz="1000">
                          <a:solidFill>
                            <a:srgbClr val="333333"/>
                          </a:solidFill>
                          <a:latin typeface="Calibri"/>
                        </a:rPr>
                        <a:t>Khulna</a:t>
                      </a:r>
                    </a:p>
                  </a:txBody>
                  <a:tcPr/>
                </a:tc>
                <a:tc>
                  <a:txBody>
                    <a:bodyPr/>
                    <a:lstStyle/>
                    <a:p>
                      <a:pPr algn="ctr"/>
                      <a:r>
                        <a:rPr sz="1000">
                          <a:solidFill>
                            <a:srgbClr val="333333"/>
                          </a:solidFill>
                          <a:latin typeface="Calibri"/>
                        </a:rPr>
                        <a:t>Coastal</a:t>
                      </a:r>
                    </a:p>
                  </a:txBody>
                  <a:tcPr/>
                </a:tc>
                <a:tc>
                  <a:txBody>
                    <a:bodyPr/>
                    <a:lstStyle/>
                    <a:p>
                      <a:pPr algn="ctr"/>
                      <a:r>
                        <a:rPr sz="1000">
                          <a:solidFill>
                            <a:srgbClr val="333333"/>
                          </a:solidFill>
                          <a:latin typeface="Calibri"/>
                        </a:rPr>
                        <a:t>0.658</a:t>
                      </a:r>
                    </a:p>
                  </a:txBody>
                  <a:tcPr/>
                </a:tc>
                <a:tc>
                  <a:txBody>
                    <a:bodyPr/>
                    <a:lstStyle/>
                    <a:p>
                      <a:pPr algn="ctr"/>
                      <a:r>
                        <a:rPr sz="1000">
                          <a:solidFill>
                            <a:srgbClr val="333333"/>
                          </a:solidFill>
                          <a:latin typeface="Calibri"/>
                        </a:rPr>
                        <a:t>Moderate</a:t>
                      </a:r>
                    </a:p>
                  </a:txBody>
                  <a:tcPr/>
                </a:tc>
              </a:tr>
              <a:tr h="432261">
                <a:tc>
                  <a:txBody>
                    <a:bodyPr/>
                    <a:lstStyle/>
                    <a:p>
                      <a:pPr algn="ctr"/>
                      <a:r>
                        <a:rPr sz="1000">
                          <a:solidFill>
                            <a:srgbClr val="333333"/>
                          </a:solidFill>
                          <a:latin typeface="Calibri"/>
                        </a:rPr>
                        <a:t>9</a:t>
                      </a:r>
                    </a:p>
                  </a:txBody>
                  <a:tcPr/>
                </a:tc>
                <a:tc>
                  <a:txBody>
                    <a:bodyPr/>
                    <a:lstStyle/>
                    <a:p>
                      <a:pPr algn="ctr"/>
                      <a:r>
                        <a:rPr sz="1000">
                          <a:solidFill>
                            <a:srgbClr val="333333"/>
                          </a:solidFill>
                          <a:latin typeface="Calibri"/>
                        </a:rPr>
                        <a:t>Tahirpur</a:t>
                      </a:r>
                    </a:p>
                  </a:txBody>
                  <a:tcPr/>
                </a:tc>
                <a:tc>
                  <a:txBody>
                    <a:bodyPr/>
                    <a:lstStyle/>
                    <a:p>
                      <a:pPr algn="ctr"/>
                      <a:r>
                        <a:rPr sz="1000">
                          <a:solidFill>
                            <a:srgbClr val="333333"/>
                          </a:solidFill>
                          <a:latin typeface="Calibri"/>
                        </a:rPr>
                        <a:t>Sylhet</a:t>
                      </a:r>
                    </a:p>
                  </a:txBody>
                  <a:tcPr/>
                </a:tc>
                <a:tc>
                  <a:txBody>
                    <a:bodyPr/>
                    <a:lstStyle/>
                    <a:p>
                      <a:pPr algn="ctr"/>
                      <a:r>
                        <a:rPr sz="1000">
                          <a:solidFill>
                            <a:srgbClr val="333333"/>
                          </a:solidFill>
                          <a:latin typeface="Calibri"/>
                        </a:rPr>
                        <a:t>Haor</a:t>
                      </a:r>
                    </a:p>
                  </a:txBody>
                  <a:tcPr/>
                </a:tc>
                <a:tc>
                  <a:txBody>
                    <a:bodyPr/>
                    <a:lstStyle/>
                    <a:p>
                      <a:pPr algn="ctr"/>
                      <a:r>
                        <a:rPr sz="1000">
                          <a:solidFill>
                            <a:srgbClr val="333333"/>
                          </a:solidFill>
                          <a:latin typeface="Calibri"/>
                        </a:rPr>
                        <a:t>0.621</a:t>
                      </a:r>
                    </a:p>
                  </a:txBody>
                  <a:tcPr/>
                </a:tc>
                <a:tc>
                  <a:txBody>
                    <a:bodyPr/>
                    <a:lstStyle/>
                    <a:p>
                      <a:pPr algn="ctr"/>
                      <a:r>
                        <a:rPr sz="1000">
                          <a:solidFill>
                            <a:srgbClr val="333333"/>
                          </a:solidFill>
                          <a:latin typeface="Calibri"/>
                        </a:rPr>
                        <a:t>Moderate</a:t>
                      </a:r>
                    </a:p>
                  </a:txBody>
                  <a:tcPr/>
                </a:tc>
              </a:tr>
              <a:tr h="432270">
                <a:tc>
                  <a:txBody>
                    <a:bodyPr/>
                    <a:lstStyle/>
                    <a:p>
                      <a:pPr algn="ctr"/>
                      <a:r>
                        <a:rPr sz="1000">
                          <a:solidFill>
                            <a:srgbClr val="333333"/>
                          </a:solidFill>
                          <a:latin typeface="Calibri"/>
                        </a:rPr>
                        <a:t>10</a:t>
                      </a:r>
                    </a:p>
                  </a:txBody>
                  <a:tcPr/>
                </a:tc>
                <a:tc>
                  <a:txBody>
                    <a:bodyPr/>
                    <a:lstStyle/>
                    <a:p>
                      <a:pPr algn="ctr"/>
                      <a:r>
                        <a:rPr sz="1000">
                          <a:solidFill>
                            <a:srgbClr val="333333"/>
                          </a:solidFill>
                          <a:latin typeface="Calibri"/>
                        </a:rPr>
                        <a:t>Sunamganj Sadar</a:t>
                      </a:r>
                    </a:p>
                  </a:txBody>
                  <a:tcPr/>
                </a:tc>
                <a:tc>
                  <a:txBody>
                    <a:bodyPr/>
                    <a:lstStyle/>
                    <a:p>
                      <a:pPr algn="ctr"/>
                      <a:r>
                        <a:rPr sz="1000">
                          <a:solidFill>
                            <a:srgbClr val="333333"/>
                          </a:solidFill>
                          <a:latin typeface="Calibri"/>
                        </a:rPr>
                        <a:t>Sylhet</a:t>
                      </a:r>
                    </a:p>
                  </a:txBody>
                  <a:tcPr/>
                </a:tc>
                <a:tc>
                  <a:txBody>
                    <a:bodyPr/>
                    <a:lstStyle/>
                    <a:p>
                      <a:pPr algn="ctr"/>
                      <a:r>
                        <a:rPr sz="1000">
                          <a:solidFill>
                            <a:srgbClr val="333333"/>
                          </a:solidFill>
                          <a:latin typeface="Calibri"/>
                        </a:rPr>
                        <a:t>Haor</a:t>
                      </a:r>
                    </a:p>
                  </a:txBody>
                  <a:tcPr/>
                </a:tc>
                <a:tc>
                  <a:txBody>
                    <a:bodyPr/>
                    <a:lstStyle/>
                    <a:p>
                      <a:pPr algn="ctr"/>
                      <a:r>
                        <a:rPr sz="1000">
                          <a:solidFill>
                            <a:srgbClr val="333333"/>
                          </a:solidFill>
                          <a:latin typeface="Calibri"/>
                        </a:rPr>
                        <a:t>0.574</a:t>
                      </a:r>
                    </a:p>
                  </a:txBody>
                  <a:tcPr/>
                </a:tc>
                <a:tc>
                  <a:txBody>
                    <a:bodyPr/>
                    <a:lstStyle/>
                    <a:p>
                      <a:pPr algn="ctr"/>
                      <a:r>
                        <a:rPr sz="1000">
                          <a:solidFill>
                            <a:srgbClr val="333333"/>
                          </a:solidFill>
                          <a:latin typeface="Calibri"/>
                        </a:rPr>
                        <a:t>Moderate</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Key Findings – Overall MEPI Distribution</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Poverty Classification Across 492 Upazilas | Sample: 20 Upazilas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7 / 13</a:t>
            </a:r>
          </a:p>
        </p:txBody>
      </p:sp>
      <p:graphicFrame>
        <p:nvGraphicFramePr>
          <p:cNvPr id="10" name="Chart 9"/>
          <p:cNvGraphicFramePr>
            <a:graphicFrameLocks noGrp="1"/>
          </p:cNvGraphicFramePr>
          <p:nvPr/>
        </p:nvGraphicFramePr>
        <p:xfrm>
          <a:off x="274320" y="1097280"/>
          <a:ext cx="5486400" cy="4389120"/>
        </p:xfrm>
        <a:graphic>
          <a:graphicData uri="http://schemas.openxmlformats.org/drawingml/2006/chart">
            <c:chart xmlns:c="http://schemas.openxmlformats.org/drawingml/2006/chart" r:id="rId2"/>
          </a:graphicData>
        </a:graphic>
      </p:graphicFrame>
      <p:sp>
        <p:nvSpPr>
          <p:cNvPr id="11" name="TextBox 10"/>
          <p:cNvSpPr txBox="1"/>
          <p:nvPr/>
        </p:nvSpPr>
        <p:spPr>
          <a:xfrm>
            <a:off x="5943600" y="1097280"/>
            <a:ext cx="5943600" cy="365760"/>
          </a:xfrm>
          <a:prstGeom prst="rect">
            <a:avLst/>
          </a:prstGeom>
          <a:noFill/>
        </p:spPr>
        <p:txBody>
          <a:bodyPr wrap="square">
            <a:spAutoFit/>
          </a:bodyPr>
          <a:lstStyle/>
          <a:p>
            <a:pPr algn="l"/>
            <a:r>
              <a:rPr sz="1600" b="1" i="0">
                <a:solidFill>
                  <a:srgbClr val="1F4E78"/>
                </a:solidFill>
                <a:latin typeface="Calibri"/>
              </a:rPr>
              <a:t>Summary Statistics</a:t>
            </a:r>
          </a:p>
        </p:txBody>
      </p:sp>
      <p:graphicFrame>
        <p:nvGraphicFramePr>
          <p:cNvPr id="12" name="Table 11"/>
          <p:cNvGraphicFramePr>
            <a:graphicFrameLocks noGrp="1"/>
          </p:cNvGraphicFramePr>
          <p:nvPr/>
        </p:nvGraphicFramePr>
        <p:xfrm>
          <a:off x="5943600" y="1508760"/>
          <a:ext cx="5943600" cy="4114800"/>
        </p:xfrm>
        <a:graphic>
          <a:graphicData uri="http://schemas.openxmlformats.org/drawingml/2006/table">
            <a:tbl>
              <a:tblPr firstRow="1" bandRow="1">
                <a:tableStyleId>{5C22544A-7EE6-4342-B048-85BDC9FD1C3A}</a:tableStyleId>
              </a:tblPr>
              <a:tblGrid>
                <a:gridCol w="2560320"/>
                <a:gridCol w="3383280"/>
              </a:tblGrid>
              <a:tr h="342900">
                <a:tc>
                  <a:txBody>
                    <a:bodyPr/>
                    <a:lstStyle/>
                    <a:p>
                      <a:pPr algn="ctr"/>
                      <a:r>
                        <a:rPr sz="1100" b="1">
                          <a:solidFill>
                            <a:srgbClr val="FFFFFF"/>
                          </a:solidFill>
                          <a:latin typeface="Calibri"/>
                        </a:rPr>
                        <a:t>Metric</a:t>
                      </a:r>
                    </a:p>
                  </a:txBody>
                  <a:tcPr>
                    <a:solidFill>
                      <a:srgbClr val="1F4E78"/>
                    </a:solidFill>
                  </a:tcPr>
                </a:tc>
                <a:tc>
                  <a:txBody>
                    <a:bodyPr/>
                    <a:lstStyle/>
                    <a:p>
                      <a:pPr algn="ctr"/>
                      <a:r>
                        <a:rPr sz="1100" b="1">
                          <a:solidFill>
                            <a:srgbClr val="FFFFFF"/>
                          </a:solidFill>
                          <a:latin typeface="Calibri"/>
                        </a:rPr>
                        <a:t>Value</a:t>
                      </a:r>
                    </a:p>
                  </a:txBody>
                  <a:tcPr>
                    <a:solidFill>
                      <a:srgbClr val="1F4E78"/>
                    </a:solidFill>
                  </a:tcPr>
                </a:tc>
              </a:tr>
              <a:tr h="342900">
                <a:tc>
                  <a:txBody>
                    <a:bodyPr/>
                    <a:lstStyle/>
                    <a:p>
                      <a:pPr algn="ctr"/>
                      <a:r>
                        <a:rPr sz="1100">
                          <a:solidFill>
                            <a:srgbClr val="333333"/>
                          </a:solidFill>
                          <a:latin typeface="Calibri"/>
                        </a:rPr>
                        <a:t>Total Upazilas (Sample)</a:t>
                      </a:r>
                    </a:p>
                  </a:txBody>
                  <a:tcPr/>
                </a:tc>
                <a:tc>
                  <a:txBody>
                    <a:bodyPr/>
                    <a:lstStyle/>
                    <a:p>
                      <a:pPr algn="ctr"/>
                      <a:r>
                        <a:rPr sz="1100">
                          <a:solidFill>
                            <a:srgbClr val="333333"/>
                          </a:solidFill>
                          <a:latin typeface="Calibri"/>
                        </a:rPr>
                        <a:t>20</a:t>
                      </a:r>
                    </a:p>
                  </a:txBody>
                  <a:tcPr/>
                </a:tc>
              </a:tr>
              <a:tr h="342900">
                <a:tc>
                  <a:txBody>
                    <a:bodyPr/>
                    <a:lstStyle/>
                    <a:p>
                      <a:pPr algn="ctr"/>
                      <a:r>
                        <a:rPr sz="1100">
                          <a:solidFill>
                            <a:srgbClr val="333333"/>
                          </a:solidFill>
                          <a:latin typeface="Calibri"/>
                        </a:rPr>
                        <a:t>Min MEPI Score</a:t>
                      </a:r>
                    </a:p>
                  </a:txBody>
                  <a:tcPr/>
                </a:tc>
                <a:tc>
                  <a:txBody>
                    <a:bodyPr/>
                    <a:lstStyle/>
                    <a:p>
                      <a:pPr algn="ctr"/>
                      <a:r>
                        <a:rPr sz="1100">
                          <a:solidFill>
                            <a:srgbClr val="333333"/>
                          </a:solidFill>
                          <a:latin typeface="Calibri"/>
                        </a:rPr>
                        <a:t>0.182 (Savar, Dhaka)</a:t>
                      </a:r>
                    </a:p>
                  </a:txBody>
                  <a:tcPr/>
                </a:tc>
              </a:tr>
              <a:tr h="342900">
                <a:tc>
                  <a:txBody>
                    <a:bodyPr/>
                    <a:lstStyle/>
                    <a:p>
                      <a:pPr algn="ctr"/>
                      <a:r>
                        <a:rPr sz="1100">
                          <a:solidFill>
                            <a:srgbClr val="333333"/>
                          </a:solidFill>
                          <a:latin typeface="Calibri"/>
                        </a:rPr>
                        <a:t>Max MEPI Score</a:t>
                      </a:r>
                    </a:p>
                  </a:txBody>
                  <a:tcPr/>
                </a:tc>
                <a:tc>
                  <a:txBody>
                    <a:bodyPr/>
                    <a:lstStyle/>
                    <a:p>
                      <a:pPr algn="ctr"/>
                      <a:r>
                        <a:rPr sz="1100">
                          <a:solidFill>
                            <a:srgbClr val="333333"/>
                          </a:solidFill>
                          <a:latin typeface="Calibri"/>
                        </a:rPr>
                        <a:t>0.847 (Rowangchhari, CHT)</a:t>
                      </a:r>
                    </a:p>
                  </a:txBody>
                  <a:tcPr/>
                </a:tc>
              </a:tr>
              <a:tr h="342900">
                <a:tc>
                  <a:txBody>
                    <a:bodyPr/>
                    <a:lstStyle/>
                    <a:p>
                      <a:pPr algn="ctr"/>
                      <a:r>
                        <a:rPr sz="1100">
                          <a:solidFill>
                            <a:srgbClr val="333333"/>
                          </a:solidFill>
                          <a:latin typeface="Calibri"/>
                        </a:rPr>
                        <a:t>Mean MEPI Score</a:t>
                      </a:r>
                    </a:p>
                  </a:txBody>
                  <a:tcPr/>
                </a:tc>
                <a:tc>
                  <a:txBody>
                    <a:bodyPr/>
                    <a:lstStyle/>
                    <a:p>
                      <a:pPr algn="ctr"/>
                      <a:r>
                        <a:rPr sz="1100">
                          <a:solidFill>
                            <a:srgbClr val="333333"/>
                          </a:solidFill>
                          <a:latin typeface="Calibri"/>
                        </a:rPr>
                        <a:t>0.524</a:t>
                      </a:r>
                    </a:p>
                  </a:txBody>
                  <a:tcPr/>
                </a:tc>
              </a:tr>
              <a:tr h="342900">
                <a:tc>
                  <a:txBody>
                    <a:bodyPr/>
                    <a:lstStyle/>
                    <a:p>
                      <a:pPr algn="ctr"/>
                      <a:r>
                        <a:rPr sz="1100">
                          <a:solidFill>
                            <a:srgbClr val="333333"/>
                          </a:solidFill>
                          <a:latin typeface="Calibri"/>
                        </a:rPr>
                        <a:t>Median MEPI Score</a:t>
                      </a:r>
                    </a:p>
                  </a:txBody>
                  <a:tcPr/>
                </a:tc>
                <a:tc>
                  <a:txBody>
                    <a:bodyPr/>
                    <a:lstStyle/>
                    <a:p>
                      <a:pPr algn="ctr"/>
                      <a:r>
                        <a:rPr sz="1100">
                          <a:solidFill>
                            <a:srgbClr val="333333"/>
                          </a:solidFill>
                          <a:latin typeface="Calibri"/>
                        </a:rPr>
                        <a:t>0.521</a:t>
                      </a:r>
                    </a:p>
                  </a:txBody>
                  <a:tcPr/>
                </a:tc>
              </a:tr>
              <a:tr h="342900">
                <a:tc>
                  <a:txBody>
                    <a:bodyPr/>
                    <a:lstStyle/>
                    <a:p>
                      <a:pPr algn="ctr"/>
                      <a:r>
                        <a:rPr sz="1100">
                          <a:solidFill>
                            <a:srgbClr val="333333"/>
                          </a:solidFill>
                          <a:latin typeface="Calibri"/>
                        </a:rPr>
                        <a:t>Std. Deviation</a:t>
                      </a:r>
                    </a:p>
                  </a:txBody>
                  <a:tcPr/>
                </a:tc>
                <a:tc>
                  <a:txBody>
                    <a:bodyPr/>
                    <a:lstStyle/>
                    <a:p>
                      <a:pPr algn="ctr"/>
                      <a:r>
                        <a:rPr sz="1100">
                          <a:solidFill>
                            <a:srgbClr val="333333"/>
                          </a:solidFill>
                          <a:latin typeface="Calibri"/>
                        </a:rPr>
                        <a:t>0.163</a:t>
                      </a:r>
                    </a:p>
                  </a:txBody>
                  <a:tcPr/>
                </a:tc>
              </a:tr>
              <a:tr h="342900">
                <a:tc>
                  <a:txBody>
                    <a:bodyPr/>
                    <a:lstStyle/>
                    <a:p>
                      <a:pPr algn="ctr"/>
                      <a:r>
                        <a:rPr sz="1100">
                          <a:solidFill>
                            <a:srgbClr val="333333"/>
                          </a:solidFill>
                          <a:latin typeface="Calibri"/>
                        </a:rPr>
                        <a:t>Score Range</a:t>
                      </a:r>
                    </a:p>
                  </a:txBody>
                  <a:tcPr/>
                </a:tc>
                <a:tc>
                  <a:txBody>
                    <a:bodyPr/>
                    <a:lstStyle/>
                    <a:p>
                      <a:pPr algn="ctr"/>
                      <a:r>
                        <a:rPr sz="1100">
                          <a:solidFill>
                            <a:srgbClr val="333333"/>
                          </a:solidFill>
                          <a:latin typeface="Calibri"/>
                        </a:rPr>
                        <a:t>0.665</a:t>
                      </a:r>
                    </a:p>
                  </a:txBody>
                  <a:tcPr/>
                </a:tc>
              </a:tr>
              <a:tr h="342900">
                <a:tc>
                  <a:txBody>
                    <a:bodyPr/>
                    <a:lstStyle/>
                    <a:p>
                      <a:pPr algn="ctr"/>
                      <a:r>
                        <a:rPr sz="1100">
                          <a:solidFill>
                            <a:srgbClr val="333333"/>
                          </a:solidFill>
                          <a:latin typeface="Calibri"/>
                        </a:rPr>
                        <a:t>Non-Poor (≤0.33)</a:t>
                      </a:r>
                    </a:p>
                  </a:txBody>
                  <a:tcPr/>
                </a:tc>
                <a:tc>
                  <a:txBody>
                    <a:bodyPr/>
                    <a:lstStyle/>
                    <a:p>
                      <a:pPr algn="ctr"/>
                      <a:r>
                        <a:rPr sz="1100">
                          <a:solidFill>
                            <a:srgbClr val="333333"/>
                          </a:solidFill>
                          <a:latin typeface="Calibri"/>
                        </a:rPr>
                        <a:t>10.0% upazilas</a:t>
                      </a:r>
                    </a:p>
                  </a:txBody>
                  <a:tcPr/>
                </a:tc>
              </a:tr>
              <a:tr h="342900">
                <a:tc>
                  <a:txBody>
                    <a:bodyPr/>
                    <a:lstStyle/>
                    <a:p>
                      <a:pPr algn="ctr"/>
                      <a:r>
                        <a:rPr sz="1100">
                          <a:solidFill>
                            <a:srgbClr val="333333"/>
                          </a:solidFill>
                          <a:latin typeface="Calibri"/>
                        </a:rPr>
                        <a:t>Moderately Poor</a:t>
                      </a:r>
                    </a:p>
                  </a:txBody>
                  <a:tcPr/>
                </a:tc>
                <a:tc>
                  <a:txBody>
                    <a:bodyPr/>
                    <a:lstStyle/>
                    <a:p>
                      <a:pPr algn="ctr"/>
                      <a:r>
                        <a:rPr sz="1100">
                          <a:solidFill>
                            <a:srgbClr val="333333"/>
                          </a:solidFill>
                          <a:latin typeface="Calibri"/>
                        </a:rPr>
                        <a:t>55.0% upazilas</a:t>
                      </a:r>
                    </a:p>
                  </a:txBody>
                  <a:tcPr/>
                </a:tc>
              </a:tr>
              <a:tr h="342900">
                <a:tc>
                  <a:txBody>
                    <a:bodyPr/>
                    <a:lstStyle/>
                    <a:p>
                      <a:pPr algn="ctr"/>
                      <a:r>
                        <a:rPr sz="1100">
                          <a:solidFill>
                            <a:srgbClr val="333333"/>
                          </a:solidFill>
                          <a:latin typeface="Calibri"/>
                        </a:rPr>
                        <a:t>Severely Poor (&gt;0.66)</a:t>
                      </a:r>
                    </a:p>
                  </a:txBody>
                  <a:tcPr/>
                </a:tc>
                <a:tc>
                  <a:txBody>
                    <a:bodyPr/>
                    <a:lstStyle/>
                    <a:p>
                      <a:pPr algn="ctr"/>
                      <a:r>
                        <a:rPr sz="1100">
                          <a:solidFill>
                            <a:srgbClr val="333333"/>
                          </a:solidFill>
                          <a:latin typeface="Calibri"/>
                        </a:rPr>
                        <a:t>35.0% upazilas</a:t>
                      </a:r>
                    </a:p>
                  </a:txBody>
                  <a:tcPr/>
                </a:tc>
              </a:tr>
              <a:tr h="342900">
                <a:tc>
                  <a:txBody>
                    <a:bodyPr/>
                    <a:lstStyle/>
                    <a:p>
                      <a:pPr algn="ctr"/>
                      <a:r>
                        <a:rPr sz="1100">
                          <a:solidFill>
                            <a:srgbClr val="333333"/>
                          </a:solidFill>
                          <a:latin typeface="Calibri"/>
                        </a:rPr>
                        <a:t>Moran's I (Spatial)</a:t>
                      </a:r>
                    </a:p>
                  </a:txBody>
                  <a:tcPr/>
                </a:tc>
                <a:tc>
                  <a:txBody>
                    <a:bodyPr/>
                    <a:lstStyle/>
                    <a:p>
                      <a:pPr algn="ctr"/>
                      <a:r>
                        <a:rPr sz="1100">
                          <a:solidFill>
                            <a:srgbClr val="333333"/>
                          </a:solidFill>
                          <a:latin typeface="Calibri"/>
                        </a:rPr>
                        <a:t>0.72 (strong clustering)</a:t>
                      </a:r>
                    </a:p>
                  </a:txBody>
                  <a:tcPr/>
                </a:tc>
              </a:tr>
            </a:tbl>
          </a:graphicData>
        </a:graphic>
      </p:graphicFrame>
      <p:sp>
        <p:nvSpPr>
          <p:cNvPr id="13" name="Rectangle 12"/>
          <p:cNvSpPr/>
          <p:nvPr/>
        </p:nvSpPr>
        <p:spPr>
          <a:xfrm>
            <a:off x="274320" y="5577840"/>
            <a:ext cx="11612880" cy="685800"/>
          </a:xfrm>
          <a:prstGeom prst="rect">
            <a:avLst/>
          </a:prstGeom>
          <a:solidFill>
            <a:srgbClr val="FFF3E0"/>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650992"/>
            <a:ext cx="11247120" cy="548640"/>
          </a:xfrm>
          <a:prstGeom prst="rect">
            <a:avLst/>
          </a:prstGeom>
          <a:noFill/>
        </p:spPr>
        <p:txBody>
          <a:bodyPr wrap="square">
            <a:spAutoFit/>
          </a:bodyPr>
          <a:lstStyle/>
          <a:p>
            <a:pPr algn="l"/>
            <a:r>
              <a:rPr sz="1300" b="1" i="0">
                <a:solidFill>
                  <a:srgbClr val="8B4500"/>
                </a:solidFill>
                <a:latin typeface="Calibri"/>
              </a:rPr>
              <a:t>KEY INSIGHT: 90% of upazilas show moderate-to-severe energy poverty. Moran's I = 0.72 confirms strong spatial clustering — poverty concentrates in Hill Tracts, Coastal, and Char Island zones.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Geographic Hotspots – Spatial Distribution of Energy Poverty</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8 Administrative Divisions | 5 Geographic Zones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8 / 13</a:t>
            </a:r>
          </a:p>
        </p:txBody>
      </p:sp>
      <p:sp>
        <p:nvSpPr>
          <p:cNvPr id="10" name="Rectangle 9"/>
          <p:cNvSpPr/>
          <p:nvPr/>
        </p:nvSpPr>
        <p:spPr>
          <a:xfrm>
            <a:off x="274320" y="1097280"/>
            <a:ext cx="4846320" cy="5120640"/>
          </a:xfrm>
          <a:prstGeom prst="rect">
            <a:avLst/>
          </a:prstGeom>
          <a:solidFill>
            <a:srgbClr val="E8F4FF"/>
          </a:solidFill>
          <a:ln w="254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560320"/>
            <a:ext cx="4297680" cy="457200"/>
          </a:xfrm>
          <a:prstGeom prst="rect">
            <a:avLst/>
          </a:prstGeom>
          <a:noFill/>
        </p:spPr>
        <p:txBody>
          <a:bodyPr wrap="square">
            <a:spAutoFit/>
          </a:bodyPr>
          <a:lstStyle/>
          <a:p>
            <a:pPr algn="ctr"/>
            <a:r>
              <a:rPr sz="1600" b="1" i="0">
                <a:solidFill>
                  <a:srgbClr val="1F4E78"/>
                </a:solidFill>
                <a:latin typeface="Calibri"/>
              </a:rPr>
              <a:t>[ SPATIAL MAP PLACEHOLDER ]</a:t>
            </a:r>
          </a:p>
        </p:txBody>
      </p:sp>
      <p:sp>
        <p:nvSpPr>
          <p:cNvPr id="12" name="TextBox 11"/>
          <p:cNvSpPr txBox="1"/>
          <p:nvPr/>
        </p:nvSpPr>
        <p:spPr>
          <a:xfrm>
            <a:off x="548640" y="3017520"/>
            <a:ext cx="4297680" cy="1097280"/>
          </a:xfrm>
          <a:prstGeom prst="rect">
            <a:avLst/>
          </a:prstGeom>
          <a:noFill/>
        </p:spPr>
        <p:txBody>
          <a:bodyPr wrap="square">
            <a:spAutoFit/>
          </a:bodyPr>
          <a:lstStyle/>
          <a:p>
            <a:pPr algn="ctr"/>
            <a:r>
              <a:rPr sz="1200" b="0" i="1">
                <a:solidFill>
                  <a:srgbClr val="6688AA"/>
                </a:solidFill>
                <a:latin typeface="Calibri"/>
              </a:rPr>
              <a:t>Insert: Bangladesh MEPI Spatial Map
File: spatial_distribution_map.png
Color scale: Green (low) → Red (high)
Use outputs from correct_spatial_mapping.py</a:t>
            </a:r>
          </a:p>
        </p:txBody>
      </p:sp>
      <p:sp>
        <p:nvSpPr>
          <p:cNvPr id="13" name="TextBox 12"/>
          <p:cNvSpPr txBox="1"/>
          <p:nvPr/>
        </p:nvSpPr>
        <p:spPr>
          <a:xfrm>
            <a:off x="5303520" y="1097280"/>
            <a:ext cx="6583680" cy="365760"/>
          </a:xfrm>
          <a:prstGeom prst="rect">
            <a:avLst/>
          </a:prstGeom>
          <a:noFill/>
        </p:spPr>
        <p:txBody>
          <a:bodyPr wrap="square">
            <a:spAutoFit/>
          </a:bodyPr>
          <a:lstStyle/>
          <a:p>
            <a:pPr algn="l"/>
            <a:r>
              <a:rPr sz="1500" b="1" i="0">
                <a:solidFill>
                  <a:srgbClr val="1F4E78"/>
                </a:solidFill>
                <a:latin typeface="Calibri"/>
              </a:rPr>
              <a:t>Mean MEPI Score by Division</a:t>
            </a:r>
          </a:p>
        </p:txBody>
      </p:sp>
      <p:graphicFrame>
        <p:nvGraphicFramePr>
          <p:cNvPr id="14" name="Table 13"/>
          <p:cNvGraphicFramePr>
            <a:graphicFrameLocks noGrp="1"/>
          </p:cNvGraphicFramePr>
          <p:nvPr/>
        </p:nvGraphicFramePr>
        <p:xfrm>
          <a:off x="5303520" y="1508760"/>
          <a:ext cx="6583680" cy="2743200"/>
        </p:xfrm>
        <a:graphic>
          <a:graphicData uri="http://schemas.openxmlformats.org/drawingml/2006/table">
            <a:tbl>
              <a:tblPr firstRow="1" bandRow="1">
                <a:tableStyleId>{5C22544A-7EE6-4342-B048-85BDC9FD1C3A}</a:tableStyleId>
              </a:tblPr>
              <a:tblGrid>
                <a:gridCol w="1737360"/>
                <a:gridCol w="1097280"/>
                <a:gridCol w="2103120"/>
                <a:gridCol w="1645920"/>
              </a:tblGrid>
              <a:tr h="304800">
                <a:tc>
                  <a:txBody>
                    <a:bodyPr/>
                    <a:lstStyle/>
                    <a:p>
                      <a:pPr algn="ctr"/>
                      <a:r>
                        <a:rPr sz="1100" b="1">
                          <a:solidFill>
                            <a:srgbClr val="FFFFFF"/>
                          </a:solidFill>
                          <a:latin typeface="Calibri"/>
                        </a:rPr>
                        <a:t>Division</a:t>
                      </a:r>
                    </a:p>
                  </a:txBody>
                  <a:tcPr>
                    <a:solidFill>
                      <a:srgbClr val="1F4E78"/>
                    </a:solidFill>
                  </a:tcPr>
                </a:tc>
                <a:tc>
                  <a:txBody>
                    <a:bodyPr/>
                    <a:lstStyle/>
                    <a:p>
                      <a:pPr algn="ctr"/>
                      <a:r>
                        <a:rPr sz="1100" b="1">
                          <a:solidFill>
                            <a:srgbClr val="FFFFFF"/>
                          </a:solidFill>
                          <a:latin typeface="Calibri"/>
                        </a:rPr>
                        <a:t>Avg MEPI</a:t>
                      </a:r>
                    </a:p>
                  </a:txBody>
                  <a:tcPr>
                    <a:solidFill>
                      <a:srgbClr val="1F4E78"/>
                    </a:solidFill>
                  </a:tcPr>
                </a:tc>
                <a:tc>
                  <a:txBody>
                    <a:bodyPr/>
                    <a:lstStyle/>
                    <a:p>
                      <a:pPr algn="ctr"/>
                      <a:r>
                        <a:rPr sz="1100" b="1">
                          <a:solidFill>
                            <a:srgbClr val="FFFFFF"/>
                          </a:solidFill>
                          <a:latin typeface="Calibri"/>
                        </a:rPr>
                        <a:t>Classification</a:t>
                      </a:r>
                    </a:p>
                  </a:txBody>
                  <a:tcPr>
                    <a:solidFill>
                      <a:srgbClr val="1F4E78"/>
                    </a:solidFill>
                  </a:tcPr>
                </a:tc>
                <a:tc>
                  <a:txBody>
                    <a:bodyPr/>
                    <a:lstStyle/>
                    <a:p>
                      <a:pPr algn="ctr"/>
                      <a:r>
                        <a:rPr sz="1100" b="1">
                          <a:solidFill>
                            <a:srgbClr val="FFFFFF"/>
                          </a:solidFill>
                          <a:latin typeface="Calibri"/>
                        </a:rPr>
                        <a:t># Upazilas</a:t>
                      </a:r>
                    </a:p>
                  </a:txBody>
                  <a:tcPr>
                    <a:solidFill>
                      <a:srgbClr val="1F4E78"/>
                    </a:solidFill>
                  </a:tcPr>
                </a:tc>
              </a:tr>
              <a:tr h="304800">
                <a:tc>
                  <a:txBody>
                    <a:bodyPr/>
                    <a:lstStyle/>
                    <a:p>
                      <a:pPr algn="ctr"/>
                      <a:r>
                        <a:rPr sz="1100">
                          <a:solidFill>
                            <a:srgbClr val="333333"/>
                          </a:solidFill>
                          <a:latin typeface="Calibri"/>
                        </a:rPr>
                        <a:t>Dhaka</a:t>
                      </a:r>
                    </a:p>
                  </a:txBody>
                  <a:tcPr/>
                </a:tc>
                <a:tc>
                  <a:txBody>
                    <a:bodyPr/>
                    <a:lstStyle/>
                    <a:p>
                      <a:pPr algn="ctr"/>
                      <a:r>
                        <a:rPr sz="1100">
                          <a:solidFill>
                            <a:srgbClr val="333333"/>
                          </a:solidFill>
                          <a:latin typeface="Calibri"/>
                        </a:rPr>
                        <a:t>0.248</a:t>
                      </a:r>
                    </a:p>
                  </a:txBody>
                  <a:tcPr/>
                </a:tc>
                <a:tc>
                  <a:txBody>
                    <a:bodyPr/>
                    <a:lstStyle/>
                    <a:p>
                      <a:pPr algn="ctr"/>
                      <a:r>
                        <a:rPr sz="1100">
                          <a:solidFill>
                            <a:srgbClr val="333333"/>
                          </a:solidFill>
                          <a:latin typeface="Calibri"/>
                        </a:rPr>
                        <a:t>Non-Poor</a:t>
                      </a:r>
                    </a:p>
                  </a:txBody>
                  <a:tcPr/>
                </a:tc>
                <a:tc>
                  <a:txBody>
                    <a:bodyPr/>
                    <a:lstStyle/>
                    <a:p>
                      <a:pPr algn="ctr"/>
                      <a:r>
                        <a:rPr sz="1100">
                          <a:solidFill>
                            <a:srgbClr val="333333"/>
                          </a:solidFill>
                          <a:latin typeface="Calibri"/>
                        </a:rPr>
                        <a:t>≈58</a:t>
                      </a:r>
                    </a:p>
                  </a:txBody>
                  <a:tcPr/>
                </a:tc>
              </a:tr>
              <a:tr h="304800">
                <a:tc>
                  <a:txBody>
                    <a:bodyPr/>
                    <a:lstStyle/>
                    <a:p>
                      <a:pPr algn="ctr"/>
                      <a:r>
                        <a:rPr sz="1100">
                          <a:solidFill>
                            <a:srgbClr val="333333"/>
                          </a:solidFill>
                          <a:latin typeface="Calibri"/>
                        </a:rPr>
                        <a:t>Rajshahi</a:t>
                      </a:r>
                    </a:p>
                  </a:txBody>
                  <a:tcPr/>
                </a:tc>
                <a:tc>
                  <a:txBody>
                    <a:bodyPr/>
                    <a:lstStyle/>
                    <a:p>
                      <a:pPr algn="ctr"/>
                      <a:r>
                        <a:rPr sz="1100">
                          <a:solidFill>
                            <a:srgbClr val="333333"/>
                          </a:solidFill>
                          <a:latin typeface="Calibri"/>
                        </a:rPr>
                        <a:t>0.310</a:t>
                      </a:r>
                    </a:p>
                  </a:txBody>
                  <a:tcPr/>
                </a:tc>
                <a:tc>
                  <a:txBody>
                    <a:bodyPr/>
                    <a:lstStyle/>
                    <a:p>
                      <a:pPr algn="ctr"/>
                      <a:r>
                        <a:rPr sz="1100">
                          <a:solidFill>
                            <a:srgbClr val="333333"/>
                          </a:solidFill>
                          <a:latin typeface="Calibri"/>
                        </a:rPr>
                        <a:t>Non-Poor</a:t>
                      </a:r>
                    </a:p>
                  </a:txBody>
                  <a:tcPr/>
                </a:tc>
                <a:tc>
                  <a:txBody>
                    <a:bodyPr/>
                    <a:lstStyle/>
                    <a:p>
                      <a:pPr algn="ctr"/>
                      <a:r>
                        <a:rPr sz="1100">
                          <a:solidFill>
                            <a:srgbClr val="333333"/>
                          </a:solidFill>
                          <a:latin typeface="Calibri"/>
                        </a:rPr>
                        <a:t>≈72</a:t>
                      </a:r>
                    </a:p>
                  </a:txBody>
                  <a:tcPr/>
                </a:tc>
              </a:tr>
              <a:tr h="304800">
                <a:tc>
                  <a:txBody>
                    <a:bodyPr/>
                    <a:lstStyle/>
                    <a:p>
                      <a:pPr algn="ctr"/>
                      <a:r>
                        <a:rPr sz="1100">
                          <a:solidFill>
                            <a:srgbClr val="333333"/>
                          </a:solidFill>
                          <a:latin typeface="Calibri"/>
                        </a:rPr>
                        <a:t>Barishal</a:t>
                      </a:r>
                    </a:p>
                  </a:txBody>
                  <a:tcPr/>
                </a:tc>
                <a:tc>
                  <a:txBody>
                    <a:bodyPr/>
                    <a:lstStyle/>
                    <a:p>
                      <a:pPr algn="ctr"/>
                      <a:r>
                        <a:rPr sz="1100">
                          <a:solidFill>
                            <a:srgbClr val="333333"/>
                          </a:solidFill>
                          <a:latin typeface="Calibri"/>
                        </a:rPr>
                        <a:t>0.395</a:t>
                      </a:r>
                    </a:p>
                  </a:txBody>
                  <a:tcPr/>
                </a:tc>
                <a:tc>
                  <a:txBody>
                    <a:bodyPr/>
                    <a:lstStyle/>
                    <a:p>
                      <a:pPr algn="ctr"/>
                      <a:r>
                        <a:rPr sz="1100">
                          <a:solidFill>
                            <a:srgbClr val="333333"/>
                          </a:solidFill>
                          <a:latin typeface="Calibri"/>
                        </a:rPr>
                        <a:t>Moderate</a:t>
                      </a:r>
                    </a:p>
                  </a:txBody>
                  <a:tcPr/>
                </a:tc>
                <a:tc>
                  <a:txBody>
                    <a:bodyPr/>
                    <a:lstStyle/>
                    <a:p>
                      <a:pPr algn="ctr"/>
                      <a:r>
                        <a:rPr sz="1100">
                          <a:solidFill>
                            <a:srgbClr val="333333"/>
                          </a:solidFill>
                          <a:latin typeface="Calibri"/>
                        </a:rPr>
                        <a:t>≈39</a:t>
                      </a:r>
                    </a:p>
                  </a:txBody>
                  <a:tcPr/>
                </a:tc>
              </a:tr>
              <a:tr h="304800">
                <a:tc>
                  <a:txBody>
                    <a:bodyPr/>
                    <a:lstStyle/>
                    <a:p>
                      <a:pPr algn="ctr"/>
                      <a:r>
                        <a:rPr sz="1100">
                          <a:solidFill>
                            <a:srgbClr val="333333"/>
                          </a:solidFill>
                          <a:latin typeface="Calibri"/>
                        </a:rPr>
                        <a:t>Sylhet</a:t>
                      </a:r>
                    </a:p>
                  </a:txBody>
                  <a:tcPr/>
                </a:tc>
                <a:tc>
                  <a:txBody>
                    <a:bodyPr/>
                    <a:lstStyle/>
                    <a:p>
                      <a:pPr algn="ctr"/>
                      <a:r>
                        <a:rPr sz="1100">
                          <a:solidFill>
                            <a:srgbClr val="333333"/>
                          </a:solidFill>
                          <a:latin typeface="Calibri"/>
                        </a:rPr>
                        <a:t>0.468</a:t>
                      </a:r>
                    </a:p>
                  </a:txBody>
                  <a:tcPr/>
                </a:tc>
                <a:tc>
                  <a:txBody>
                    <a:bodyPr/>
                    <a:lstStyle/>
                    <a:p>
                      <a:pPr algn="ctr"/>
                      <a:r>
                        <a:rPr sz="1100">
                          <a:solidFill>
                            <a:srgbClr val="333333"/>
                          </a:solidFill>
                          <a:latin typeface="Calibri"/>
                        </a:rPr>
                        <a:t>Moderate</a:t>
                      </a:r>
                    </a:p>
                  </a:txBody>
                  <a:tcPr/>
                </a:tc>
                <a:tc>
                  <a:txBody>
                    <a:bodyPr/>
                    <a:lstStyle/>
                    <a:p>
                      <a:pPr algn="ctr"/>
                      <a:r>
                        <a:rPr sz="1100">
                          <a:solidFill>
                            <a:srgbClr val="333333"/>
                          </a:solidFill>
                          <a:latin typeface="Calibri"/>
                        </a:rPr>
                        <a:t>≈40</a:t>
                      </a:r>
                    </a:p>
                  </a:txBody>
                  <a:tcPr/>
                </a:tc>
              </a:tr>
              <a:tr h="304800">
                <a:tc>
                  <a:txBody>
                    <a:bodyPr/>
                    <a:lstStyle/>
                    <a:p>
                      <a:pPr algn="ctr"/>
                      <a:r>
                        <a:rPr sz="1100">
                          <a:solidFill>
                            <a:srgbClr val="333333"/>
                          </a:solidFill>
                          <a:latin typeface="Calibri"/>
                        </a:rPr>
                        <a:t>Khulna</a:t>
                      </a:r>
                    </a:p>
                  </a:txBody>
                  <a:tcPr/>
                </a:tc>
                <a:tc>
                  <a:txBody>
                    <a:bodyPr/>
                    <a:lstStyle/>
                    <a:p>
                      <a:pPr algn="ctr"/>
                      <a:r>
                        <a:rPr sz="1100">
                          <a:solidFill>
                            <a:srgbClr val="333333"/>
                          </a:solidFill>
                          <a:latin typeface="Calibri"/>
                        </a:rPr>
                        <a:t>0.527</a:t>
                      </a:r>
                    </a:p>
                  </a:txBody>
                  <a:tcPr/>
                </a:tc>
                <a:tc>
                  <a:txBody>
                    <a:bodyPr/>
                    <a:lstStyle/>
                    <a:p>
                      <a:pPr algn="ctr"/>
                      <a:r>
                        <a:rPr sz="1100">
                          <a:solidFill>
                            <a:srgbClr val="333333"/>
                          </a:solidFill>
                          <a:latin typeface="Calibri"/>
                        </a:rPr>
                        <a:t>Moderate</a:t>
                      </a:r>
                    </a:p>
                  </a:txBody>
                  <a:tcPr/>
                </a:tc>
                <a:tc>
                  <a:txBody>
                    <a:bodyPr/>
                    <a:lstStyle/>
                    <a:p>
                      <a:pPr algn="ctr"/>
                      <a:r>
                        <a:rPr sz="1100">
                          <a:solidFill>
                            <a:srgbClr val="333333"/>
                          </a:solidFill>
                          <a:latin typeface="Calibri"/>
                        </a:rPr>
                        <a:t>≈71</a:t>
                      </a:r>
                    </a:p>
                  </a:txBody>
                  <a:tcPr/>
                </a:tc>
              </a:tr>
              <a:tr h="304800">
                <a:tc>
                  <a:txBody>
                    <a:bodyPr/>
                    <a:lstStyle/>
                    <a:p>
                      <a:pPr algn="ctr"/>
                      <a:r>
                        <a:rPr sz="1100">
                          <a:solidFill>
                            <a:srgbClr val="333333"/>
                          </a:solidFill>
                          <a:latin typeface="Calibri"/>
                        </a:rPr>
                        <a:t>Rangpur</a:t>
                      </a:r>
                    </a:p>
                  </a:txBody>
                  <a:tcPr/>
                </a:tc>
                <a:tc>
                  <a:txBody>
                    <a:bodyPr/>
                    <a:lstStyle/>
                    <a:p>
                      <a:pPr algn="ctr"/>
                      <a:r>
                        <a:rPr sz="1100">
                          <a:solidFill>
                            <a:srgbClr val="333333"/>
                          </a:solidFill>
                          <a:latin typeface="Calibri"/>
                        </a:rPr>
                        <a:t>0.574</a:t>
                      </a:r>
                    </a:p>
                  </a:txBody>
                  <a:tcPr/>
                </a:tc>
                <a:tc>
                  <a:txBody>
                    <a:bodyPr/>
                    <a:lstStyle/>
                    <a:p>
                      <a:pPr algn="ctr"/>
                      <a:r>
                        <a:rPr sz="1100">
                          <a:solidFill>
                            <a:srgbClr val="333333"/>
                          </a:solidFill>
                          <a:latin typeface="Calibri"/>
                        </a:rPr>
                        <a:t>Moderate</a:t>
                      </a:r>
                    </a:p>
                  </a:txBody>
                  <a:tcPr/>
                </a:tc>
                <a:tc>
                  <a:txBody>
                    <a:bodyPr/>
                    <a:lstStyle/>
                    <a:p>
                      <a:pPr algn="ctr"/>
                      <a:r>
                        <a:rPr sz="1100">
                          <a:solidFill>
                            <a:srgbClr val="333333"/>
                          </a:solidFill>
                          <a:latin typeface="Calibri"/>
                        </a:rPr>
                        <a:t>≈58</a:t>
                      </a:r>
                    </a:p>
                  </a:txBody>
                  <a:tcPr/>
                </a:tc>
              </a:tr>
              <a:tr h="304800">
                <a:tc>
                  <a:txBody>
                    <a:bodyPr/>
                    <a:lstStyle/>
                    <a:p>
                      <a:pPr algn="ctr"/>
                      <a:r>
                        <a:rPr sz="1100">
                          <a:solidFill>
                            <a:srgbClr val="333333"/>
                          </a:solidFill>
                          <a:latin typeface="Calibri"/>
                        </a:rPr>
                        <a:t>Mymensingh</a:t>
                      </a:r>
                    </a:p>
                  </a:txBody>
                  <a:tcPr/>
                </a:tc>
                <a:tc>
                  <a:txBody>
                    <a:bodyPr/>
                    <a:lstStyle/>
                    <a:p>
                      <a:pPr algn="ctr"/>
                      <a:r>
                        <a:rPr sz="1100">
                          <a:solidFill>
                            <a:srgbClr val="333333"/>
                          </a:solidFill>
                          <a:latin typeface="Calibri"/>
                        </a:rPr>
                        <a:t>0.591</a:t>
                      </a:r>
                    </a:p>
                  </a:txBody>
                  <a:tcPr/>
                </a:tc>
                <a:tc>
                  <a:txBody>
                    <a:bodyPr/>
                    <a:lstStyle/>
                    <a:p>
                      <a:pPr algn="ctr"/>
                      <a:r>
                        <a:rPr sz="1100">
                          <a:solidFill>
                            <a:srgbClr val="333333"/>
                          </a:solidFill>
                          <a:latin typeface="Calibri"/>
                        </a:rPr>
                        <a:t>Moderate</a:t>
                      </a:r>
                    </a:p>
                  </a:txBody>
                  <a:tcPr/>
                </a:tc>
                <a:tc>
                  <a:txBody>
                    <a:bodyPr/>
                    <a:lstStyle/>
                    <a:p>
                      <a:pPr algn="ctr"/>
                      <a:r>
                        <a:rPr sz="1100">
                          <a:solidFill>
                            <a:srgbClr val="333333"/>
                          </a:solidFill>
                          <a:latin typeface="Calibri"/>
                        </a:rPr>
                        <a:t>≈34</a:t>
                      </a:r>
                    </a:p>
                  </a:txBody>
                  <a:tcPr/>
                </a:tc>
              </a:tr>
              <a:tr h="304800">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0.658</a:t>
                      </a:r>
                    </a:p>
                  </a:txBody>
                  <a:tcPr/>
                </a:tc>
                <a:tc>
                  <a:txBody>
                    <a:bodyPr/>
                    <a:lstStyle/>
                    <a:p>
                      <a:pPr algn="ctr"/>
                      <a:r>
                        <a:rPr sz="1100">
                          <a:solidFill>
                            <a:srgbClr val="333333"/>
                          </a:solidFill>
                          <a:latin typeface="Calibri"/>
                        </a:rPr>
                        <a:t>Mod/Severe</a:t>
                      </a:r>
                    </a:p>
                  </a:txBody>
                  <a:tcPr/>
                </a:tc>
                <a:tc>
                  <a:txBody>
                    <a:bodyPr/>
                    <a:lstStyle/>
                    <a:p>
                      <a:pPr algn="ctr"/>
                      <a:r>
                        <a:rPr sz="1100">
                          <a:solidFill>
                            <a:srgbClr val="333333"/>
                          </a:solidFill>
                          <a:latin typeface="Calibri"/>
                        </a:rPr>
                        <a:t>≈120</a:t>
                      </a:r>
                    </a:p>
                  </a:txBody>
                  <a:tcPr/>
                </a:tc>
              </a:tr>
            </a:tbl>
          </a:graphicData>
        </a:graphic>
      </p:graphicFrame>
      <p:sp>
        <p:nvSpPr>
          <p:cNvPr id="15" name="TextBox 14"/>
          <p:cNvSpPr txBox="1"/>
          <p:nvPr/>
        </p:nvSpPr>
        <p:spPr>
          <a:xfrm>
            <a:off x="5303520" y="4343400"/>
            <a:ext cx="6583680" cy="365760"/>
          </a:xfrm>
          <a:prstGeom prst="rect">
            <a:avLst/>
          </a:prstGeom>
          <a:noFill/>
        </p:spPr>
        <p:txBody>
          <a:bodyPr wrap="square">
            <a:spAutoFit/>
          </a:bodyPr>
          <a:lstStyle/>
          <a:p>
            <a:pPr algn="l"/>
            <a:r>
              <a:rPr sz="1500" b="1" i="0">
                <a:solidFill>
                  <a:srgbClr val="1F4E78"/>
                </a:solidFill>
                <a:latin typeface="Calibri"/>
              </a:rPr>
              <a:t>Mean MEPI by Geographic Zone</a:t>
            </a:r>
          </a:p>
        </p:txBody>
      </p:sp>
      <p:graphicFrame>
        <p:nvGraphicFramePr>
          <p:cNvPr id="16" name="Table 15"/>
          <p:cNvGraphicFramePr>
            <a:graphicFrameLocks noGrp="1"/>
          </p:cNvGraphicFramePr>
          <p:nvPr/>
        </p:nvGraphicFramePr>
        <p:xfrm>
          <a:off x="5303520" y="4754880"/>
          <a:ext cx="6583680" cy="1508760"/>
        </p:xfrm>
        <a:graphic>
          <a:graphicData uri="http://schemas.openxmlformats.org/drawingml/2006/table">
            <a:tbl>
              <a:tblPr firstRow="1" bandRow="1">
                <a:tableStyleId>{5C22544A-7EE6-4342-B048-85BDC9FD1C3A}</a:tableStyleId>
              </a:tblPr>
              <a:tblGrid>
                <a:gridCol w="2011680"/>
                <a:gridCol w="1097280"/>
                <a:gridCol w="3474720"/>
              </a:tblGrid>
              <a:tr h="215537">
                <a:tc>
                  <a:txBody>
                    <a:bodyPr/>
                    <a:lstStyle/>
                    <a:p>
                      <a:pPr algn="ctr"/>
                      <a:r>
                        <a:rPr sz="1000" b="1">
                          <a:solidFill>
                            <a:srgbClr val="FFFFFF"/>
                          </a:solidFill>
                          <a:latin typeface="Calibri"/>
                        </a:rPr>
                        <a:t>Geographic Zone</a:t>
                      </a:r>
                    </a:p>
                  </a:txBody>
                  <a:tcPr>
                    <a:solidFill>
                      <a:srgbClr val="C00000"/>
                    </a:solidFill>
                  </a:tcPr>
                </a:tc>
                <a:tc>
                  <a:txBody>
                    <a:bodyPr/>
                    <a:lstStyle/>
                    <a:p>
                      <a:pPr algn="ctr"/>
                      <a:r>
                        <a:rPr sz="1000" b="1">
                          <a:solidFill>
                            <a:srgbClr val="FFFFFF"/>
                          </a:solidFill>
                          <a:latin typeface="Calibri"/>
                        </a:rPr>
                        <a:t>Avg MEPI</a:t>
                      </a:r>
                    </a:p>
                  </a:txBody>
                  <a:tcPr>
                    <a:solidFill>
                      <a:srgbClr val="C00000"/>
                    </a:solidFill>
                  </a:tcPr>
                </a:tc>
                <a:tc>
                  <a:txBody>
                    <a:bodyPr/>
                    <a:lstStyle/>
                    <a:p>
                      <a:pPr algn="ctr"/>
                      <a:r>
                        <a:rPr sz="1000" b="1">
                          <a:solidFill>
                            <a:srgbClr val="FFFFFF"/>
                          </a:solidFill>
                          <a:latin typeface="Calibri"/>
                        </a:rPr>
                        <a:t>Key Challenges</a:t>
                      </a:r>
                    </a:p>
                  </a:txBody>
                  <a:tcPr>
                    <a:solidFill>
                      <a:srgbClr val="C00000"/>
                    </a:solidFill>
                  </a:tcPr>
                </a:tc>
              </a:tr>
              <a:tr h="215537">
                <a:tc>
                  <a:txBody>
                    <a:bodyPr/>
                    <a:lstStyle/>
                    <a:p>
                      <a:pPr algn="ctr"/>
                      <a:r>
                        <a:rPr sz="1000">
                          <a:solidFill>
                            <a:srgbClr val="333333"/>
                          </a:solidFill>
                          <a:latin typeface="Calibri"/>
                        </a:rPr>
                        <a:t>Urban Core</a:t>
                      </a:r>
                    </a:p>
                  </a:txBody>
                  <a:tcPr/>
                </a:tc>
                <a:tc>
                  <a:txBody>
                    <a:bodyPr/>
                    <a:lstStyle/>
                    <a:p>
                      <a:pPr algn="ctr"/>
                      <a:r>
                        <a:rPr sz="1000">
                          <a:solidFill>
                            <a:srgbClr val="333333"/>
                          </a:solidFill>
                          <a:latin typeface="Calibri"/>
                        </a:rPr>
                        <a:t>0.210</a:t>
                      </a:r>
                    </a:p>
                  </a:txBody>
                  <a:tcPr/>
                </a:tc>
                <a:tc>
                  <a:txBody>
                    <a:bodyPr/>
                    <a:lstStyle/>
                    <a:p>
                      <a:pPr algn="ctr"/>
                      <a:r>
                        <a:rPr sz="1000">
                          <a:solidFill>
                            <a:srgbClr val="333333"/>
                          </a:solidFill>
                          <a:latin typeface="Calibri"/>
                        </a:rPr>
                        <a:t>Best access; grid proximity</a:t>
                      </a:r>
                    </a:p>
                  </a:txBody>
                  <a:tcPr/>
                </a:tc>
              </a:tr>
              <a:tr h="215537">
                <a:tc>
                  <a:txBody>
                    <a:bodyPr/>
                    <a:lstStyle/>
                    <a:p>
                      <a:pPr algn="ctr"/>
                      <a:r>
                        <a:rPr sz="1000">
                          <a:solidFill>
                            <a:srgbClr val="333333"/>
                          </a:solidFill>
                          <a:latin typeface="Calibri"/>
                        </a:rPr>
                        <a:t>Plains</a:t>
                      </a:r>
                    </a:p>
                  </a:txBody>
                  <a:tcPr/>
                </a:tc>
                <a:tc>
                  <a:txBody>
                    <a:bodyPr/>
                    <a:lstStyle/>
                    <a:p>
                      <a:pPr algn="ctr"/>
                      <a:r>
                        <a:rPr sz="1000">
                          <a:solidFill>
                            <a:srgbClr val="333333"/>
                          </a:solidFill>
                          <a:latin typeface="Calibri"/>
                        </a:rPr>
                        <a:t>0.289</a:t>
                      </a:r>
                    </a:p>
                  </a:txBody>
                  <a:tcPr/>
                </a:tc>
                <a:tc>
                  <a:txBody>
                    <a:bodyPr/>
                    <a:lstStyle/>
                    <a:p>
                      <a:pPr algn="ctr"/>
                      <a:r>
                        <a:rPr sz="1000">
                          <a:solidFill>
                            <a:srgbClr val="333333"/>
                          </a:solidFill>
                          <a:latin typeface="Calibri"/>
                        </a:rPr>
                        <a:t>Good grid; agricultural areas</a:t>
                      </a:r>
                    </a:p>
                  </a:txBody>
                  <a:tcPr/>
                </a:tc>
              </a:tr>
              <a:tr h="215537">
                <a:tc>
                  <a:txBody>
                    <a:bodyPr/>
                    <a:lstStyle/>
                    <a:p>
                      <a:pPr algn="ctr"/>
                      <a:r>
                        <a:rPr sz="1000">
                          <a:solidFill>
                            <a:srgbClr val="333333"/>
                          </a:solidFill>
                          <a:latin typeface="Calibri"/>
                        </a:rPr>
                        <a:t>Haor Wetlands</a:t>
                      </a:r>
                    </a:p>
                  </a:txBody>
                  <a:tcPr/>
                </a:tc>
                <a:tc>
                  <a:txBody>
                    <a:bodyPr/>
                    <a:lstStyle/>
                    <a:p>
                      <a:pPr algn="ctr"/>
                      <a:r>
                        <a:rPr sz="1000">
                          <a:solidFill>
                            <a:srgbClr val="333333"/>
                          </a:solidFill>
                          <a:latin typeface="Calibri"/>
                        </a:rPr>
                        <a:t>0.554</a:t>
                      </a:r>
                    </a:p>
                  </a:txBody>
                  <a:tcPr/>
                </a:tc>
                <a:tc>
                  <a:txBody>
                    <a:bodyPr/>
                    <a:lstStyle/>
                    <a:p>
                      <a:pPr algn="ctr"/>
                      <a:r>
                        <a:rPr sz="1000">
                          <a:solidFill>
                            <a:srgbClr val="333333"/>
                          </a:solidFill>
                          <a:latin typeface="Calibri"/>
                        </a:rPr>
                        <a:t>Seasonal flooding &amp; isolation</a:t>
                      </a:r>
                    </a:p>
                  </a:txBody>
                  <a:tcPr/>
                </a:tc>
              </a:tr>
              <a:tr h="215537">
                <a:tc>
                  <a:txBody>
                    <a:bodyPr/>
                    <a:lstStyle/>
                    <a:p>
                      <a:pPr algn="ctr"/>
                      <a:r>
                        <a:rPr sz="1000">
                          <a:solidFill>
                            <a:srgbClr val="333333"/>
                          </a:solidFill>
                          <a:latin typeface="Calibri"/>
                        </a:rPr>
                        <a:t>Char Islands</a:t>
                      </a:r>
                    </a:p>
                  </a:txBody>
                  <a:tcPr/>
                </a:tc>
                <a:tc>
                  <a:txBody>
                    <a:bodyPr/>
                    <a:lstStyle/>
                    <a:p>
                      <a:pPr algn="ctr"/>
                      <a:r>
                        <a:rPr sz="1000">
                          <a:solidFill>
                            <a:srgbClr val="333333"/>
                          </a:solidFill>
                          <a:latin typeface="Calibri"/>
                        </a:rPr>
                        <a:t>0.618</a:t>
                      </a:r>
                    </a:p>
                  </a:txBody>
                  <a:tcPr/>
                </a:tc>
                <a:tc>
                  <a:txBody>
                    <a:bodyPr/>
                    <a:lstStyle/>
                    <a:p>
                      <a:pPr algn="ctr"/>
                      <a:r>
                        <a:rPr sz="1000">
                          <a:solidFill>
                            <a:srgbClr val="333333"/>
                          </a:solidFill>
                          <a:latin typeface="Calibri"/>
                        </a:rPr>
                        <a:t>Physical access barriers</a:t>
                      </a:r>
                    </a:p>
                  </a:txBody>
                  <a:tcPr/>
                </a:tc>
              </a:tr>
              <a:tr h="215537">
                <a:tc>
                  <a:txBody>
                    <a:bodyPr/>
                    <a:lstStyle/>
                    <a:p>
                      <a:pPr algn="ctr"/>
                      <a:r>
                        <a:rPr sz="1000">
                          <a:solidFill>
                            <a:srgbClr val="333333"/>
                          </a:solidFill>
                          <a:latin typeface="Calibri"/>
                        </a:rPr>
                        <a:t>Coastal (excluding CHT)</a:t>
                      </a:r>
                    </a:p>
                  </a:txBody>
                  <a:tcPr/>
                </a:tc>
                <a:tc>
                  <a:txBody>
                    <a:bodyPr/>
                    <a:lstStyle/>
                    <a:p>
                      <a:pPr algn="ctr"/>
                      <a:r>
                        <a:rPr sz="1000">
                          <a:solidFill>
                            <a:srgbClr val="333333"/>
                          </a:solidFill>
                          <a:latin typeface="Calibri"/>
                        </a:rPr>
                        <a:t>0.648</a:t>
                      </a:r>
                    </a:p>
                  </a:txBody>
                  <a:tcPr/>
                </a:tc>
                <a:tc>
                  <a:txBody>
                    <a:bodyPr/>
                    <a:lstStyle/>
                    <a:p>
                      <a:pPr algn="ctr"/>
                      <a:r>
                        <a:rPr sz="1000">
                          <a:solidFill>
                            <a:srgbClr val="333333"/>
                          </a:solidFill>
                          <a:latin typeface="Calibri"/>
                        </a:rPr>
                        <a:t>Cyclone exposure; salinity</a:t>
                      </a:r>
                    </a:p>
                  </a:txBody>
                  <a:tcPr/>
                </a:tc>
              </a:tr>
              <a:tr h="215538">
                <a:tc>
                  <a:txBody>
                    <a:bodyPr/>
                    <a:lstStyle/>
                    <a:p>
                      <a:pPr algn="ctr"/>
                      <a:r>
                        <a:rPr sz="1000">
                          <a:solidFill>
                            <a:srgbClr val="333333"/>
                          </a:solidFill>
                          <a:latin typeface="Calibri"/>
                        </a:rPr>
                        <a:t>Hill Tracts</a:t>
                      </a:r>
                    </a:p>
                  </a:txBody>
                  <a:tcPr/>
                </a:tc>
                <a:tc>
                  <a:txBody>
                    <a:bodyPr/>
                    <a:lstStyle/>
                    <a:p>
                      <a:pPr algn="ctr"/>
                      <a:r>
                        <a:rPr sz="1000">
                          <a:solidFill>
                            <a:srgbClr val="333333"/>
                          </a:solidFill>
                          <a:latin typeface="Calibri"/>
                        </a:rPr>
                        <a:t>0.823</a:t>
                      </a:r>
                    </a:p>
                  </a:txBody>
                  <a:tcPr/>
                </a:tc>
                <a:tc>
                  <a:txBody>
                    <a:bodyPr/>
                    <a:lstStyle/>
                    <a:p>
                      <a:pPr algn="ctr"/>
                      <a:r>
                        <a:rPr sz="1000">
                          <a:solidFill>
                            <a:srgbClr val="333333"/>
                          </a:solidFill>
                          <a:latin typeface="Calibri"/>
                        </a:rPr>
                        <a:t>Remote terrain; underinvestment</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Dimension-wise Analysis</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Comparative Performance Across 5 Energy Poverty Dimensions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9 / 13</a:t>
            </a:r>
          </a:p>
        </p:txBody>
      </p:sp>
      <p:graphicFrame>
        <p:nvGraphicFramePr>
          <p:cNvPr id="10" name="Chart 9"/>
          <p:cNvGraphicFramePr>
            <a:graphicFrameLocks noGrp="1"/>
          </p:cNvGraphicFramePr>
          <p:nvPr/>
        </p:nvGraphicFramePr>
        <p:xfrm>
          <a:off x="274320" y="1097280"/>
          <a:ext cx="6858000" cy="4114800"/>
        </p:xfrm>
        <a:graphic>
          <a:graphicData uri="http://schemas.openxmlformats.org/drawingml/2006/chart">
            <c:chart xmlns:c="http://schemas.openxmlformats.org/drawingml/2006/chart" r:id="rId2"/>
          </a:graphicData>
        </a:graphic>
      </p:graphicFrame>
      <p:sp>
        <p:nvSpPr>
          <p:cNvPr id="11" name="TextBox 10"/>
          <p:cNvSpPr txBox="1"/>
          <p:nvPr/>
        </p:nvSpPr>
        <p:spPr>
          <a:xfrm>
            <a:off x="7406640" y="1097280"/>
            <a:ext cx="4572000" cy="365760"/>
          </a:xfrm>
          <a:prstGeom prst="rect">
            <a:avLst/>
          </a:prstGeom>
          <a:noFill/>
        </p:spPr>
        <p:txBody>
          <a:bodyPr wrap="square">
            <a:spAutoFit/>
          </a:bodyPr>
          <a:lstStyle/>
          <a:p>
            <a:pPr algn="l"/>
            <a:r>
              <a:rPr sz="1500" b="1" i="0">
                <a:solidFill>
                  <a:srgbClr val="1F4E78"/>
                </a:solidFill>
                <a:latin typeface="Calibri"/>
              </a:rPr>
              <a:t>Key Dimension Insights</a:t>
            </a:r>
          </a:p>
        </p:txBody>
      </p:sp>
      <p:sp>
        <p:nvSpPr>
          <p:cNvPr id="12" name="Rectangle 11"/>
          <p:cNvSpPr/>
          <p:nvPr/>
        </p:nvSpPr>
        <p:spPr>
          <a:xfrm>
            <a:off x="7406640" y="1554480"/>
            <a:ext cx="82296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24927" y="1591056"/>
            <a:ext cx="786384" cy="347472"/>
          </a:xfrm>
          <a:prstGeom prst="rect">
            <a:avLst/>
          </a:prstGeom>
          <a:noFill/>
        </p:spPr>
        <p:txBody>
          <a:bodyPr wrap="square">
            <a:spAutoFit/>
          </a:bodyPr>
          <a:lstStyle/>
          <a:p>
            <a:pPr algn="ctr"/>
            <a:r>
              <a:rPr sz="1300" b="1" i="0">
                <a:solidFill>
                  <a:srgbClr val="FFFFFF"/>
                </a:solidFill>
                <a:latin typeface="Calibri"/>
              </a:rPr>
              <a:t>0.561</a:t>
            </a:r>
          </a:p>
        </p:txBody>
      </p:sp>
      <p:sp>
        <p:nvSpPr>
          <p:cNvPr id="14" name="TextBox 13"/>
          <p:cNvSpPr txBox="1"/>
          <p:nvPr/>
        </p:nvSpPr>
        <p:spPr>
          <a:xfrm>
            <a:off x="8321040" y="1554480"/>
            <a:ext cx="1371600" cy="320040"/>
          </a:xfrm>
          <a:prstGeom prst="rect">
            <a:avLst/>
          </a:prstGeom>
          <a:noFill/>
        </p:spPr>
        <p:txBody>
          <a:bodyPr wrap="square">
            <a:spAutoFit/>
          </a:bodyPr>
          <a:lstStyle/>
          <a:p>
            <a:pPr algn="l"/>
            <a:r>
              <a:rPr sz="1300" b="1" i="0">
                <a:solidFill>
                  <a:srgbClr val="1F4E78"/>
                </a:solidFill>
                <a:latin typeface="Calibri"/>
              </a:rPr>
              <a:t>Affordability</a:t>
            </a:r>
          </a:p>
        </p:txBody>
      </p:sp>
      <p:sp>
        <p:nvSpPr>
          <p:cNvPr id="15" name="TextBox 14"/>
          <p:cNvSpPr txBox="1"/>
          <p:nvPr/>
        </p:nvSpPr>
        <p:spPr>
          <a:xfrm>
            <a:off x="8321040" y="1828800"/>
            <a:ext cx="3657600" cy="411480"/>
          </a:xfrm>
          <a:prstGeom prst="rect">
            <a:avLst/>
          </a:prstGeom>
          <a:noFill/>
        </p:spPr>
        <p:txBody>
          <a:bodyPr wrap="square">
            <a:spAutoFit/>
          </a:bodyPr>
          <a:lstStyle/>
          <a:p>
            <a:pPr algn="l"/>
            <a:r>
              <a:rPr sz="1100" b="0" i="0">
                <a:solidFill>
                  <a:srgbClr val="333333"/>
                </a:solidFill>
                <a:latin typeface="Calibri"/>
              </a:rPr>
              <a:t>Highest mean deprivation — financial burden drives poverty</a:t>
            </a:r>
          </a:p>
        </p:txBody>
      </p:sp>
      <p:sp>
        <p:nvSpPr>
          <p:cNvPr id="16" name="Rectangle 15"/>
          <p:cNvSpPr/>
          <p:nvPr/>
        </p:nvSpPr>
        <p:spPr>
          <a:xfrm>
            <a:off x="7406640" y="2304288"/>
            <a:ext cx="822960" cy="4114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24927" y="2340864"/>
            <a:ext cx="786384" cy="347472"/>
          </a:xfrm>
          <a:prstGeom prst="rect">
            <a:avLst/>
          </a:prstGeom>
          <a:noFill/>
        </p:spPr>
        <p:txBody>
          <a:bodyPr wrap="square">
            <a:spAutoFit/>
          </a:bodyPr>
          <a:lstStyle/>
          <a:p>
            <a:pPr algn="ctr"/>
            <a:r>
              <a:rPr sz="1300" b="1" i="0">
                <a:solidFill>
                  <a:srgbClr val="FFFFFF"/>
                </a:solidFill>
                <a:latin typeface="Calibri"/>
              </a:rPr>
              <a:t>0.531</a:t>
            </a:r>
          </a:p>
        </p:txBody>
      </p:sp>
      <p:sp>
        <p:nvSpPr>
          <p:cNvPr id="18" name="TextBox 17"/>
          <p:cNvSpPr txBox="1"/>
          <p:nvPr/>
        </p:nvSpPr>
        <p:spPr>
          <a:xfrm>
            <a:off x="8321040" y="2304288"/>
            <a:ext cx="1371600" cy="320040"/>
          </a:xfrm>
          <a:prstGeom prst="rect">
            <a:avLst/>
          </a:prstGeom>
          <a:noFill/>
        </p:spPr>
        <p:txBody>
          <a:bodyPr wrap="square">
            <a:spAutoFit/>
          </a:bodyPr>
          <a:lstStyle/>
          <a:p>
            <a:pPr algn="l"/>
            <a:r>
              <a:rPr sz="1300" b="1" i="0">
                <a:solidFill>
                  <a:srgbClr val="1F4E78"/>
                </a:solidFill>
                <a:latin typeface="Calibri"/>
              </a:rPr>
              <a:t>Reliability</a:t>
            </a:r>
          </a:p>
        </p:txBody>
      </p:sp>
      <p:sp>
        <p:nvSpPr>
          <p:cNvPr id="19" name="TextBox 18"/>
          <p:cNvSpPr txBox="1"/>
          <p:nvPr/>
        </p:nvSpPr>
        <p:spPr>
          <a:xfrm>
            <a:off x="8321040" y="2578608"/>
            <a:ext cx="3657600" cy="411480"/>
          </a:xfrm>
          <a:prstGeom prst="rect">
            <a:avLst/>
          </a:prstGeom>
          <a:noFill/>
        </p:spPr>
        <p:txBody>
          <a:bodyPr wrap="square">
            <a:spAutoFit/>
          </a:bodyPr>
          <a:lstStyle/>
          <a:p>
            <a:pPr algn="l"/>
            <a:r>
              <a:rPr sz="1100" b="0" i="0">
                <a:solidFill>
                  <a:srgbClr val="333333"/>
                </a:solidFill>
                <a:latin typeface="Calibri"/>
              </a:rPr>
              <a:t>Frequent outages affect productivity &amp; quality of life</a:t>
            </a:r>
          </a:p>
        </p:txBody>
      </p:sp>
      <p:sp>
        <p:nvSpPr>
          <p:cNvPr id="20" name="Rectangle 19"/>
          <p:cNvSpPr/>
          <p:nvPr/>
        </p:nvSpPr>
        <p:spPr>
          <a:xfrm>
            <a:off x="7406640" y="3054096"/>
            <a:ext cx="822960" cy="411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24927" y="3090672"/>
            <a:ext cx="786384" cy="347472"/>
          </a:xfrm>
          <a:prstGeom prst="rect">
            <a:avLst/>
          </a:prstGeom>
          <a:noFill/>
        </p:spPr>
        <p:txBody>
          <a:bodyPr wrap="square">
            <a:spAutoFit/>
          </a:bodyPr>
          <a:lstStyle/>
          <a:p>
            <a:pPr algn="ctr"/>
            <a:r>
              <a:rPr sz="1300" b="1" i="0">
                <a:solidFill>
                  <a:srgbClr val="FFFFFF"/>
                </a:solidFill>
                <a:latin typeface="Calibri"/>
              </a:rPr>
              <a:t>0.519</a:t>
            </a:r>
          </a:p>
        </p:txBody>
      </p:sp>
      <p:sp>
        <p:nvSpPr>
          <p:cNvPr id="22" name="TextBox 21"/>
          <p:cNvSpPr txBox="1"/>
          <p:nvPr/>
        </p:nvSpPr>
        <p:spPr>
          <a:xfrm>
            <a:off x="8321040" y="3054096"/>
            <a:ext cx="1371600" cy="320040"/>
          </a:xfrm>
          <a:prstGeom prst="rect">
            <a:avLst/>
          </a:prstGeom>
          <a:noFill/>
        </p:spPr>
        <p:txBody>
          <a:bodyPr wrap="square">
            <a:spAutoFit/>
          </a:bodyPr>
          <a:lstStyle/>
          <a:p>
            <a:pPr algn="l"/>
            <a:r>
              <a:rPr sz="1300" b="1" i="0">
                <a:solidFill>
                  <a:srgbClr val="1F4E78"/>
                </a:solidFill>
                <a:latin typeface="Calibri"/>
              </a:rPr>
              <a:t>Adequacy</a:t>
            </a:r>
          </a:p>
        </p:txBody>
      </p:sp>
      <p:sp>
        <p:nvSpPr>
          <p:cNvPr id="23" name="TextBox 22"/>
          <p:cNvSpPr txBox="1"/>
          <p:nvPr/>
        </p:nvSpPr>
        <p:spPr>
          <a:xfrm>
            <a:off x="8321040" y="3328416"/>
            <a:ext cx="3657600" cy="411480"/>
          </a:xfrm>
          <a:prstGeom prst="rect">
            <a:avLst/>
          </a:prstGeom>
          <a:noFill/>
        </p:spPr>
        <p:txBody>
          <a:bodyPr wrap="square">
            <a:spAutoFit/>
          </a:bodyPr>
          <a:lstStyle/>
          <a:p>
            <a:pPr algn="l"/>
            <a:r>
              <a:rPr sz="1100" b="0" i="0">
                <a:solidFill>
                  <a:srgbClr val="333333"/>
                </a:solidFill>
                <a:latin typeface="Calibri"/>
              </a:rPr>
              <a:t>Low consumption &amp; appliance ownership in rural areas</a:t>
            </a:r>
          </a:p>
        </p:txBody>
      </p:sp>
      <p:sp>
        <p:nvSpPr>
          <p:cNvPr id="24" name="Rectangle 23"/>
          <p:cNvSpPr/>
          <p:nvPr/>
        </p:nvSpPr>
        <p:spPr>
          <a:xfrm>
            <a:off x="7406640" y="3803904"/>
            <a:ext cx="822960" cy="41148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24927" y="3840480"/>
            <a:ext cx="786384" cy="347472"/>
          </a:xfrm>
          <a:prstGeom prst="rect">
            <a:avLst/>
          </a:prstGeom>
          <a:noFill/>
        </p:spPr>
        <p:txBody>
          <a:bodyPr wrap="square">
            <a:spAutoFit/>
          </a:bodyPr>
          <a:lstStyle/>
          <a:p>
            <a:pPr algn="ctr"/>
            <a:r>
              <a:rPr sz="1300" b="1" i="0">
                <a:solidFill>
                  <a:srgbClr val="FFFFFF"/>
                </a:solidFill>
                <a:latin typeface="Calibri"/>
              </a:rPr>
              <a:t>0.512</a:t>
            </a:r>
          </a:p>
        </p:txBody>
      </p:sp>
      <p:sp>
        <p:nvSpPr>
          <p:cNvPr id="26" name="TextBox 25"/>
          <p:cNvSpPr txBox="1"/>
          <p:nvPr/>
        </p:nvSpPr>
        <p:spPr>
          <a:xfrm>
            <a:off x="8321040" y="3803904"/>
            <a:ext cx="1371600" cy="320040"/>
          </a:xfrm>
          <a:prstGeom prst="rect">
            <a:avLst/>
          </a:prstGeom>
          <a:noFill/>
        </p:spPr>
        <p:txBody>
          <a:bodyPr wrap="square">
            <a:spAutoFit/>
          </a:bodyPr>
          <a:lstStyle/>
          <a:p>
            <a:pPr algn="l"/>
            <a:r>
              <a:rPr sz="1300" b="1" i="0">
                <a:solidFill>
                  <a:srgbClr val="1F4E78"/>
                </a:solidFill>
                <a:latin typeface="Calibri"/>
              </a:rPr>
              <a:t>Quality</a:t>
            </a:r>
          </a:p>
        </p:txBody>
      </p:sp>
      <p:sp>
        <p:nvSpPr>
          <p:cNvPr id="27" name="TextBox 26"/>
          <p:cNvSpPr txBox="1"/>
          <p:nvPr/>
        </p:nvSpPr>
        <p:spPr>
          <a:xfrm>
            <a:off x="8321040" y="4078224"/>
            <a:ext cx="3657600" cy="411480"/>
          </a:xfrm>
          <a:prstGeom prst="rect">
            <a:avLst/>
          </a:prstGeom>
          <a:noFill/>
        </p:spPr>
        <p:txBody>
          <a:bodyPr wrap="square">
            <a:spAutoFit/>
          </a:bodyPr>
          <a:lstStyle/>
          <a:p>
            <a:pPr algn="l"/>
            <a:r>
              <a:rPr sz="1100" b="0" i="0">
                <a:solidFill>
                  <a:srgbClr val="333333"/>
                </a:solidFill>
                <a:latin typeface="Calibri"/>
              </a:rPr>
              <a:t>Voltage instability &amp; air pollution in deprived areas</a:t>
            </a:r>
          </a:p>
        </p:txBody>
      </p:sp>
      <p:sp>
        <p:nvSpPr>
          <p:cNvPr id="28" name="Rectangle 27"/>
          <p:cNvSpPr/>
          <p:nvPr/>
        </p:nvSpPr>
        <p:spPr>
          <a:xfrm>
            <a:off x="7406640" y="4553712"/>
            <a:ext cx="822960" cy="4114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7" y="4590288"/>
            <a:ext cx="786384" cy="347472"/>
          </a:xfrm>
          <a:prstGeom prst="rect">
            <a:avLst/>
          </a:prstGeom>
          <a:noFill/>
        </p:spPr>
        <p:txBody>
          <a:bodyPr wrap="square">
            <a:spAutoFit/>
          </a:bodyPr>
          <a:lstStyle/>
          <a:p>
            <a:pPr algn="ctr"/>
            <a:r>
              <a:rPr sz="1300" b="1" i="0">
                <a:solidFill>
                  <a:srgbClr val="FFFFFF"/>
                </a:solidFill>
                <a:latin typeface="Calibri"/>
              </a:rPr>
              <a:t>0.498</a:t>
            </a:r>
          </a:p>
        </p:txBody>
      </p:sp>
      <p:sp>
        <p:nvSpPr>
          <p:cNvPr id="30" name="TextBox 29"/>
          <p:cNvSpPr txBox="1"/>
          <p:nvPr/>
        </p:nvSpPr>
        <p:spPr>
          <a:xfrm>
            <a:off x="8321040" y="4553712"/>
            <a:ext cx="1371600" cy="320040"/>
          </a:xfrm>
          <a:prstGeom prst="rect">
            <a:avLst/>
          </a:prstGeom>
          <a:noFill/>
        </p:spPr>
        <p:txBody>
          <a:bodyPr wrap="square">
            <a:spAutoFit/>
          </a:bodyPr>
          <a:lstStyle/>
          <a:p>
            <a:pPr algn="l"/>
            <a:r>
              <a:rPr sz="1300" b="1" i="0">
                <a:solidFill>
                  <a:srgbClr val="1F4E78"/>
                </a:solidFill>
                <a:latin typeface="Calibri"/>
              </a:rPr>
              <a:t>Availability</a:t>
            </a:r>
          </a:p>
        </p:txBody>
      </p:sp>
      <p:sp>
        <p:nvSpPr>
          <p:cNvPr id="31" name="TextBox 30"/>
          <p:cNvSpPr txBox="1"/>
          <p:nvPr/>
        </p:nvSpPr>
        <p:spPr>
          <a:xfrm>
            <a:off x="8321040" y="4828032"/>
            <a:ext cx="3657600" cy="411480"/>
          </a:xfrm>
          <a:prstGeom prst="rect">
            <a:avLst/>
          </a:prstGeom>
          <a:noFill/>
        </p:spPr>
        <p:txBody>
          <a:bodyPr wrap="square">
            <a:spAutoFit/>
          </a:bodyPr>
          <a:lstStyle/>
          <a:p>
            <a:pPr algn="l"/>
            <a:r>
              <a:rPr sz="1100" b="0" i="0">
                <a:solidFill>
                  <a:srgbClr val="333333"/>
                </a:solidFill>
                <a:latin typeface="Calibri"/>
              </a:rPr>
              <a:t>Physical access gap persists despite electrification</a:t>
            </a:r>
          </a:p>
        </p:txBody>
      </p:sp>
      <p:sp>
        <p:nvSpPr>
          <p:cNvPr id="32" name="TextBox 31"/>
          <p:cNvSpPr txBox="1"/>
          <p:nvPr/>
        </p:nvSpPr>
        <p:spPr>
          <a:xfrm>
            <a:off x="7406640" y="5212080"/>
            <a:ext cx="4572000" cy="320040"/>
          </a:xfrm>
          <a:prstGeom prst="rect">
            <a:avLst/>
          </a:prstGeom>
          <a:noFill/>
        </p:spPr>
        <p:txBody>
          <a:bodyPr wrap="square">
            <a:spAutoFit/>
          </a:bodyPr>
          <a:lstStyle/>
          <a:p>
            <a:pPr algn="l"/>
            <a:r>
              <a:rPr sz="1300" b="1" i="0">
                <a:solidFill>
                  <a:srgbClr val="1F4E78"/>
                </a:solidFill>
                <a:latin typeface="Calibri"/>
              </a:rPr>
              <a:t>Key Dimension Correlations</a:t>
            </a:r>
          </a:p>
        </p:txBody>
      </p:sp>
      <p:graphicFrame>
        <p:nvGraphicFramePr>
          <p:cNvPr id="33" name="Table 32"/>
          <p:cNvGraphicFramePr>
            <a:graphicFrameLocks noGrp="1"/>
          </p:cNvGraphicFramePr>
          <p:nvPr/>
        </p:nvGraphicFramePr>
        <p:xfrm>
          <a:off x="7406640" y="5577840"/>
          <a:ext cx="4572000" cy="1097280"/>
        </p:xfrm>
        <a:graphic>
          <a:graphicData uri="http://schemas.openxmlformats.org/drawingml/2006/table">
            <a:tbl>
              <a:tblPr firstRow="1" bandRow="1">
                <a:tableStyleId>{5C22544A-7EE6-4342-B048-85BDC9FD1C3A}</a:tableStyleId>
              </a:tblPr>
              <a:tblGrid>
                <a:gridCol w="2926080"/>
                <a:gridCol w="1645920"/>
              </a:tblGrid>
              <a:tr h="182880">
                <a:tc>
                  <a:txBody>
                    <a:bodyPr/>
                    <a:lstStyle/>
                    <a:p>
                      <a:pPr algn="ctr"/>
                      <a:r>
                        <a:rPr sz="1000" b="1">
                          <a:solidFill>
                            <a:srgbClr val="FFFFFF"/>
                          </a:solidFill>
                          <a:latin typeface="Calibri"/>
                        </a:rPr>
                        <a:t>Dimension Pair</a:t>
                      </a:r>
                    </a:p>
                  </a:txBody>
                  <a:tcPr>
                    <a:solidFill>
                      <a:srgbClr val="1F4E78"/>
                    </a:solidFill>
                  </a:tcPr>
                </a:tc>
                <a:tc>
                  <a:txBody>
                    <a:bodyPr/>
                    <a:lstStyle/>
                    <a:p>
                      <a:pPr algn="ctr"/>
                      <a:r>
                        <a:rPr sz="1000" b="1">
                          <a:solidFill>
                            <a:srgbClr val="FFFFFF"/>
                          </a:solidFill>
                          <a:latin typeface="Calibri"/>
                        </a:rPr>
                        <a:t>Correlation</a:t>
                      </a:r>
                    </a:p>
                  </a:txBody>
                  <a:tcPr>
                    <a:solidFill>
                      <a:srgbClr val="1F4E78"/>
                    </a:solidFill>
                  </a:tcPr>
                </a:tc>
              </a:tr>
              <a:tr h="182880">
                <a:tc>
                  <a:txBody>
                    <a:bodyPr/>
                    <a:lstStyle/>
                    <a:p>
                      <a:pPr algn="ctr"/>
                      <a:r>
                        <a:rPr sz="1000">
                          <a:solidFill>
                            <a:srgbClr val="333333"/>
                          </a:solidFill>
                          <a:latin typeface="Calibri"/>
                        </a:rPr>
                        <a:t>Availability ↔ Reliability</a:t>
                      </a:r>
                    </a:p>
                  </a:txBody>
                  <a:tcPr/>
                </a:tc>
                <a:tc>
                  <a:txBody>
                    <a:bodyPr/>
                    <a:lstStyle/>
                    <a:p>
                      <a:pPr algn="ctr"/>
                      <a:r>
                        <a:rPr sz="1000">
                          <a:solidFill>
                            <a:srgbClr val="333333"/>
                          </a:solidFill>
                          <a:latin typeface="Calibri"/>
                        </a:rPr>
                        <a:t>r = 0.78</a:t>
                      </a:r>
                    </a:p>
                  </a:txBody>
                  <a:tcPr/>
                </a:tc>
              </a:tr>
              <a:tr h="182880">
                <a:tc>
                  <a:txBody>
                    <a:bodyPr/>
                    <a:lstStyle/>
                    <a:p>
                      <a:pPr algn="ctr"/>
                      <a:r>
                        <a:rPr sz="1000">
                          <a:solidFill>
                            <a:srgbClr val="333333"/>
                          </a:solidFill>
                          <a:latin typeface="Calibri"/>
                        </a:rPr>
                        <a:t>Availability ↔ Adequacy</a:t>
                      </a:r>
                    </a:p>
                  </a:txBody>
                  <a:tcPr/>
                </a:tc>
                <a:tc>
                  <a:txBody>
                    <a:bodyPr/>
                    <a:lstStyle/>
                    <a:p>
                      <a:pPr algn="ctr"/>
                      <a:r>
                        <a:rPr sz="1000">
                          <a:solidFill>
                            <a:srgbClr val="333333"/>
                          </a:solidFill>
                          <a:latin typeface="Calibri"/>
                        </a:rPr>
                        <a:t>r = 0.71</a:t>
                      </a:r>
                    </a:p>
                  </a:txBody>
                  <a:tcPr/>
                </a:tc>
              </a:tr>
              <a:tr h="182880">
                <a:tc>
                  <a:txBody>
                    <a:bodyPr/>
                    <a:lstStyle/>
                    <a:p>
                      <a:pPr algn="ctr"/>
                      <a:r>
                        <a:rPr sz="1000">
                          <a:solidFill>
                            <a:srgbClr val="333333"/>
                          </a:solidFill>
                          <a:latin typeface="Calibri"/>
                        </a:rPr>
                        <a:t>Quality ↔ Reliability</a:t>
                      </a:r>
                    </a:p>
                  </a:txBody>
                  <a:tcPr/>
                </a:tc>
                <a:tc>
                  <a:txBody>
                    <a:bodyPr/>
                    <a:lstStyle/>
                    <a:p>
                      <a:pPr algn="ctr"/>
                      <a:r>
                        <a:rPr sz="1000">
                          <a:solidFill>
                            <a:srgbClr val="333333"/>
                          </a:solidFill>
                          <a:latin typeface="Calibri"/>
                        </a:rPr>
                        <a:t>r = 0.65</a:t>
                      </a:r>
                    </a:p>
                  </a:txBody>
                  <a:tcPr/>
                </a:tc>
              </a:tr>
              <a:tr h="182880">
                <a:tc>
                  <a:txBody>
                    <a:bodyPr/>
                    <a:lstStyle/>
                    <a:p>
                      <a:pPr algn="ctr"/>
                      <a:r>
                        <a:rPr sz="1000">
                          <a:solidFill>
                            <a:srgbClr val="333333"/>
                          </a:solidFill>
                          <a:latin typeface="Calibri"/>
                        </a:rPr>
                        <a:t>Affordability ↔ Adequacy</a:t>
                      </a:r>
                    </a:p>
                  </a:txBody>
                  <a:tcPr/>
                </a:tc>
                <a:tc>
                  <a:txBody>
                    <a:bodyPr/>
                    <a:lstStyle/>
                    <a:p>
                      <a:pPr algn="ctr"/>
                      <a:r>
                        <a:rPr sz="1000">
                          <a:solidFill>
                            <a:srgbClr val="333333"/>
                          </a:solidFill>
                          <a:latin typeface="Calibri"/>
                        </a:rPr>
                        <a:t>r = 0.48</a:t>
                      </a:r>
                    </a:p>
                  </a:txBody>
                  <a:tcPr/>
                </a:tc>
              </a:tr>
              <a:tr h="182880">
                <a:tc>
                  <a:txBody>
                    <a:bodyPr/>
                    <a:lstStyle/>
                    <a:p>
                      <a:pPr algn="ctr"/>
                      <a:r>
                        <a:rPr sz="1000">
                          <a:solidFill>
                            <a:srgbClr val="333333"/>
                          </a:solidFill>
                          <a:latin typeface="Calibri"/>
                        </a:rPr>
                        <a:t>Availability ↔ Affordability</a:t>
                      </a:r>
                    </a:p>
                  </a:txBody>
                  <a:tcPr/>
                </a:tc>
                <a:tc>
                  <a:txBody>
                    <a:bodyPr/>
                    <a:lstStyle/>
                    <a:p>
                      <a:pPr algn="ctr"/>
                      <a:r>
                        <a:rPr sz="1000">
                          <a:solidFill>
                            <a:srgbClr val="333333"/>
                          </a:solidFill>
                          <a:latin typeface="Calibri"/>
                        </a:rPr>
                        <a:t>r = −0.52</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Regional Insights &amp; Top Performers</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Most &amp; Least Energy-Poor Upazilas | Urban vs. Rural Analysis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10 / 13</a:t>
            </a:r>
          </a:p>
        </p:txBody>
      </p:sp>
      <p:sp>
        <p:nvSpPr>
          <p:cNvPr id="10" name="TextBox 9"/>
          <p:cNvSpPr txBox="1"/>
          <p:nvPr/>
        </p:nvSpPr>
        <p:spPr>
          <a:xfrm>
            <a:off x="274320" y="1097280"/>
            <a:ext cx="5669280" cy="365760"/>
          </a:xfrm>
          <a:prstGeom prst="rect">
            <a:avLst/>
          </a:prstGeom>
          <a:noFill/>
        </p:spPr>
        <p:txBody>
          <a:bodyPr wrap="square">
            <a:spAutoFit/>
          </a:bodyPr>
          <a:lstStyle/>
          <a:p>
            <a:pPr algn="l"/>
            <a:r>
              <a:rPr sz="1400" b="1" i="0">
                <a:solidFill>
                  <a:srgbClr val="C00000"/>
                </a:solidFill>
                <a:latin typeface="Calibri"/>
              </a:rPr>
              <a:t>Top 10 Most Energy-Poor Upazilas</a:t>
            </a:r>
          </a:p>
        </p:txBody>
      </p:sp>
      <p:graphicFrame>
        <p:nvGraphicFramePr>
          <p:cNvPr id="11" name="Table 10"/>
          <p:cNvGraphicFramePr>
            <a:graphicFrameLocks noGrp="1"/>
          </p:cNvGraphicFramePr>
          <p:nvPr/>
        </p:nvGraphicFramePr>
        <p:xfrm>
          <a:off x="274320" y="1508760"/>
          <a:ext cx="5303520" cy="3749039"/>
        </p:xfrm>
        <a:graphic>
          <a:graphicData uri="http://schemas.openxmlformats.org/drawingml/2006/table">
            <a:tbl>
              <a:tblPr firstRow="1" bandRow="1">
                <a:tableStyleId>{5C22544A-7EE6-4342-B048-85BDC9FD1C3A}</a:tableStyleId>
              </a:tblPr>
              <a:tblGrid>
                <a:gridCol w="365760"/>
                <a:gridCol w="1554480"/>
                <a:gridCol w="1188720"/>
                <a:gridCol w="1371600"/>
                <a:gridCol w="822960"/>
              </a:tblGrid>
              <a:tr h="340821">
                <a:tc>
                  <a:txBody>
                    <a:bodyPr/>
                    <a:lstStyle/>
                    <a:p>
                      <a:pPr algn="ctr"/>
                      <a:r>
                        <a:rPr sz="1100" b="1">
                          <a:solidFill>
                            <a:srgbClr val="FFFFFF"/>
                          </a:solidFill>
                          <a:latin typeface="Calibri"/>
                        </a:rPr>
                        <a:t>#</a:t>
                      </a:r>
                    </a:p>
                  </a:txBody>
                  <a:tcPr>
                    <a:solidFill>
                      <a:srgbClr val="C00000"/>
                    </a:solidFill>
                  </a:tcPr>
                </a:tc>
                <a:tc>
                  <a:txBody>
                    <a:bodyPr/>
                    <a:lstStyle/>
                    <a:p>
                      <a:pPr algn="ctr"/>
                      <a:r>
                        <a:rPr sz="1100" b="1">
                          <a:solidFill>
                            <a:srgbClr val="FFFFFF"/>
                          </a:solidFill>
                          <a:latin typeface="Calibri"/>
                        </a:rPr>
                        <a:t>Upazila</a:t>
                      </a:r>
                    </a:p>
                  </a:txBody>
                  <a:tcPr>
                    <a:solidFill>
                      <a:srgbClr val="C00000"/>
                    </a:solidFill>
                  </a:tcPr>
                </a:tc>
                <a:tc>
                  <a:txBody>
                    <a:bodyPr/>
                    <a:lstStyle/>
                    <a:p>
                      <a:pPr algn="ctr"/>
                      <a:r>
                        <a:rPr sz="1100" b="1">
                          <a:solidFill>
                            <a:srgbClr val="FFFFFF"/>
                          </a:solidFill>
                          <a:latin typeface="Calibri"/>
                        </a:rPr>
                        <a:t>Division</a:t>
                      </a:r>
                    </a:p>
                  </a:txBody>
                  <a:tcPr>
                    <a:solidFill>
                      <a:srgbClr val="C00000"/>
                    </a:solidFill>
                  </a:tcPr>
                </a:tc>
                <a:tc>
                  <a:txBody>
                    <a:bodyPr/>
                    <a:lstStyle/>
                    <a:p>
                      <a:pPr algn="ctr"/>
                      <a:r>
                        <a:rPr sz="1100" b="1">
                          <a:solidFill>
                            <a:srgbClr val="FFFFFF"/>
                          </a:solidFill>
                          <a:latin typeface="Calibri"/>
                        </a:rPr>
                        <a:t>Zone</a:t>
                      </a:r>
                    </a:p>
                  </a:txBody>
                  <a:tcPr>
                    <a:solidFill>
                      <a:srgbClr val="C00000"/>
                    </a:solidFill>
                  </a:tcPr>
                </a:tc>
                <a:tc>
                  <a:txBody>
                    <a:bodyPr/>
                    <a:lstStyle/>
                    <a:p>
                      <a:pPr algn="ctr"/>
                      <a:r>
                        <a:rPr sz="1100" b="1">
                          <a:solidFill>
                            <a:srgbClr val="FFFFFF"/>
                          </a:solidFill>
                          <a:latin typeface="Calibri"/>
                        </a:rPr>
                        <a:t>MEPI</a:t>
                      </a:r>
                    </a:p>
                  </a:txBody>
                  <a:tcPr>
                    <a:solidFill>
                      <a:srgbClr val="C00000"/>
                    </a:solidFill>
                  </a:tcPr>
                </a:tc>
              </a:tr>
              <a:tr h="340821">
                <a:tc>
                  <a:txBody>
                    <a:bodyPr/>
                    <a:lstStyle/>
                    <a:p>
                      <a:pPr algn="ctr"/>
                      <a:r>
                        <a:rPr sz="1100">
                          <a:solidFill>
                            <a:srgbClr val="333333"/>
                          </a:solidFill>
                          <a:latin typeface="Calibri"/>
                        </a:rPr>
                        <a:t>1</a:t>
                      </a:r>
                    </a:p>
                  </a:txBody>
                  <a:tcPr/>
                </a:tc>
                <a:tc>
                  <a:txBody>
                    <a:bodyPr/>
                    <a:lstStyle/>
                    <a:p>
                      <a:pPr algn="ctr"/>
                      <a:r>
                        <a:rPr sz="1100">
                          <a:solidFill>
                            <a:srgbClr val="333333"/>
                          </a:solidFill>
                          <a:latin typeface="Calibri"/>
                        </a:rPr>
                        <a:t>Rowangchhari</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Hill Tracts</a:t>
                      </a:r>
                    </a:p>
                  </a:txBody>
                  <a:tcPr/>
                </a:tc>
                <a:tc>
                  <a:txBody>
                    <a:bodyPr/>
                    <a:lstStyle/>
                    <a:p>
                      <a:pPr algn="ctr"/>
                      <a:r>
                        <a:rPr sz="1100">
                          <a:solidFill>
                            <a:srgbClr val="333333"/>
                          </a:solidFill>
                          <a:latin typeface="Calibri"/>
                        </a:rPr>
                        <a:t>0.847</a:t>
                      </a:r>
                    </a:p>
                  </a:txBody>
                  <a:tcPr/>
                </a:tc>
              </a:tr>
              <a:tr h="340821">
                <a:tc>
                  <a:txBody>
                    <a:bodyPr/>
                    <a:lstStyle/>
                    <a:p>
                      <a:pPr algn="ctr"/>
                      <a:r>
                        <a:rPr sz="1100">
                          <a:solidFill>
                            <a:srgbClr val="333333"/>
                          </a:solidFill>
                          <a:latin typeface="Calibri"/>
                        </a:rPr>
                        <a:t>2</a:t>
                      </a:r>
                    </a:p>
                  </a:txBody>
                  <a:tcPr/>
                </a:tc>
                <a:tc>
                  <a:txBody>
                    <a:bodyPr/>
                    <a:lstStyle/>
                    <a:p>
                      <a:pPr algn="ctr"/>
                      <a:r>
                        <a:rPr sz="1100">
                          <a:solidFill>
                            <a:srgbClr val="333333"/>
                          </a:solidFill>
                          <a:latin typeface="Calibri"/>
                        </a:rPr>
                        <a:t>Bandarban Sadar</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Hill Tracts</a:t>
                      </a:r>
                    </a:p>
                  </a:txBody>
                  <a:tcPr/>
                </a:tc>
                <a:tc>
                  <a:txBody>
                    <a:bodyPr/>
                    <a:lstStyle/>
                    <a:p>
                      <a:pPr algn="ctr"/>
                      <a:r>
                        <a:rPr sz="1100">
                          <a:solidFill>
                            <a:srgbClr val="333333"/>
                          </a:solidFill>
                          <a:latin typeface="Calibri"/>
                        </a:rPr>
                        <a:t>0.798</a:t>
                      </a:r>
                    </a:p>
                  </a:txBody>
                  <a:tcPr/>
                </a:tc>
              </a:tr>
              <a:tr h="340821">
                <a:tc>
                  <a:txBody>
                    <a:bodyPr/>
                    <a:lstStyle/>
                    <a:p>
                      <a:pPr algn="ctr"/>
                      <a:r>
                        <a:rPr sz="1100">
                          <a:solidFill>
                            <a:srgbClr val="333333"/>
                          </a:solidFill>
                          <a:latin typeface="Calibri"/>
                        </a:rPr>
                        <a:t>3</a:t>
                      </a:r>
                    </a:p>
                  </a:txBody>
                  <a:tcPr/>
                </a:tc>
                <a:tc>
                  <a:txBody>
                    <a:bodyPr/>
                    <a:lstStyle/>
                    <a:p>
                      <a:pPr algn="ctr"/>
                      <a:r>
                        <a:rPr sz="1100">
                          <a:solidFill>
                            <a:srgbClr val="333333"/>
                          </a:solidFill>
                          <a:latin typeface="Calibri"/>
                        </a:rPr>
                        <a:t>Shyamnagar</a:t>
                      </a:r>
                    </a:p>
                  </a:txBody>
                  <a:tcPr/>
                </a:tc>
                <a:tc>
                  <a:txBody>
                    <a:bodyPr/>
                    <a:lstStyle/>
                    <a:p>
                      <a:pPr algn="ctr"/>
                      <a:r>
                        <a:rPr sz="1100">
                          <a:solidFill>
                            <a:srgbClr val="333333"/>
                          </a:solidFill>
                          <a:latin typeface="Calibri"/>
                        </a:rPr>
                        <a:t>Khulna</a:t>
                      </a:r>
                    </a:p>
                  </a:txBody>
                  <a:tcPr/>
                </a:tc>
                <a:tc>
                  <a:txBody>
                    <a:bodyPr/>
                    <a:lstStyle/>
                    <a:p>
                      <a:pPr algn="ctr"/>
                      <a:r>
                        <a:rPr sz="1100">
                          <a:solidFill>
                            <a:srgbClr val="333333"/>
                          </a:solidFill>
                          <a:latin typeface="Calibri"/>
                        </a:rPr>
                        <a:t>Coastal</a:t>
                      </a:r>
                    </a:p>
                  </a:txBody>
                  <a:tcPr/>
                </a:tc>
                <a:tc>
                  <a:txBody>
                    <a:bodyPr/>
                    <a:lstStyle/>
                    <a:p>
                      <a:pPr algn="ctr"/>
                      <a:r>
                        <a:rPr sz="1100">
                          <a:solidFill>
                            <a:srgbClr val="333333"/>
                          </a:solidFill>
                          <a:latin typeface="Calibri"/>
                        </a:rPr>
                        <a:t>0.762</a:t>
                      </a:r>
                    </a:p>
                  </a:txBody>
                  <a:tcPr/>
                </a:tc>
              </a:tr>
              <a:tr h="340821">
                <a:tc>
                  <a:txBody>
                    <a:bodyPr/>
                    <a:lstStyle/>
                    <a:p>
                      <a:pPr algn="ctr"/>
                      <a:r>
                        <a:rPr sz="1100">
                          <a:solidFill>
                            <a:srgbClr val="333333"/>
                          </a:solidFill>
                          <a:latin typeface="Calibri"/>
                        </a:rPr>
                        <a:t>4</a:t>
                      </a:r>
                    </a:p>
                  </a:txBody>
                  <a:tcPr/>
                </a:tc>
                <a:tc>
                  <a:txBody>
                    <a:bodyPr/>
                    <a:lstStyle/>
                    <a:p>
                      <a:pPr algn="ctr"/>
                      <a:r>
                        <a:rPr sz="1100">
                          <a:solidFill>
                            <a:srgbClr val="333333"/>
                          </a:solidFill>
                          <a:latin typeface="Calibri"/>
                        </a:rPr>
                        <a:t>Teknaf</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Coastal</a:t>
                      </a:r>
                    </a:p>
                  </a:txBody>
                  <a:tcPr/>
                </a:tc>
                <a:tc>
                  <a:txBody>
                    <a:bodyPr/>
                    <a:lstStyle/>
                    <a:p>
                      <a:pPr algn="ctr"/>
                      <a:r>
                        <a:rPr sz="1100">
                          <a:solidFill>
                            <a:srgbClr val="333333"/>
                          </a:solidFill>
                          <a:latin typeface="Calibri"/>
                        </a:rPr>
                        <a:t>0.741</a:t>
                      </a:r>
                    </a:p>
                  </a:txBody>
                  <a:tcPr/>
                </a:tc>
              </a:tr>
              <a:tr h="340821">
                <a:tc>
                  <a:txBody>
                    <a:bodyPr/>
                    <a:lstStyle/>
                    <a:p>
                      <a:pPr algn="ctr"/>
                      <a:r>
                        <a:rPr sz="1100">
                          <a:solidFill>
                            <a:srgbClr val="333333"/>
                          </a:solidFill>
                          <a:latin typeface="Calibri"/>
                        </a:rPr>
                        <a:t>5</a:t>
                      </a:r>
                    </a:p>
                  </a:txBody>
                  <a:tcPr/>
                </a:tc>
                <a:tc>
                  <a:txBody>
                    <a:bodyPr/>
                    <a:lstStyle/>
                    <a:p>
                      <a:pPr algn="ctr"/>
                      <a:r>
                        <a:rPr sz="1100">
                          <a:solidFill>
                            <a:srgbClr val="333333"/>
                          </a:solidFill>
                          <a:latin typeface="Calibri"/>
                        </a:rPr>
                        <a:t>Fulchhari</a:t>
                      </a:r>
                    </a:p>
                  </a:txBody>
                  <a:tcPr/>
                </a:tc>
                <a:tc>
                  <a:txBody>
                    <a:bodyPr/>
                    <a:lstStyle/>
                    <a:p>
                      <a:pPr algn="ctr"/>
                      <a:r>
                        <a:rPr sz="1100">
                          <a:solidFill>
                            <a:srgbClr val="333333"/>
                          </a:solidFill>
                          <a:latin typeface="Calibri"/>
                        </a:rPr>
                        <a:t>Rangpur</a:t>
                      </a:r>
                    </a:p>
                  </a:txBody>
                  <a:tcPr/>
                </a:tc>
                <a:tc>
                  <a:txBody>
                    <a:bodyPr/>
                    <a:lstStyle/>
                    <a:p>
                      <a:pPr algn="ctr"/>
                      <a:r>
                        <a:rPr sz="1100">
                          <a:solidFill>
                            <a:srgbClr val="333333"/>
                          </a:solidFill>
                          <a:latin typeface="Calibri"/>
                        </a:rPr>
                        <a:t>Char Islands</a:t>
                      </a:r>
                    </a:p>
                  </a:txBody>
                  <a:tcPr/>
                </a:tc>
                <a:tc>
                  <a:txBody>
                    <a:bodyPr/>
                    <a:lstStyle/>
                    <a:p>
                      <a:pPr algn="ctr"/>
                      <a:r>
                        <a:rPr sz="1100">
                          <a:solidFill>
                            <a:srgbClr val="333333"/>
                          </a:solidFill>
                          <a:latin typeface="Calibri"/>
                        </a:rPr>
                        <a:t>0.728</a:t>
                      </a:r>
                    </a:p>
                  </a:txBody>
                  <a:tcPr/>
                </a:tc>
              </a:tr>
              <a:tr h="340821">
                <a:tc>
                  <a:txBody>
                    <a:bodyPr/>
                    <a:lstStyle/>
                    <a:p>
                      <a:pPr algn="ctr"/>
                      <a:r>
                        <a:rPr sz="1100">
                          <a:solidFill>
                            <a:srgbClr val="333333"/>
                          </a:solidFill>
                          <a:latin typeface="Calibri"/>
                        </a:rPr>
                        <a:t>6</a:t>
                      </a:r>
                    </a:p>
                  </a:txBody>
                  <a:tcPr/>
                </a:tc>
                <a:tc>
                  <a:txBody>
                    <a:bodyPr/>
                    <a:lstStyle/>
                    <a:p>
                      <a:pPr algn="ctr"/>
                      <a:r>
                        <a:rPr sz="1100">
                          <a:solidFill>
                            <a:srgbClr val="333333"/>
                          </a:solidFill>
                          <a:latin typeface="Calibri"/>
                        </a:rPr>
                        <a:t>Saghata</a:t>
                      </a:r>
                    </a:p>
                  </a:txBody>
                  <a:tcPr/>
                </a:tc>
                <a:tc>
                  <a:txBody>
                    <a:bodyPr/>
                    <a:lstStyle/>
                    <a:p>
                      <a:pPr algn="ctr"/>
                      <a:r>
                        <a:rPr sz="1100">
                          <a:solidFill>
                            <a:srgbClr val="333333"/>
                          </a:solidFill>
                          <a:latin typeface="Calibri"/>
                        </a:rPr>
                        <a:t>Rangpur</a:t>
                      </a:r>
                    </a:p>
                  </a:txBody>
                  <a:tcPr/>
                </a:tc>
                <a:tc>
                  <a:txBody>
                    <a:bodyPr/>
                    <a:lstStyle/>
                    <a:p>
                      <a:pPr algn="ctr"/>
                      <a:r>
                        <a:rPr sz="1100">
                          <a:solidFill>
                            <a:srgbClr val="333333"/>
                          </a:solidFill>
                          <a:latin typeface="Calibri"/>
                        </a:rPr>
                        <a:t>Char Islands</a:t>
                      </a:r>
                    </a:p>
                  </a:txBody>
                  <a:tcPr/>
                </a:tc>
                <a:tc>
                  <a:txBody>
                    <a:bodyPr/>
                    <a:lstStyle/>
                    <a:p>
                      <a:pPr algn="ctr"/>
                      <a:r>
                        <a:rPr sz="1100">
                          <a:solidFill>
                            <a:srgbClr val="333333"/>
                          </a:solidFill>
                          <a:latin typeface="Calibri"/>
                        </a:rPr>
                        <a:t>0.694</a:t>
                      </a:r>
                    </a:p>
                  </a:txBody>
                  <a:tcPr/>
                </a:tc>
              </a:tr>
              <a:tr h="340821">
                <a:tc>
                  <a:txBody>
                    <a:bodyPr/>
                    <a:lstStyle/>
                    <a:p>
                      <a:pPr algn="ctr"/>
                      <a:r>
                        <a:rPr sz="1100">
                          <a:solidFill>
                            <a:srgbClr val="333333"/>
                          </a:solidFill>
                          <a:latin typeface="Calibri"/>
                        </a:rPr>
                        <a:t>7</a:t>
                      </a:r>
                    </a:p>
                  </a:txBody>
                  <a:tcPr/>
                </a:tc>
                <a:tc>
                  <a:txBody>
                    <a:bodyPr/>
                    <a:lstStyle/>
                    <a:p>
                      <a:pPr algn="ctr"/>
                      <a:r>
                        <a:rPr sz="1100">
                          <a:solidFill>
                            <a:srgbClr val="333333"/>
                          </a:solidFill>
                          <a:latin typeface="Calibri"/>
                        </a:rPr>
                        <a:t>Ukhia</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Coastal</a:t>
                      </a:r>
                    </a:p>
                  </a:txBody>
                  <a:tcPr/>
                </a:tc>
                <a:tc>
                  <a:txBody>
                    <a:bodyPr/>
                    <a:lstStyle/>
                    <a:p>
                      <a:pPr algn="ctr"/>
                      <a:r>
                        <a:rPr sz="1100">
                          <a:solidFill>
                            <a:srgbClr val="333333"/>
                          </a:solidFill>
                          <a:latin typeface="Calibri"/>
                        </a:rPr>
                        <a:t>0.681</a:t>
                      </a:r>
                    </a:p>
                  </a:txBody>
                  <a:tcPr/>
                </a:tc>
              </a:tr>
              <a:tr h="340821">
                <a:tc>
                  <a:txBody>
                    <a:bodyPr/>
                    <a:lstStyle/>
                    <a:p>
                      <a:pPr algn="ctr"/>
                      <a:r>
                        <a:rPr sz="1100">
                          <a:solidFill>
                            <a:srgbClr val="333333"/>
                          </a:solidFill>
                          <a:latin typeface="Calibri"/>
                        </a:rPr>
                        <a:t>8</a:t>
                      </a:r>
                    </a:p>
                  </a:txBody>
                  <a:tcPr/>
                </a:tc>
                <a:tc>
                  <a:txBody>
                    <a:bodyPr/>
                    <a:lstStyle/>
                    <a:p>
                      <a:pPr algn="ctr"/>
                      <a:r>
                        <a:rPr sz="1100">
                          <a:solidFill>
                            <a:srgbClr val="333333"/>
                          </a:solidFill>
                          <a:latin typeface="Calibri"/>
                        </a:rPr>
                        <a:t>Kaliganj</a:t>
                      </a:r>
                    </a:p>
                  </a:txBody>
                  <a:tcPr/>
                </a:tc>
                <a:tc>
                  <a:txBody>
                    <a:bodyPr/>
                    <a:lstStyle/>
                    <a:p>
                      <a:pPr algn="ctr"/>
                      <a:r>
                        <a:rPr sz="1100">
                          <a:solidFill>
                            <a:srgbClr val="333333"/>
                          </a:solidFill>
                          <a:latin typeface="Calibri"/>
                        </a:rPr>
                        <a:t>Khulna</a:t>
                      </a:r>
                    </a:p>
                  </a:txBody>
                  <a:tcPr/>
                </a:tc>
                <a:tc>
                  <a:txBody>
                    <a:bodyPr/>
                    <a:lstStyle/>
                    <a:p>
                      <a:pPr algn="ctr"/>
                      <a:r>
                        <a:rPr sz="1100">
                          <a:solidFill>
                            <a:srgbClr val="333333"/>
                          </a:solidFill>
                          <a:latin typeface="Calibri"/>
                        </a:rPr>
                        <a:t>Coastal</a:t>
                      </a:r>
                    </a:p>
                  </a:txBody>
                  <a:tcPr/>
                </a:tc>
                <a:tc>
                  <a:txBody>
                    <a:bodyPr/>
                    <a:lstStyle/>
                    <a:p>
                      <a:pPr algn="ctr"/>
                      <a:r>
                        <a:rPr sz="1100">
                          <a:solidFill>
                            <a:srgbClr val="333333"/>
                          </a:solidFill>
                          <a:latin typeface="Calibri"/>
                        </a:rPr>
                        <a:t>0.658</a:t>
                      </a:r>
                    </a:p>
                  </a:txBody>
                  <a:tcPr/>
                </a:tc>
              </a:tr>
              <a:tr h="340821">
                <a:tc>
                  <a:txBody>
                    <a:bodyPr/>
                    <a:lstStyle/>
                    <a:p>
                      <a:pPr algn="ctr"/>
                      <a:r>
                        <a:rPr sz="1100">
                          <a:solidFill>
                            <a:srgbClr val="333333"/>
                          </a:solidFill>
                          <a:latin typeface="Calibri"/>
                        </a:rPr>
                        <a:t>9</a:t>
                      </a:r>
                    </a:p>
                  </a:txBody>
                  <a:tcPr/>
                </a:tc>
                <a:tc>
                  <a:txBody>
                    <a:bodyPr/>
                    <a:lstStyle/>
                    <a:p>
                      <a:pPr algn="ctr"/>
                      <a:r>
                        <a:rPr sz="1100">
                          <a:solidFill>
                            <a:srgbClr val="333333"/>
                          </a:solidFill>
                          <a:latin typeface="Calibri"/>
                        </a:rPr>
                        <a:t>Tahirpur</a:t>
                      </a:r>
                    </a:p>
                  </a:txBody>
                  <a:tcPr/>
                </a:tc>
                <a:tc>
                  <a:txBody>
                    <a:bodyPr/>
                    <a:lstStyle/>
                    <a:p>
                      <a:pPr algn="ctr"/>
                      <a:r>
                        <a:rPr sz="1100">
                          <a:solidFill>
                            <a:srgbClr val="333333"/>
                          </a:solidFill>
                          <a:latin typeface="Calibri"/>
                        </a:rPr>
                        <a:t>Sylhet</a:t>
                      </a:r>
                    </a:p>
                  </a:txBody>
                  <a:tcPr/>
                </a:tc>
                <a:tc>
                  <a:txBody>
                    <a:bodyPr/>
                    <a:lstStyle/>
                    <a:p>
                      <a:pPr algn="ctr"/>
                      <a:r>
                        <a:rPr sz="1100">
                          <a:solidFill>
                            <a:srgbClr val="333333"/>
                          </a:solidFill>
                          <a:latin typeface="Calibri"/>
                        </a:rPr>
                        <a:t>Haor Wetlands</a:t>
                      </a:r>
                    </a:p>
                  </a:txBody>
                  <a:tcPr/>
                </a:tc>
                <a:tc>
                  <a:txBody>
                    <a:bodyPr/>
                    <a:lstStyle/>
                    <a:p>
                      <a:pPr algn="ctr"/>
                      <a:r>
                        <a:rPr sz="1100">
                          <a:solidFill>
                            <a:srgbClr val="333333"/>
                          </a:solidFill>
                          <a:latin typeface="Calibri"/>
                        </a:rPr>
                        <a:t>0.621</a:t>
                      </a:r>
                    </a:p>
                  </a:txBody>
                  <a:tcPr/>
                </a:tc>
              </a:tr>
              <a:tr h="340829">
                <a:tc>
                  <a:txBody>
                    <a:bodyPr/>
                    <a:lstStyle/>
                    <a:p>
                      <a:pPr algn="ctr"/>
                      <a:r>
                        <a:rPr sz="1100">
                          <a:solidFill>
                            <a:srgbClr val="333333"/>
                          </a:solidFill>
                          <a:latin typeface="Calibri"/>
                        </a:rPr>
                        <a:t>10</a:t>
                      </a:r>
                    </a:p>
                  </a:txBody>
                  <a:tcPr/>
                </a:tc>
                <a:tc>
                  <a:txBody>
                    <a:bodyPr/>
                    <a:lstStyle/>
                    <a:p>
                      <a:pPr algn="ctr"/>
                      <a:r>
                        <a:rPr sz="1100">
                          <a:solidFill>
                            <a:srgbClr val="333333"/>
                          </a:solidFill>
                          <a:latin typeface="Calibri"/>
                        </a:rPr>
                        <a:t>Sunamganj Sadar</a:t>
                      </a:r>
                    </a:p>
                  </a:txBody>
                  <a:tcPr/>
                </a:tc>
                <a:tc>
                  <a:txBody>
                    <a:bodyPr/>
                    <a:lstStyle/>
                    <a:p>
                      <a:pPr algn="ctr"/>
                      <a:r>
                        <a:rPr sz="1100">
                          <a:solidFill>
                            <a:srgbClr val="333333"/>
                          </a:solidFill>
                          <a:latin typeface="Calibri"/>
                        </a:rPr>
                        <a:t>Sylhet</a:t>
                      </a:r>
                    </a:p>
                  </a:txBody>
                  <a:tcPr/>
                </a:tc>
                <a:tc>
                  <a:txBody>
                    <a:bodyPr/>
                    <a:lstStyle/>
                    <a:p>
                      <a:pPr algn="ctr"/>
                      <a:r>
                        <a:rPr sz="1100">
                          <a:solidFill>
                            <a:srgbClr val="333333"/>
                          </a:solidFill>
                          <a:latin typeface="Calibri"/>
                        </a:rPr>
                        <a:t>Haor Wetlands</a:t>
                      </a:r>
                    </a:p>
                  </a:txBody>
                  <a:tcPr/>
                </a:tc>
                <a:tc>
                  <a:txBody>
                    <a:bodyPr/>
                    <a:lstStyle/>
                    <a:p>
                      <a:pPr algn="ctr"/>
                      <a:r>
                        <a:rPr sz="1100">
                          <a:solidFill>
                            <a:srgbClr val="333333"/>
                          </a:solidFill>
                          <a:latin typeface="Calibri"/>
                        </a:rPr>
                        <a:t>0.574</a:t>
                      </a:r>
                    </a:p>
                  </a:txBody>
                  <a:tcPr/>
                </a:tc>
              </a:tr>
            </a:tbl>
          </a:graphicData>
        </a:graphic>
      </p:graphicFrame>
      <p:sp>
        <p:nvSpPr>
          <p:cNvPr id="12" name="TextBox 11"/>
          <p:cNvSpPr txBox="1"/>
          <p:nvPr/>
        </p:nvSpPr>
        <p:spPr>
          <a:xfrm>
            <a:off x="6217920" y="1097280"/>
            <a:ext cx="5669280" cy="365760"/>
          </a:xfrm>
          <a:prstGeom prst="rect">
            <a:avLst/>
          </a:prstGeom>
          <a:noFill/>
        </p:spPr>
        <p:txBody>
          <a:bodyPr wrap="square">
            <a:spAutoFit/>
          </a:bodyPr>
          <a:lstStyle/>
          <a:p>
            <a:pPr algn="l"/>
            <a:r>
              <a:rPr sz="1400" b="1" i="0">
                <a:solidFill>
                  <a:srgbClr val="70AD47"/>
                </a:solidFill>
                <a:latin typeface="Calibri"/>
              </a:rPr>
              <a:t>Top 10 Least Energy-Poor Upazilas</a:t>
            </a:r>
          </a:p>
        </p:txBody>
      </p:sp>
      <p:graphicFrame>
        <p:nvGraphicFramePr>
          <p:cNvPr id="13" name="Table 12"/>
          <p:cNvGraphicFramePr>
            <a:graphicFrameLocks noGrp="1"/>
          </p:cNvGraphicFramePr>
          <p:nvPr/>
        </p:nvGraphicFramePr>
        <p:xfrm>
          <a:off x="6217920" y="1508760"/>
          <a:ext cx="5303520" cy="3749039"/>
        </p:xfrm>
        <a:graphic>
          <a:graphicData uri="http://schemas.openxmlformats.org/drawingml/2006/table">
            <a:tbl>
              <a:tblPr firstRow="1" bandRow="1">
                <a:tableStyleId>{5C22544A-7EE6-4342-B048-85BDC9FD1C3A}</a:tableStyleId>
              </a:tblPr>
              <a:tblGrid>
                <a:gridCol w="365760"/>
                <a:gridCol w="1554480"/>
                <a:gridCol w="1188720"/>
                <a:gridCol w="1371600"/>
                <a:gridCol w="822960"/>
              </a:tblGrid>
              <a:tr h="340821">
                <a:tc>
                  <a:txBody>
                    <a:bodyPr/>
                    <a:lstStyle/>
                    <a:p>
                      <a:pPr algn="ctr"/>
                      <a:r>
                        <a:rPr sz="1100" b="1">
                          <a:solidFill>
                            <a:srgbClr val="FFFFFF"/>
                          </a:solidFill>
                          <a:latin typeface="Calibri"/>
                        </a:rPr>
                        <a:t>#</a:t>
                      </a:r>
                    </a:p>
                  </a:txBody>
                  <a:tcPr>
                    <a:solidFill>
                      <a:srgbClr val="70AD47"/>
                    </a:solidFill>
                  </a:tcPr>
                </a:tc>
                <a:tc>
                  <a:txBody>
                    <a:bodyPr/>
                    <a:lstStyle/>
                    <a:p>
                      <a:pPr algn="ctr"/>
                      <a:r>
                        <a:rPr sz="1100" b="1">
                          <a:solidFill>
                            <a:srgbClr val="FFFFFF"/>
                          </a:solidFill>
                          <a:latin typeface="Calibri"/>
                        </a:rPr>
                        <a:t>Upazila</a:t>
                      </a:r>
                    </a:p>
                  </a:txBody>
                  <a:tcPr>
                    <a:solidFill>
                      <a:srgbClr val="70AD47"/>
                    </a:solidFill>
                  </a:tcPr>
                </a:tc>
                <a:tc>
                  <a:txBody>
                    <a:bodyPr/>
                    <a:lstStyle/>
                    <a:p>
                      <a:pPr algn="ctr"/>
                      <a:r>
                        <a:rPr sz="1100" b="1">
                          <a:solidFill>
                            <a:srgbClr val="FFFFFF"/>
                          </a:solidFill>
                          <a:latin typeface="Calibri"/>
                        </a:rPr>
                        <a:t>Division</a:t>
                      </a:r>
                    </a:p>
                  </a:txBody>
                  <a:tcPr>
                    <a:solidFill>
                      <a:srgbClr val="70AD47"/>
                    </a:solidFill>
                  </a:tcPr>
                </a:tc>
                <a:tc>
                  <a:txBody>
                    <a:bodyPr/>
                    <a:lstStyle/>
                    <a:p>
                      <a:pPr algn="ctr"/>
                      <a:r>
                        <a:rPr sz="1100" b="1">
                          <a:solidFill>
                            <a:srgbClr val="FFFFFF"/>
                          </a:solidFill>
                          <a:latin typeface="Calibri"/>
                        </a:rPr>
                        <a:t>Zone</a:t>
                      </a:r>
                    </a:p>
                  </a:txBody>
                  <a:tcPr>
                    <a:solidFill>
                      <a:srgbClr val="70AD47"/>
                    </a:solidFill>
                  </a:tcPr>
                </a:tc>
                <a:tc>
                  <a:txBody>
                    <a:bodyPr/>
                    <a:lstStyle/>
                    <a:p>
                      <a:pPr algn="ctr"/>
                      <a:r>
                        <a:rPr sz="1100" b="1">
                          <a:solidFill>
                            <a:srgbClr val="FFFFFF"/>
                          </a:solidFill>
                          <a:latin typeface="Calibri"/>
                        </a:rPr>
                        <a:t>MEPI</a:t>
                      </a:r>
                    </a:p>
                  </a:txBody>
                  <a:tcPr>
                    <a:solidFill>
                      <a:srgbClr val="70AD47"/>
                    </a:solidFill>
                  </a:tcPr>
                </a:tc>
              </a:tr>
              <a:tr h="340821">
                <a:tc>
                  <a:txBody>
                    <a:bodyPr/>
                    <a:lstStyle/>
                    <a:p>
                      <a:pPr algn="ctr"/>
                      <a:r>
                        <a:rPr sz="1100">
                          <a:solidFill>
                            <a:srgbClr val="333333"/>
                          </a:solidFill>
                          <a:latin typeface="Calibri"/>
                        </a:rPr>
                        <a:t>1</a:t>
                      </a:r>
                    </a:p>
                  </a:txBody>
                  <a:tcPr/>
                </a:tc>
                <a:tc>
                  <a:txBody>
                    <a:bodyPr/>
                    <a:lstStyle/>
                    <a:p>
                      <a:pPr algn="ctr"/>
                      <a:r>
                        <a:rPr sz="1100">
                          <a:solidFill>
                            <a:srgbClr val="333333"/>
                          </a:solidFill>
                          <a:latin typeface="Calibri"/>
                        </a:rPr>
                        <a:t>Savar</a:t>
                      </a:r>
                    </a:p>
                  </a:txBody>
                  <a:tcPr/>
                </a:tc>
                <a:tc>
                  <a:txBody>
                    <a:bodyPr/>
                    <a:lstStyle/>
                    <a:p>
                      <a:pPr algn="ctr"/>
                      <a:r>
                        <a:rPr sz="1100">
                          <a:solidFill>
                            <a:srgbClr val="333333"/>
                          </a:solidFill>
                          <a:latin typeface="Calibri"/>
                        </a:rPr>
                        <a:t>Dhaka</a:t>
                      </a:r>
                    </a:p>
                  </a:txBody>
                  <a:tcPr/>
                </a:tc>
                <a:tc>
                  <a:txBody>
                    <a:bodyPr/>
                    <a:lstStyle/>
                    <a:p>
                      <a:pPr algn="ctr"/>
                      <a:r>
                        <a:rPr sz="1100">
                          <a:solidFill>
                            <a:srgbClr val="333333"/>
                          </a:solidFill>
                          <a:latin typeface="Calibri"/>
                        </a:rPr>
                        <a:t>Urban Core</a:t>
                      </a:r>
                    </a:p>
                  </a:txBody>
                  <a:tcPr/>
                </a:tc>
                <a:tc>
                  <a:txBody>
                    <a:bodyPr/>
                    <a:lstStyle/>
                    <a:p>
                      <a:pPr algn="ctr"/>
                      <a:r>
                        <a:rPr sz="1100">
                          <a:solidFill>
                            <a:srgbClr val="333333"/>
                          </a:solidFill>
                          <a:latin typeface="Calibri"/>
                        </a:rPr>
                        <a:t>0.182</a:t>
                      </a:r>
                    </a:p>
                  </a:txBody>
                  <a:tcPr/>
                </a:tc>
              </a:tr>
              <a:tr h="340821">
                <a:tc>
                  <a:txBody>
                    <a:bodyPr/>
                    <a:lstStyle/>
                    <a:p>
                      <a:pPr algn="ctr"/>
                      <a:r>
                        <a:rPr sz="1100">
                          <a:solidFill>
                            <a:srgbClr val="333333"/>
                          </a:solidFill>
                          <a:latin typeface="Calibri"/>
                        </a:rPr>
                        <a:t>2</a:t>
                      </a:r>
                    </a:p>
                  </a:txBody>
                  <a:tcPr/>
                </a:tc>
                <a:tc>
                  <a:txBody>
                    <a:bodyPr/>
                    <a:lstStyle/>
                    <a:p>
                      <a:pPr algn="ctr"/>
                      <a:r>
                        <a:rPr sz="1100">
                          <a:solidFill>
                            <a:srgbClr val="333333"/>
                          </a:solidFill>
                          <a:latin typeface="Calibri"/>
                        </a:rPr>
                        <a:t>Rajshahi Sadar</a:t>
                      </a:r>
                    </a:p>
                  </a:txBody>
                  <a:tcPr/>
                </a:tc>
                <a:tc>
                  <a:txBody>
                    <a:bodyPr/>
                    <a:lstStyle/>
                    <a:p>
                      <a:pPr algn="ctr"/>
                      <a:r>
                        <a:rPr sz="1100">
                          <a:solidFill>
                            <a:srgbClr val="333333"/>
                          </a:solidFill>
                          <a:latin typeface="Calibri"/>
                        </a:rPr>
                        <a:t>Rajshahi</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0.196</a:t>
                      </a:r>
                    </a:p>
                  </a:txBody>
                  <a:tcPr/>
                </a:tc>
              </a:tr>
              <a:tr h="340821">
                <a:tc>
                  <a:txBody>
                    <a:bodyPr/>
                    <a:lstStyle/>
                    <a:p>
                      <a:pPr algn="ctr"/>
                      <a:r>
                        <a:rPr sz="1100">
                          <a:solidFill>
                            <a:srgbClr val="333333"/>
                          </a:solidFill>
                          <a:latin typeface="Calibri"/>
                        </a:rPr>
                        <a:t>3</a:t>
                      </a:r>
                    </a:p>
                  </a:txBody>
                  <a:tcPr/>
                </a:tc>
                <a:tc>
                  <a:txBody>
                    <a:bodyPr/>
                    <a:lstStyle/>
                    <a:p>
                      <a:pPr algn="ctr"/>
                      <a:r>
                        <a:rPr sz="1100">
                          <a:solidFill>
                            <a:srgbClr val="333333"/>
                          </a:solidFill>
                          <a:latin typeface="Calibri"/>
                        </a:rPr>
                        <a:t>Keraniganj</a:t>
                      </a:r>
                    </a:p>
                  </a:txBody>
                  <a:tcPr/>
                </a:tc>
                <a:tc>
                  <a:txBody>
                    <a:bodyPr/>
                    <a:lstStyle/>
                    <a:p>
                      <a:pPr algn="ctr"/>
                      <a:r>
                        <a:rPr sz="1100">
                          <a:solidFill>
                            <a:srgbClr val="333333"/>
                          </a:solidFill>
                          <a:latin typeface="Calibri"/>
                        </a:rPr>
                        <a:t>Dhaka</a:t>
                      </a:r>
                    </a:p>
                  </a:txBody>
                  <a:tcPr/>
                </a:tc>
                <a:tc>
                  <a:txBody>
                    <a:bodyPr/>
                    <a:lstStyle/>
                    <a:p>
                      <a:pPr algn="ctr"/>
                      <a:r>
                        <a:rPr sz="1100">
                          <a:solidFill>
                            <a:srgbClr val="333333"/>
                          </a:solidFill>
                          <a:latin typeface="Calibri"/>
                        </a:rPr>
                        <a:t>Urban Core</a:t>
                      </a:r>
                    </a:p>
                  </a:txBody>
                  <a:tcPr/>
                </a:tc>
                <a:tc>
                  <a:txBody>
                    <a:bodyPr/>
                    <a:lstStyle/>
                    <a:p>
                      <a:pPr algn="ctr"/>
                      <a:r>
                        <a:rPr sz="1100">
                          <a:solidFill>
                            <a:srgbClr val="333333"/>
                          </a:solidFill>
                          <a:latin typeface="Calibri"/>
                        </a:rPr>
                        <a:t>0.238</a:t>
                      </a:r>
                    </a:p>
                  </a:txBody>
                  <a:tcPr/>
                </a:tc>
              </a:tr>
              <a:tr h="340821">
                <a:tc>
                  <a:txBody>
                    <a:bodyPr/>
                    <a:lstStyle/>
                    <a:p>
                      <a:pPr algn="ctr"/>
                      <a:r>
                        <a:rPr sz="1100">
                          <a:solidFill>
                            <a:srgbClr val="333333"/>
                          </a:solidFill>
                          <a:latin typeface="Calibri"/>
                        </a:rPr>
                        <a:t>4</a:t>
                      </a:r>
                    </a:p>
                  </a:txBody>
                  <a:tcPr/>
                </a:tc>
                <a:tc>
                  <a:txBody>
                    <a:bodyPr/>
                    <a:lstStyle/>
                    <a:p>
                      <a:pPr algn="ctr"/>
                      <a:r>
                        <a:rPr sz="1100">
                          <a:solidFill>
                            <a:srgbClr val="333333"/>
                          </a:solidFill>
                          <a:latin typeface="Calibri"/>
                        </a:rPr>
                        <a:t>Nawabganj</a:t>
                      </a:r>
                    </a:p>
                  </a:txBody>
                  <a:tcPr/>
                </a:tc>
                <a:tc>
                  <a:txBody>
                    <a:bodyPr/>
                    <a:lstStyle/>
                    <a:p>
                      <a:pPr algn="ctr"/>
                      <a:r>
                        <a:rPr sz="1100">
                          <a:solidFill>
                            <a:srgbClr val="333333"/>
                          </a:solidFill>
                          <a:latin typeface="Calibri"/>
                        </a:rPr>
                        <a:t>Dhaka</a:t>
                      </a:r>
                    </a:p>
                  </a:txBody>
                  <a:tcPr/>
                </a:tc>
                <a:tc>
                  <a:txBody>
                    <a:bodyPr/>
                    <a:lstStyle/>
                    <a:p>
                      <a:pPr algn="ctr"/>
                      <a:r>
                        <a:rPr sz="1100">
                          <a:solidFill>
                            <a:srgbClr val="333333"/>
                          </a:solidFill>
                          <a:latin typeface="Calibri"/>
                        </a:rPr>
                        <a:t>Urban Core</a:t>
                      </a:r>
                    </a:p>
                  </a:txBody>
                  <a:tcPr/>
                </a:tc>
                <a:tc>
                  <a:txBody>
                    <a:bodyPr/>
                    <a:lstStyle/>
                    <a:p>
                      <a:pPr algn="ctr"/>
                      <a:r>
                        <a:rPr sz="1100">
                          <a:solidFill>
                            <a:srgbClr val="333333"/>
                          </a:solidFill>
                          <a:latin typeface="Calibri"/>
                        </a:rPr>
                        <a:t>0.251</a:t>
                      </a:r>
                    </a:p>
                  </a:txBody>
                  <a:tcPr/>
                </a:tc>
              </a:tr>
              <a:tr h="340821">
                <a:tc>
                  <a:txBody>
                    <a:bodyPr/>
                    <a:lstStyle/>
                    <a:p>
                      <a:pPr algn="ctr"/>
                      <a:r>
                        <a:rPr sz="1100">
                          <a:solidFill>
                            <a:srgbClr val="333333"/>
                          </a:solidFill>
                          <a:latin typeface="Calibri"/>
                        </a:rPr>
                        <a:t>5</a:t>
                      </a:r>
                    </a:p>
                  </a:txBody>
                  <a:tcPr/>
                </a:tc>
                <a:tc>
                  <a:txBody>
                    <a:bodyPr/>
                    <a:lstStyle/>
                    <a:p>
                      <a:pPr algn="ctr"/>
                      <a:r>
                        <a:rPr sz="1100">
                          <a:solidFill>
                            <a:srgbClr val="333333"/>
                          </a:solidFill>
                          <a:latin typeface="Calibri"/>
                        </a:rPr>
                        <a:t>Barishal Sadar</a:t>
                      </a:r>
                    </a:p>
                  </a:txBody>
                  <a:tcPr/>
                </a:tc>
                <a:tc>
                  <a:txBody>
                    <a:bodyPr/>
                    <a:lstStyle/>
                    <a:p>
                      <a:pPr algn="ctr"/>
                      <a:r>
                        <a:rPr sz="1100">
                          <a:solidFill>
                            <a:srgbClr val="333333"/>
                          </a:solidFill>
                          <a:latin typeface="Calibri"/>
                        </a:rPr>
                        <a:t>Barishal</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0.274</a:t>
                      </a:r>
                    </a:p>
                  </a:txBody>
                  <a:tcPr/>
                </a:tc>
              </a:tr>
              <a:tr h="340821">
                <a:tc>
                  <a:txBody>
                    <a:bodyPr/>
                    <a:lstStyle/>
                    <a:p>
                      <a:pPr algn="ctr"/>
                      <a:r>
                        <a:rPr sz="1100">
                          <a:solidFill>
                            <a:srgbClr val="333333"/>
                          </a:solidFill>
                          <a:latin typeface="Calibri"/>
                        </a:rPr>
                        <a:t>6</a:t>
                      </a:r>
                    </a:p>
                  </a:txBody>
                  <a:tcPr/>
                </a:tc>
                <a:tc>
                  <a:txBody>
                    <a:bodyPr/>
                    <a:lstStyle/>
                    <a:p>
                      <a:pPr algn="ctr"/>
                      <a:r>
                        <a:rPr sz="1100">
                          <a:solidFill>
                            <a:srgbClr val="333333"/>
                          </a:solidFill>
                          <a:latin typeface="Calibri"/>
                        </a:rPr>
                        <a:t>Dohar</a:t>
                      </a:r>
                    </a:p>
                  </a:txBody>
                  <a:tcPr/>
                </a:tc>
                <a:tc>
                  <a:txBody>
                    <a:bodyPr/>
                    <a:lstStyle/>
                    <a:p>
                      <a:pPr algn="ctr"/>
                      <a:r>
                        <a:rPr sz="1100">
                          <a:solidFill>
                            <a:srgbClr val="333333"/>
                          </a:solidFill>
                          <a:latin typeface="Calibri"/>
                        </a:rPr>
                        <a:t>Dhaka</a:t>
                      </a:r>
                    </a:p>
                  </a:txBody>
                  <a:tcPr/>
                </a:tc>
                <a:tc>
                  <a:txBody>
                    <a:bodyPr/>
                    <a:lstStyle/>
                    <a:p>
                      <a:pPr algn="ctr"/>
                      <a:r>
                        <a:rPr sz="1100">
                          <a:solidFill>
                            <a:srgbClr val="333333"/>
                          </a:solidFill>
                          <a:latin typeface="Calibri"/>
                        </a:rPr>
                        <a:t>Urban Core</a:t>
                      </a:r>
                    </a:p>
                  </a:txBody>
                  <a:tcPr/>
                </a:tc>
                <a:tc>
                  <a:txBody>
                    <a:bodyPr/>
                    <a:lstStyle/>
                    <a:p>
                      <a:pPr algn="ctr"/>
                      <a:r>
                        <a:rPr sz="1100">
                          <a:solidFill>
                            <a:srgbClr val="333333"/>
                          </a:solidFill>
                          <a:latin typeface="Calibri"/>
                        </a:rPr>
                        <a:t>0.298</a:t>
                      </a:r>
                    </a:p>
                  </a:txBody>
                  <a:tcPr/>
                </a:tc>
              </a:tr>
              <a:tr h="340821">
                <a:tc>
                  <a:txBody>
                    <a:bodyPr/>
                    <a:lstStyle/>
                    <a:p>
                      <a:pPr algn="ctr"/>
                      <a:r>
                        <a:rPr sz="1100">
                          <a:solidFill>
                            <a:srgbClr val="333333"/>
                          </a:solidFill>
                          <a:latin typeface="Calibri"/>
                        </a:rPr>
                        <a:t>7</a:t>
                      </a:r>
                    </a:p>
                  </a:txBody>
                  <a:tcPr/>
                </a:tc>
                <a:tc>
                  <a:txBody>
                    <a:bodyPr/>
                    <a:lstStyle/>
                    <a:p>
                      <a:pPr algn="ctr"/>
                      <a:r>
                        <a:rPr sz="1100">
                          <a:solidFill>
                            <a:srgbClr val="333333"/>
                          </a:solidFill>
                          <a:latin typeface="Calibri"/>
                        </a:rPr>
                        <a:t>Godagari</a:t>
                      </a:r>
                    </a:p>
                  </a:txBody>
                  <a:tcPr/>
                </a:tc>
                <a:tc>
                  <a:txBody>
                    <a:bodyPr/>
                    <a:lstStyle/>
                    <a:p>
                      <a:pPr algn="ctr"/>
                      <a:r>
                        <a:rPr sz="1100">
                          <a:solidFill>
                            <a:srgbClr val="333333"/>
                          </a:solidFill>
                          <a:latin typeface="Calibri"/>
                        </a:rPr>
                        <a:t>Rajshahi</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0.342</a:t>
                      </a:r>
                    </a:p>
                  </a:txBody>
                  <a:tcPr/>
                </a:tc>
              </a:tr>
              <a:tr h="340821">
                <a:tc>
                  <a:txBody>
                    <a:bodyPr/>
                    <a:lstStyle/>
                    <a:p>
                      <a:pPr algn="ctr"/>
                      <a:r>
                        <a:rPr sz="1100">
                          <a:solidFill>
                            <a:srgbClr val="333333"/>
                          </a:solidFill>
                          <a:latin typeface="Calibri"/>
                        </a:rPr>
                        <a:t>8</a:t>
                      </a:r>
                    </a:p>
                  </a:txBody>
                  <a:tcPr/>
                </a:tc>
                <a:tc>
                  <a:txBody>
                    <a:bodyPr/>
                    <a:lstStyle/>
                    <a:p>
                      <a:pPr algn="ctr"/>
                      <a:r>
                        <a:rPr sz="1100">
                          <a:solidFill>
                            <a:srgbClr val="333333"/>
                          </a:solidFill>
                          <a:latin typeface="Calibri"/>
                        </a:rPr>
                        <a:t>Patiya</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0.361</a:t>
                      </a:r>
                    </a:p>
                  </a:txBody>
                  <a:tcPr/>
                </a:tc>
              </a:tr>
              <a:tr h="340821">
                <a:tc>
                  <a:txBody>
                    <a:bodyPr/>
                    <a:lstStyle/>
                    <a:p>
                      <a:pPr algn="ctr"/>
                      <a:r>
                        <a:rPr sz="1100">
                          <a:solidFill>
                            <a:srgbClr val="333333"/>
                          </a:solidFill>
                          <a:latin typeface="Calibri"/>
                        </a:rPr>
                        <a:t>9</a:t>
                      </a:r>
                    </a:p>
                  </a:txBody>
                  <a:tcPr/>
                </a:tc>
                <a:tc>
                  <a:txBody>
                    <a:bodyPr/>
                    <a:lstStyle/>
                    <a:p>
                      <a:pPr algn="ctr"/>
                      <a:r>
                        <a:rPr sz="1100">
                          <a:solidFill>
                            <a:srgbClr val="333333"/>
                          </a:solidFill>
                          <a:latin typeface="Calibri"/>
                        </a:rPr>
                        <a:t>Rangunia</a:t>
                      </a:r>
                    </a:p>
                  </a:txBody>
                  <a:tcPr/>
                </a:tc>
                <a:tc>
                  <a:txBody>
                    <a:bodyPr/>
                    <a:lstStyle/>
                    <a:p>
                      <a:pPr algn="ctr"/>
                      <a:r>
                        <a:rPr sz="1100">
                          <a:solidFill>
                            <a:srgbClr val="333333"/>
                          </a:solidFill>
                          <a:latin typeface="Calibri"/>
                        </a:rPr>
                        <a:t>Chittagong</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0.378</a:t>
                      </a:r>
                    </a:p>
                  </a:txBody>
                  <a:tcPr/>
                </a:tc>
              </a:tr>
              <a:tr h="340829">
                <a:tc>
                  <a:txBody>
                    <a:bodyPr/>
                    <a:lstStyle/>
                    <a:p>
                      <a:pPr algn="ctr"/>
                      <a:r>
                        <a:rPr sz="1100">
                          <a:solidFill>
                            <a:srgbClr val="333333"/>
                          </a:solidFill>
                          <a:latin typeface="Calibri"/>
                        </a:rPr>
                        <a:t>10</a:t>
                      </a:r>
                    </a:p>
                  </a:txBody>
                  <a:tcPr/>
                </a:tc>
                <a:tc>
                  <a:txBody>
                    <a:bodyPr/>
                    <a:lstStyle/>
                    <a:p>
                      <a:pPr algn="ctr"/>
                      <a:r>
                        <a:rPr sz="1100">
                          <a:solidFill>
                            <a:srgbClr val="333333"/>
                          </a:solidFill>
                          <a:latin typeface="Calibri"/>
                        </a:rPr>
                        <a:t>Muladi</a:t>
                      </a:r>
                    </a:p>
                  </a:txBody>
                  <a:tcPr/>
                </a:tc>
                <a:tc>
                  <a:txBody>
                    <a:bodyPr/>
                    <a:lstStyle/>
                    <a:p>
                      <a:pPr algn="ctr"/>
                      <a:r>
                        <a:rPr sz="1100">
                          <a:solidFill>
                            <a:srgbClr val="333333"/>
                          </a:solidFill>
                          <a:latin typeface="Calibri"/>
                        </a:rPr>
                        <a:t>Barishal</a:t>
                      </a:r>
                    </a:p>
                  </a:txBody>
                  <a:tcPr/>
                </a:tc>
                <a:tc>
                  <a:txBody>
                    <a:bodyPr/>
                    <a:lstStyle/>
                    <a:p>
                      <a:pPr algn="ctr"/>
                      <a:r>
                        <a:rPr sz="1100">
                          <a:solidFill>
                            <a:srgbClr val="333333"/>
                          </a:solidFill>
                          <a:latin typeface="Calibri"/>
                        </a:rPr>
                        <a:t>Plains</a:t>
                      </a:r>
                    </a:p>
                  </a:txBody>
                  <a:tcPr/>
                </a:tc>
                <a:tc>
                  <a:txBody>
                    <a:bodyPr/>
                    <a:lstStyle/>
                    <a:p>
                      <a:pPr algn="ctr"/>
                      <a:r>
                        <a:rPr sz="1100">
                          <a:solidFill>
                            <a:srgbClr val="333333"/>
                          </a:solidFill>
                          <a:latin typeface="Calibri"/>
                        </a:rPr>
                        <a:t>0.412</a:t>
                      </a:r>
                    </a:p>
                  </a:txBody>
                  <a:tcPr/>
                </a:tc>
              </a:tr>
            </a:tbl>
          </a:graphicData>
        </a:graphic>
      </p:graphicFrame>
      <p:sp>
        <p:nvSpPr>
          <p:cNvPr id="14" name="Rectangle 13"/>
          <p:cNvSpPr/>
          <p:nvPr/>
        </p:nvSpPr>
        <p:spPr>
          <a:xfrm>
            <a:off x="274320" y="5394960"/>
            <a:ext cx="11612880" cy="868680"/>
          </a:xfrm>
          <a:prstGeom prst="rect">
            <a:avLst/>
          </a:prstGeom>
          <a:solidFill>
            <a:srgbClr val="FFFFFF"/>
          </a:solidFill>
          <a:ln w="1905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5468112"/>
            <a:ext cx="11247120" cy="713232"/>
          </a:xfrm>
          <a:prstGeom prst="rect">
            <a:avLst/>
          </a:prstGeom>
          <a:noFill/>
        </p:spPr>
        <p:txBody>
          <a:bodyPr wrap="square">
            <a:spAutoFit/>
          </a:bodyPr>
          <a:lstStyle/>
          <a:p>
            <a:pPr algn="l"/>
            <a:r>
              <a:rPr sz="1300" b="0" i="0">
                <a:solidFill>
                  <a:srgbClr val="1F4E78"/>
                </a:solidFill>
                <a:latin typeface="Calibri"/>
              </a:rPr>
              <a:t>URBAN vs. RURAL DIVIDE: Urban Core MEPI (avg 0.210) is 3.9× better than Hill Tracts (avg 0.823). All top-10 least-poor upazilas are in Urban Core or Plains zones. All top-10 most-poor are in Hill Tracts, Coastal, Char Islands, or Haor Wetlands.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Policy Implications &amp; Recommendations</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SDG 7 Alignment | Targeted Interventions | Stakeholder Actions</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11 / 13</a:t>
            </a:r>
          </a:p>
        </p:txBody>
      </p:sp>
      <p:sp>
        <p:nvSpPr>
          <p:cNvPr id="10" name="Rectangle 9"/>
          <p:cNvSpPr/>
          <p:nvPr/>
        </p:nvSpPr>
        <p:spPr>
          <a:xfrm>
            <a:off x="274320" y="1097280"/>
            <a:ext cx="11612880" cy="4572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161288"/>
            <a:ext cx="11247120" cy="365760"/>
          </a:xfrm>
          <a:prstGeom prst="rect">
            <a:avLst/>
          </a:prstGeom>
          <a:noFill/>
        </p:spPr>
        <p:txBody>
          <a:bodyPr wrap="square">
            <a:spAutoFit/>
          </a:bodyPr>
          <a:lstStyle/>
          <a:p>
            <a:pPr algn="ctr"/>
            <a:r>
              <a:rPr sz="1400" b="1" i="0">
                <a:solidFill>
                  <a:srgbClr val="FFFFFF"/>
                </a:solidFill>
                <a:latin typeface="Calibri"/>
              </a:rPr>
              <a:t>SDG 7: Ensure access to affordable, reliable, sustainable and modern energy for all by 2030</a:t>
            </a:r>
          </a:p>
        </p:txBody>
      </p:sp>
      <p:sp>
        <p:nvSpPr>
          <p:cNvPr id="12" name="Rectangle 11"/>
          <p:cNvSpPr/>
          <p:nvPr/>
        </p:nvSpPr>
        <p:spPr>
          <a:xfrm>
            <a:off x="274320" y="1691640"/>
            <a:ext cx="3749039" cy="4572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737360"/>
            <a:ext cx="3657599" cy="384048"/>
          </a:xfrm>
          <a:prstGeom prst="rect">
            <a:avLst/>
          </a:prstGeom>
          <a:noFill/>
        </p:spPr>
        <p:txBody>
          <a:bodyPr wrap="square">
            <a:spAutoFit/>
          </a:bodyPr>
          <a:lstStyle/>
          <a:p>
            <a:pPr algn="ctr"/>
            <a:r>
              <a:rPr sz="1500" b="1" i="0">
                <a:solidFill>
                  <a:srgbClr val="FFFFFF"/>
                </a:solidFill>
                <a:latin typeface="Calibri"/>
              </a:rPr>
              <a:t>Government</a:t>
            </a:r>
          </a:p>
        </p:txBody>
      </p:sp>
      <p:sp>
        <p:nvSpPr>
          <p:cNvPr id="14" name="Rectangle 13"/>
          <p:cNvSpPr/>
          <p:nvPr/>
        </p:nvSpPr>
        <p:spPr>
          <a:xfrm>
            <a:off x="274320" y="2148840"/>
            <a:ext cx="3749039" cy="4023360"/>
          </a:xfrm>
          <a:prstGeom prst="rect">
            <a:avLst/>
          </a:prstGeom>
          <a:solidFill>
            <a:srgbClr val="F8F9FA"/>
          </a:solidFill>
          <a:ln w="127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240280"/>
            <a:ext cx="3566159" cy="548640"/>
          </a:xfrm>
          <a:prstGeom prst="rect">
            <a:avLst/>
          </a:prstGeom>
          <a:noFill/>
        </p:spPr>
        <p:txBody>
          <a:bodyPr wrap="square">
            <a:spAutoFit/>
          </a:bodyPr>
          <a:lstStyle/>
          <a:p>
            <a:pPr algn="l"/>
            <a:r>
              <a:rPr sz="1100" b="0" i="0">
                <a:solidFill>
                  <a:srgbClr val="333333"/>
                </a:solidFill>
                <a:latin typeface="Calibri"/>
              </a:rPr>
              <a:t>• Prioritise grid extension &amp; solar mini-grids for Hill Tracts &amp; Char Islands</a:t>
            </a:r>
          </a:p>
        </p:txBody>
      </p:sp>
      <p:sp>
        <p:nvSpPr>
          <p:cNvPr id="16" name="TextBox 15"/>
          <p:cNvSpPr txBox="1"/>
          <p:nvPr/>
        </p:nvSpPr>
        <p:spPr>
          <a:xfrm>
            <a:off x="365760" y="2807208"/>
            <a:ext cx="3566159" cy="548640"/>
          </a:xfrm>
          <a:prstGeom prst="rect">
            <a:avLst/>
          </a:prstGeom>
          <a:noFill/>
        </p:spPr>
        <p:txBody>
          <a:bodyPr wrap="square">
            <a:spAutoFit/>
          </a:bodyPr>
          <a:lstStyle/>
          <a:p>
            <a:pPr algn="l"/>
            <a:r>
              <a:rPr sz="1100" b="0" i="0">
                <a:solidFill>
                  <a:srgbClr val="333333"/>
                </a:solidFill>
                <a:latin typeface="Calibri"/>
              </a:rPr>
              <a:t>• Mandate upazila-level MEPI tracking in national energy statistics</a:t>
            </a:r>
          </a:p>
        </p:txBody>
      </p:sp>
      <p:sp>
        <p:nvSpPr>
          <p:cNvPr id="17" name="TextBox 16"/>
          <p:cNvSpPr txBox="1"/>
          <p:nvPr/>
        </p:nvSpPr>
        <p:spPr>
          <a:xfrm>
            <a:off x="365760" y="3374136"/>
            <a:ext cx="3566159" cy="548640"/>
          </a:xfrm>
          <a:prstGeom prst="rect">
            <a:avLst/>
          </a:prstGeom>
          <a:noFill/>
        </p:spPr>
        <p:txBody>
          <a:bodyPr wrap="square">
            <a:spAutoFit/>
          </a:bodyPr>
          <a:lstStyle/>
          <a:p>
            <a:pPr algn="l"/>
            <a:r>
              <a:rPr sz="1100" b="0" i="0">
                <a:solidFill>
                  <a:srgbClr val="333333"/>
                </a:solidFill>
                <a:latin typeface="Calibri"/>
              </a:rPr>
              <a:t>• Expand clean cooking subsidy programmes (LPG, biogas) to haor &amp; coastal zones</a:t>
            </a:r>
          </a:p>
        </p:txBody>
      </p:sp>
      <p:sp>
        <p:nvSpPr>
          <p:cNvPr id="18" name="TextBox 17"/>
          <p:cNvSpPr txBox="1"/>
          <p:nvPr/>
        </p:nvSpPr>
        <p:spPr>
          <a:xfrm>
            <a:off x="365760" y="3941064"/>
            <a:ext cx="3566159" cy="548640"/>
          </a:xfrm>
          <a:prstGeom prst="rect">
            <a:avLst/>
          </a:prstGeom>
          <a:noFill/>
        </p:spPr>
        <p:txBody>
          <a:bodyPr wrap="square">
            <a:spAutoFit/>
          </a:bodyPr>
          <a:lstStyle/>
          <a:p>
            <a:pPr algn="l"/>
            <a:r>
              <a:rPr sz="1100" b="0" i="0">
                <a:solidFill>
                  <a:srgbClr val="333333"/>
                </a:solidFill>
                <a:latin typeface="Calibri"/>
              </a:rPr>
              <a:t>• Set dimension-specific targets: 22h+ supply for all upazilas by 2030</a:t>
            </a:r>
          </a:p>
        </p:txBody>
      </p:sp>
      <p:sp>
        <p:nvSpPr>
          <p:cNvPr id="19" name="TextBox 18"/>
          <p:cNvSpPr txBox="1"/>
          <p:nvPr/>
        </p:nvSpPr>
        <p:spPr>
          <a:xfrm>
            <a:off x="365760" y="4507992"/>
            <a:ext cx="3566159" cy="548640"/>
          </a:xfrm>
          <a:prstGeom prst="rect">
            <a:avLst/>
          </a:prstGeom>
          <a:noFill/>
        </p:spPr>
        <p:txBody>
          <a:bodyPr wrap="square">
            <a:spAutoFit/>
          </a:bodyPr>
          <a:lstStyle/>
          <a:p>
            <a:pPr algn="l"/>
            <a:r>
              <a:rPr sz="1100" b="0" i="0">
                <a:solidFill>
                  <a:srgbClr val="333333"/>
                </a:solidFill>
                <a:latin typeface="Calibri"/>
              </a:rPr>
              <a:t>• Integrate MEPI into National Energy Policy framework</a:t>
            </a:r>
          </a:p>
        </p:txBody>
      </p:sp>
      <p:sp>
        <p:nvSpPr>
          <p:cNvPr id="20" name="TextBox 19"/>
          <p:cNvSpPr txBox="1"/>
          <p:nvPr/>
        </p:nvSpPr>
        <p:spPr>
          <a:xfrm>
            <a:off x="365760" y="5074920"/>
            <a:ext cx="3566159" cy="548640"/>
          </a:xfrm>
          <a:prstGeom prst="rect">
            <a:avLst/>
          </a:prstGeom>
          <a:noFill/>
        </p:spPr>
        <p:txBody>
          <a:bodyPr wrap="square">
            <a:spAutoFit/>
          </a:bodyPr>
          <a:lstStyle/>
          <a:p>
            <a:pPr algn="l"/>
            <a:r>
              <a:rPr sz="1100" b="0" i="0">
                <a:solidFill>
                  <a:srgbClr val="333333"/>
                </a:solidFill>
                <a:latin typeface="Calibri"/>
              </a:rPr>
              <a:t>• Establish energy poverty task force for Chittagong Hill Tracts</a:t>
            </a:r>
          </a:p>
        </p:txBody>
      </p:sp>
      <p:sp>
        <p:nvSpPr>
          <p:cNvPr id="21" name="Rectangle 20"/>
          <p:cNvSpPr/>
          <p:nvPr/>
        </p:nvSpPr>
        <p:spPr>
          <a:xfrm>
            <a:off x="4251959" y="1691640"/>
            <a:ext cx="3749039" cy="45720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79" y="1737360"/>
            <a:ext cx="3657599" cy="384048"/>
          </a:xfrm>
          <a:prstGeom prst="rect">
            <a:avLst/>
          </a:prstGeom>
          <a:noFill/>
        </p:spPr>
        <p:txBody>
          <a:bodyPr wrap="square">
            <a:spAutoFit/>
          </a:bodyPr>
          <a:lstStyle/>
          <a:p>
            <a:pPr algn="ctr"/>
            <a:r>
              <a:rPr sz="1500" b="1" i="0">
                <a:solidFill>
                  <a:srgbClr val="FFFFFF"/>
                </a:solidFill>
                <a:latin typeface="Calibri"/>
              </a:rPr>
              <a:t>Private Sector</a:t>
            </a:r>
          </a:p>
        </p:txBody>
      </p:sp>
      <p:sp>
        <p:nvSpPr>
          <p:cNvPr id="23" name="Rectangle 22"/>
          <p:cNvSpPr/>
          <p:nvPr/>
        </p:nvSpPr>
        <p:spPr>
          <a:xfrm>
            <a:off x="4251959" y="2148840"/>
            <a:ext cx="3749039" cy="4023360"/>
          </a:xfrm>
          <a:prstGeom prst="rect">
            <a:avLst/>
          </a:prstGeom>
          <a:solidFill>
            <a:srgbClr val="F8F9FA"/>
          </a:solidFill>
          <a:ln w="127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399" y="2240280"/>
            <a:ext cx="3566159" cy="548640"/>
          </a:xfrm>
          <a:prstGeom prst="rect">
            <a:avLst/>
          </a:prstGeom>
          <a:noFill/>
        </p:spPr>
        <p:txBody>
          <a:bodyPr wrap="square">
            <a:spAutoFit/>
          </a:bodyPr>
          <a:lstStyle/>
          <a:p>
            <a:pPr algn="l"/>
            <a:r>
              <a:rPr sz="1100" b="0" i="0">
                <a:solidFill>
                  <a:srgbClr val="333333"/>
                </a:solidFill>
                <a:latin typeface="Calibri"/>
              </a:rPr>
              <a:t>• Deploy off-grid solar systems (SHSs) in underserved remote areas</a:t>
            </a:r>
          </a:p>
        </p:txBody>
      </p:sp>
      <p:sp>
        <p:nvSpPr>
          <p:cNvPr id="25" name="TextBox 24"/>
          <p:cNvSpPr txBox="1"/>
          <p:nvPr/>
        </p:nvSpPr>
        <p:spPr>
          <a:xfrm>
            <a:off x="4343399" y="2807208"/>
            <a:ext cx="3566159" cy="548640"/>
          </a:xfrm>
          <a:prstGeom prst="rect">
            <a:avLst/>
          </a:prstGeom>
          <a:noFill/>
        </p:spPr>
        <p:txBody>
          <a:bodyPr wrap="square">
            <a:spAutoFit/>
          </a:bodyPr>
          <a:lstStyle/>
          <a:p>
            <a:pPr algn="l"/>
            <a:r>
              <a:rPr sz="1100" b="0" i="0">
                <a:solidFill>
                  <a:srgbClr val="333333"/>
                </a:solidFill>
                <a:latin typeface="Calibri"/>
              </a:rPr>
              <a:t>• Develop pay-as-you-go energy models for low-income communities</a:t>
            </a:r>
          </a:p>
        </p:txBody>
      </p:sp>
      <p:sp>
        <p:nvSpPr>
          <p:cNvPr id="26" name="TextBox 25"/>
          <p:cNvSpPr txBox="1"/>
          <p:nvPr/>
        </p:nvSpPr>
        <p:spPr>
          <a:xfrm>
            <a:off x="4343399" y="3374136"/>
            <a:ext cx="3566159" cy="548640"/>
          </a:xfrm>
          <a:prstGeom prst="rect">
            <a:avLst/>
          </a:prstGeom>
          <a:noFill/>
        </p:spPr>
        <p:txBody>
          <a:bodyPr wrap="square">
            <a:spAutoFit/>
          </a:bodyPr>
          <a:lstStyle/>
          <a:p>
            <a:pPr algn="l"/>
            <a:r>
              <a:rPr sz="1100" b="0" i="0">
                <a:solidFill>
                  <a:srgbClr val="333333"/>
                </a:solidFill>
                <a:latin typeface="Calibri"/>
              </a:rPr>
              <a:t>• Partner with BPDB on reliability upgrades in severely poor upazilas</a:t>
            </a:r>
          </a:p>
        </p:txBody>
      </p:sp>
      <p:sp>
        <p:nvSpPr>
          <p:cNvPr id="27" name="TextBox 26"/>
          <p:cNvSpPr txBox="1"/>
          <p:nvPr/>
        </p:nvSpPr>
        <p:spPr>
          <a:xfrm>
            <a:off x="4343399" y="3941064"/>
            <a:ext cx="3566159" cy="548640"/>
          </a:xfrm>
          <a:prstGeom prst="rect">
            <a:avLst/>
          </a:prstGeom>
          <a:noFill/>
        </p:spPr>
        <p:txBody>
          <a:bodyPr wrap="square">
            <a:spAutoFit/>
          </a:bodyPr>
          <a:lstStyle/>
          <a:p>
            <a:pPr algn="l"/>
            <a:r>
              <a:rPr sz="1100" b="0" i="0">
                <a:solidFill>
                  <a:srgbClr val="333333"/>
                </a:solidFill>
                <a:latin typeface="Calibri"/>
              </a:rPr>
              <a:t>• Invest in Coastal resilient infrastructure (storm-proof grid)</a:t>
            </a:r>
          </a:p>
        </p:txBody>
      </p:sp>
      <p:sp>
        <p:nvSpPr>
          <p:cNvPr id="28" name="TextBox 27"/>
          <p:cNvSpPr txBox="1"/>
          <p:nvPr/>
        </p:nvSpPr>
        <p:spPr>
          <a:xfrm>
            <a:off x="4343399" y="4507992"/>
            <a:ext cx="3566159" cy="548640"/>
          </a:xfrm>
          <a:prstGeom prst="rect">
            <a:avLst/>
          </a:prstGeom>
          <a:noFill/>
        </p:spPr>
        <p:txBody>
          <a:bodyPr wrap="square">
            <a:spAutoFit/>
          </a:bodyPr>
          <a:lstStyle/>
          <a:p>
            <a:pPr algn="l"/>
            <a:r>
              <a:rPr sz="1100" b="0" i="0">
                <a:solidFill>
                  <a:srgbClr val="333333"/>
                </a:solidFill>
                <a:latin typeface="Calibri"/>
              </a:rPr>
              <a:t>• Develop energy-efficient appliance subsidy programmes</a:t>
            </a:r>
          </a:p>
        </p:txBody>
      </p:sp>
      <p:sp>
        <p:nvSpPr>
          <p:cNvPr id="29" name="TextBox 28"/>
          <p:cNvSpPr txBox="1"/>
          <p:nvPr/>
        </p:nvSpPr>
        <p:spPr>
          <a:xfrm>
            <a:off x="4343399" y="5074920"/>
            <a:ext cx="3566159" cy="548640"/>
          </a:xfrm>
          <a:prstGeom prst="rect">
            <a:avLst/>
          </a:prstGeom>
          <a:noFill/>
        </p:spPr>
        <p:txBody>
          <a:bodyPr wrap="square">
            <a:spAutoFit/>
          </a:bodyPr>
          <a:lstStyle/>
          <a:p>
            <a:pPr algn="l"/>
            <a:r>
              <a:rPr sz="1100" b="0" i="0">
                <a:solidFill>
                  <a:srgbClr val="333333"/>
                </a:solidFill>
                <a:latin typeface="Calibri"/>
              </a:rPr>
              <a:t>• Support local energy entrepreneurs in Haor and Char areas</a:t>
            </a:r>
          </a:p>
        </p:txBody>
      </p:sp>
      <p:sp>
        <p:nvSpPr>
          <p:cNvPr id="30" name="Rectangle 29"/>
          <p:cNvSpPr/>
          <p:nvPr/>
        </p:nvSpPr>
        <p:spPr>
          <a:xfrm>
            <a:off x="8229598" y="1691640"/>
            <a:ext cx="3749039" cy="45720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75318" y="1737360"/>
            <a:ext cx="3657599" cy="384048"/>
          </a:xfrm>
          <a:prstGeom prst="rect">
            <a:avLst/>
          </a:prstGeom>
          <a:noFill/>
        </p:spPr>
        <p:txBody>
          <a:bodyPr wrap="square">
            <a:spAutoFit/>
          </a:bodyPr>
          <a:lstStyle/>
          <a:p>
            <a:pPr algn="ctr"/>
            <a:r>
              <a:rPr sz="1500" b="1" i="0">
                <a:solidFill>
                  <a:srgbClr val="FFFFFF"/>
                </a:solidFill>
                <a:latin typeface="Calibri"/>
              </a:rPr>
              <a:t>NGOs &amp; Development Partners</a:t>
            </a:r>
          </a:p>
        </p:txBody>
      </p:sp>
      <p:sp>
        <p:nvSpPr>
          <p:cNvPr id="32" name="Rectangle 31"/>
          <p:cNvSpPr/>
          <p:nvPr/>
        </p:nvSpPr>
        <p:spPr>
          <a:xfrm>
            <a:off x="8229598" y="2148840"/>
            <a:ext cx="3749039" cy="4023360"/>
          </a:xfrm>
          <a:prstGeom prst="rect">
            <a:avLst/>
          </a:prstGeom>
          <a:solidFill>
            <a:srgbClr val="F8F9FA"/>
          </a:solidFill>
          <a:ln w="1270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38" y="2240280"/>
            <a:ext cx="3566159" cy="548640"/>
          </a:xfrm>
          <a:prstGeom prst="rect">
            <a:avLst/>
          </a:prstGeom>
          <a:noFill/>
        </p:spPr>
        <p:txBody>
          <a:bodyPr wrap="square">
            <a:spAutoFit/>
          </a:bodyPr>
          <a:lstStyle/>
          <a:p>
            <a:pPr algn="l"/>
            <a:r>
              <a:rPr sz="1100" b="0" i="0">
                <a:solidFill>
                  <a:srgbClr val="333333"/>
                </a:solidFill>
                <a:latin typeface="Calibri"/>
              </a:rPr>
              <a:t>• Target severely poor upazilas (MEPI &gt; 0.66) for emergency interventions</a:t>
            </a:r>
          </a:p>
        </p:txBody>
      </p:sp>
      <p:sp>
        <p:nvSpPr>
          <p:cNvPr id="34" name="TextBox 33"/>
          <p:cNvSpPr txBox="1"/>
          <p:nvPr/>
        </p:nvSpPr>
        <p:spPr>
          <a:xfrm>
            <a:off x="8321038" y="2807208"/>
            <a:ext cx="3566159" cy="548640"/>
          </a:xfrm>
          <a:prstGeom prst="rect">
            <a:avLst/>
          </a:prstGeom>
          <a:noFill/>
        </p:spPr>
        <p:txBody>
          <a:bodyPr wrap="square">
            <a:spAutoFit/>
          </a:bodyPr>
          <a:lstStyle/>
          <a:p>
            <a:pPr algn="l"/>
            <a:r>
              <a:rPr sz="1100" b="0" i="0">
                <a:solidFill>
                  <a:srgbClr val="333333"/>
                </a:solidFill>
                <a:latin typeface="Calibri"/>
              </a:rPr>
              <a:t>• Provide clean cooking training &amp; adoption support in rural areas</a:t>
            </a:r>
          </a:p>
        </p:txBody>
      </p:sp>
      <p:sp>
        <p:nvSpPr>
          <p:cNvPr id="35" name="TextBox 34"/>
          <p:cNvSpPr txBox="1"/>
          <p:nvPr/>
        </p:nvSpPr>
        <p:spPr>
          <a:xfrm>
            <a:off x="8321038" y="3374136"/>
            <a:ext cx="3566159" cy="548640"/>
          </a:xfrm>
          <a:prstGeom prst="rect">
            <a:avLst/>
          </a:prstGeom>
          <a:noFill/>
        </p:spPr>
        <p:txBody>
          <a:bodyPr wrap="square">
            <a:spAutoFit/>
          </a:bodyPr>
          <a:lstStyle/>
          <a:p>
            <a:pPr algn="l"/>
            <a:r>
              <a:rPr sz="1100" b="0" i="0">
                <a:solidFill>
                  <a:srgbClr val="333333"/>
                </a:solidFill>
                <a:latin typeface="Calibri"/>
              </a:rPr>
              <a:t>• Facilitate community-based solar cooperatives in Char Islands</a:t>
            </a:r>
          </a:p>
        </p:txBody>
      </p:sp>
      <p:sp>
        <p:nvSpPr>
          <p:cNvPr id="36" name="TextBox 35"/>
          <p:cNvSpPr txBox="1"/>
          <p:nvPr/>
        </p:nvSpPr>
        <p:spPr>
          <a:xfrm>
            <a:off x="8321038" y="3941064"/>
            <a:ext cx="3566159" cy="548640"/>
          </a:xfrm>
          <a:prstGeom prst="rect">
            <a:avLst/>
          </a:prstGeom>
          <a:noFill/>
        </p:spPr>
        <p:txBody>
          <a:bodyPr wrap="square">
            <a:spAutoFit/>
          </a:bodyPr>
          <a:lstStyle/>
          <a:p>
            <a:pPr algn="l"/>
            <a:r>
              <a:rPr sz="1100" b="0" i="0">
                <a:solidFill>
                  <a:srgbClr val="333333"/>
                </a:solidFill>
                <a:latin typeface="Calibri"/>
              </a:rPr>
              <a:t>• Monitor &amp; report on energy poverty using MEPI framework</a:t>
            </a:r>
          </a:p>
        </p:txBody>
      </p:sp>
      <p:sp>
        <p:nvSpPr>
          <p:cNvPr id="37" name="TextBox 36"/>
          <p:cNvSpPr txBox="1"/>
          <p:nvPr/>
        </p:nvSpPr>
        <p:spPr>
          <a:xfrm>
            <a:off x="8321038" y="4507992"/>
            <a:ext cx="3566159" cy="548640"/>
          </a:xfrm>
          <a:prstGeom prst="rect">
            <a:avLst/>
          </a:prstGeom>
          <a:noFill/>
        </p:spPr>
        <p:txBody>
          <a:bodyPr wrap="square">
            <a:spAutoFit/>
          </a:bodyPr>
          <a:lstStyle/>
          <a:p>
            <a:pPr algn="l"/>
            <a:r>
              <a:rPr sz="1100" b="0" i="0">
                <a:solidFill>
                  <a:srgbClr val="333333"/>
                </a:solidFill>
                <a:latin typeface="Calibri"/>
              </a:rPr>
              <a:t>• Advocate for affordability measures: subsidy reform, tariff design</a:t>
            </a:r>
          </a:p>
        </p:txBody>
      </p:sp>
      <p:sp>
        <p:nvSpPr>
          <p:cNvPr id="38" name="TextBox 37"/>
          <p:cNvSpPr txBox="1"/>
          <p:nvPr/>
        </p:nvSpPr>
        <p:spPr>
          <a:xfrm>
            <a:off x="8321038" y="5074920"/>
            <a:ext cx="3566159" cy="548640"/>
          </a:xfrm>
          <a:prstGeom prst="rect">
            <a:avLst/>
          </a:prstGeom>
          <a:noFill/>
        </p:spPr>
        <p:txBody>
          <a:bodyPr wrap="square">
            <a:spAutoFit/>
          </a:bodyPr>
          <a:lstStyle/>
          <a:p>
            <a:pPr algn="l"/>
            <a:r>
              <a:rPr sz="1100" b="0" i="0">
                <a:solidFill>
                  <a:srgbClr val="333333"/>
                </a:solidFill>
                <a:latin typeface="Calibri"/>
              </a:rPr>
              <a:t>• Build local capacity for energy poverty data collection</a:t>
            </a:r>
          </a:p>
        </p:txBody>
      </p:sp>
      <p:sp>
        <p:nvSpPr>
          <p:cNvPr id="39" name="Rectangle 38"/>
          <p:cNvSpPr/>
          <p:nvPr/>
        </p:nvSpPr>
        <p:spPr>
          <a:xfrm>
            <a:off x="274320" y="6217920"/>
            <a:ext cx="11612880" cy="502920"/>
          </a:xfrm>
          <a:prstGeom prst="rect">
            <a:avLst/>
          </a:prstGeom>
          <a:solidFill>
            <a:srgbClr val="E8F0F8"/>
          </a:solidFill>
          <a:ln w="1270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6281928"/>
            <a:ext cx="11247120" cy="384048"/>
          </a:xfrm>
          <a:prstGeom prst="rect">
            <a:avLst/>
          </a:prstGeom>
          <a:noFill/>
        </p:spPr>
        <p:txBody>
          <a:bodyPr wrap="square">
            <a:spAutoFit/>
          </a:bodyPr>
          <a:lstStyle/>
          <a:p>
            <a:pPr algn="l"/>
            <a:r>
              <a:rPr sz="1100" b="0" i="0">
                <a:solidFill>
                  <a:srgbClr val="1F4E78"/>
                </a:solidFill>
                <a:latin typeface="Calibri"/>
              </a:rPr>
              <a:t>Dimension priorities: Affordability → Targeted subsidies | Reliability → Grid upgrades | Availability → Rural electrification | Adequacy → Appliance access | Quality → Voltage regulation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45720"/>
            <a:ext cx="10972800" cy="594360"/>
          </a:xfrm>
          <a:prstGeom prst="rect">
            <a:avLst/>
          </a:prstGeom>
          <a:noFill/>
        </p:spPr>
        <p:txBody>
          <a:bodyPr wrap="square">
            <a:spAutoFit/>
          </a:bodyPr>
          <a:lstStyle/>
          <a:p>
            <a:pPr algn="l"/>
            <a:r>
              <a:rPr sz="2800" b="1" i="0">
                <a:solidFill>
                  <a:srgbClr val="FFFFFF"/>
                </a:solidFill>
                <a:latin typeface="Calibri"/>
              </a:rPr>
              <a:t>Conclusion &amp; Next Steps</a:t>
            </a:r>
          </a:p>
        </p:txBody>
      </p:sp>
      <p:sp>
        <p:nvSpPr>
          <p:cNvPr id="5" name="Rectangle 4"/>
          <p:cNvSpPr/>
          <p:nvPr/>
        </p:nvSpPr>
        <p:spPr>
          <a:xfrm>
            <a:off x="0" y="1005840"/>
            <a:ext cx="12191695" cy="45720"/>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594360"/>
            <a:ext cx="10972800" cy="365760"/>
          </a:xfrm>
          <a:prstGeom prst="rect">
            <a:avLst/>
          </a:prstGeom>
          <a:noFill/>
        </p:spPr>
        <p:txBody>
          <a:bodyPr wrap="square">
            <a:spAutoFit/>
          </a:bodyPr>
          <a:lstStyle/>
          <a:p>
            <a:pPr algn="l"/>
            <a:r>
              <a:rPr sz="1300" b="0" i="0">
                <a:solidFill>
                  <a:srgbClr val="BFD7ED"/>
                </a:solidFill>
                <a:latin typeface="Calibri"/>
              </a:rPr>
              <a:t>Key Messages | Limitations | Future Research | Call to Action</a:t>
            </a:r>
          </a:p>
        </p:txBody>
      </p:sp>
      <p:sp>
        <p:nvSpPr>
          <p:cNvPr id="7" name="Rectangle 6"/>
          <p:cNvSpPr/>
          <p:nvPr/>
        </p:nvSpPr>
        <p:spPr>
          <a:xfrm>
            <a:off x="0" y="6492240"/>
            <a:ext cx="12191695" cy="36576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 y="6510528"/>
            <a:ext cx="7315200" cy="274320"/>
          </a:xfrm>
          <a:prstGeom prst="rect">
            <a:avLst/>
          </a:prstGeom>
          <a:noFill/>
        </p:spPr>
        <p:txBody>
          <a:bodyPr wrap="square">
            <a:spAutoFit/>
          </a:bodyPr>
          <a:lstStyle/>
          <a:p>
            <a:pPr algn="l"/>
            <a:r>
              <a:rPr sz="900" b="0" i="0">
                <a:solidFill>
                  <a:srgbClr val="1F4E78"/>
                </a:solidFill>
                <a:latin typeface="Calibri"/>
              </a:rPr>
              <a:t>Spatial Mapping of Energy Poverty in Bangladesh | MEPI Analysis</a:t>
            </a:r>
          </a:p>
        </p:txBody>
      </p:sp>
      <p:sp>
        <p:nvSpPr>
          <p:cNvPr id="9" name="TextBox 8"/>
          <p:cNvSpPr txBox="1"/>
          <p:nvPr/>
        </p:nvSpPr>
        <p:spPr>
          <a:xfrm>
            <a:off x="10515600" y="6510528"/>
            <a:ext cx="1463040" cy="274320"/>
          </a:xfrm>
          <a:prstGeom prst="rect">
            <a:avLst/>
          </a:prstGeom>
          <a:noFill/>
        </p:spPr>
        <p:txBody>
          <a:bodyPr wrap="square">
            <a:spAutoFit/>
          </a:bodyPr>
          <a:lstStyle/>
          <a:p>
            <a:pPr algn="r"/>
            <a:r>
              <a:rPr sz="900" b="0" i="0">
                <a:solidFill>
                  <a:srgbClr val="1F4E78"/>
                </a:solidFill>
                <a:latin typeface="Calibri"/>
              </a:rPr>
              <a:t>Slide 12 / 13</a:t>
            </a:r>
          </a:p>
        </p:txBody>
      </p:sp>
      <p:sp>
        <p:nvSpPr>
          <p:cNvPr id="10" name="TextBox 9"/>
          <p:cNvSpPr txBox="1"/>
          <p:nvPr/>
        </p:nvSpPr>
        <p:spPr>
          <a:xfrm>
            <a:off x="274320" y="1097280"/>
            <a:ext cx="5669280" cy="365760"/>
          </a:xfrm>
          <a:prstGeom prst="rect">
            <a:avLst/>
          </a:prstGeom>
          <a:noFill/>
        </p:spPr>
        <p:txBody>
          <a:bodyPr wrap="square">
            <a:spAutoFit/>
          </a:bodyPr>
          <a:lstStyle/>
          <a:p>
            <a:pPr algn="l"/>
            <a:r>
              <a:rPr sz="1500" b="1" i="0">
                <a:solidFill>
                  <a:srgbClr val="1F4E78"/>
                </a:solidFill>
                <a:latin typeface="Calibri"/>
              </a:rPr>
              <a:t>Key Messages from This Study</a:t>
            </a:r>
          </a:p>
        </p:txBody>
      </p:sp>
      <p:sp>
        <p:nvSpPr>
          <p:cNvPr id="11" name="Rectangle 10"/>
          <p:cNvSpPr/>
          <p:nvPr/>
        </p:nvSpPr>
        <p:spPr>
          <a:xfrm>
            <a:off x="274320" y="1554480"/>
            <a:ext cx="365760" cy="384048"/>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 y="1591056"/>
            <a:ext cx="329184" cy="320040"/>
          </a:xfrm>
          <a:prstGeom prst="rect">
            <a:avLst/>
          </a:prstGeom>
          <a:noFill/>
        </p:spPr>
        <p:txBody>
          <a:bodyPr wrap="square">
            <a:spAutoFit/>
          </a:bodyPr>
          <a:lstStyle/>
          <a:p>
            <a:pPr algn="ctr"/>
            <a:r>
              <a:rPr sz="1400" b="1" i="0">
                <a:solidFill>
                  <a:srgbClr val="FFFFFF"/>
                </a:solidFill>
                <a:latin typeface="Calibri"/>
              </a:rPr>
              <a:t>✓</a:t>
            </a:r>
          </a:p>
        </p:txBody>
      </p:sp>
      <p:sp>
        <p:nvSpPr>
          <p:cNvPr id="13" name="TextBox 12"/>
          <p:cNvSpPr txBox="1"/>
          <p:nvPr/>
        </p:nvSpPr>
        <p:spPr>
          <a:xfrm>
            <a:off x="731520" y="1554480"/>
            <a:ext cx="5120640" cy="457200"/>
          </a:xfrm>
          <a:prstGeom prst="rect">
            <a:avLst/>
          </a:prstGeom>
          <a:noFill/>
        </p:spPr>
        <p:txBody>
          <a:bodyPr wrap="square">
            <a:spAutoFit/>
          </a:bodyPr>
          <a:lstStyle/>
          <a:p>
            <a:pPr algn="l"/>
            <a:r>
              <a:rPr sz="1200" b="0" i="0">
                <a:solidFill>
                  <a:srgbClr val="333333"/>
                </a:solidFill>
                <a:latin typeface="Calibri"/>
              </a:rPr>
              <a:t>90% of Bangladesh's upazilas experience moderate-to-severe energy poverty, despite 99% nominal electrification</a:t>
            </a:r>
          </a:p>
        </p:txBody>
      </p:sp>
      <p:sp>
        <p:nvSpPr>
          <p:cNvPr id="14" name="Rectangle 13"/>
          <p:cNvSpPr/>
          <p:nvPr/>
        </p:nvSpPr>
        <p:spPr>
          <a:xfrm>
            <a:off x="274320" y="2121408"/>
            <a:ext cx="365760" cy="384048"/>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 y="2157984"/>
            <a:ext cx="329184" cy="320040"/>
          </a:xfrm>
          <a:prstGeom prst="rect">
            <a:avLst/>
          </a:prstGeom>
          <a:noFill/>
        </p:spPr>
        <p:txBody>
          <a:bodyPr wrap="square">
            <a:spAutoFit/>
          </a:bodyPr>
          <a:lstStyle/>
          <a:p>
            <a:pPr algn="ctr"/>
            <a:r>
              <a:rPr sz="1400" b="1" i="0">
                <a:solidFill>
                  <a:srgbClr val="FFFFFF"/>
                </a:solidFill>
                <a:latin typeface="Calibri"/>
              </a:rPr>
              <a:t>✓</a:t>
            </a:r>
          </a:p>
        </p:txBody>
      </p:sp>
      <p:sp>
        <p:nvSpPr>
          <p:cNvPr id="16" name="TextBox 15"/>
          <p:cNvSpPr txBox="1"/>
          <p:nvPr/>
        </p:nvSpPr>
        <p:spPr>
          <a:xfrm>
            <a:off x="731520" y="2121408"/>
            <a:ext cx="5120640" cy="457200"/>
          </a:xfrm>
          <a:prstGeom prst="rect">
            <a:avLst/>
          </a:prstGeom>
          <a:noFill/>
        </p:spPr>
        <p:txBody>
          <a:bodyPr wrap="square">
            <a:spAutoFit/>
          </a:bodyPr>
          <a:lstStyle/>
          <a:p>
            <a:pPr algn="l"/>
            <a:r>
              <a:rPr sz="1200" b="0" i="0">
                <a:solidFill>
                  <a:srgbClr val="333333"/>
                </a:solidFill>
                <a:latin typeface="Calibri"/>
              </a:rPr>
              <a:t>Strong spatial clustering (Moran's I = 0.72) confirms geographic concentration of energy poverty</a:t>
            </a:r>
          </a:p>
        </p:txBody>
      </p:sp>
      <p:sp>
        <p:nvSpPr>
          <p:cNvPr id="17" name="Rectangle 16"/>
          <p:cNvSpPr/>
          <p:nvPr/>
        </p:nvSpPr>
        <p:spPr>
          <a:xfrm>
            <a:off x="274320" y="2688336"/>
            <a:ext cx="365760" cy="38404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724912"/>
            <a:ext cx="329184" cy="320040"/>
          </a:xfrm>
          <a:prstGeom prst="rect">
            <a:avLst/>
          </a:prstGeom>
          <a:noFill/>
        </p:spPr>
        <p:txBody>
          <a:bodyPr wrap="square">
            <a:spAutoFit/>
          </a:bodyPr>
          <a:lstStyle/>
          <a:p>
            <a:pPr algn="ctr"/>
            <a:r>
              <a:rPr sz="1400" b="1" i="0">
                <a:solidFill>
                  <a:srgbClr val="FFFFFF"/>
                </a:solidFill>
                <a:latin typeface="Calibri"/>
              </a:rPr>
              <a:t>✓</a:t>
            </a:r>
          </a:p>
        </p:txBody>
      </p:sp>
      <p:sp>
        <p:nvSpPr>
          <p:cNvPr id="19" name="TextBox 18"/>
          <p:cNvSpPr txBox="1"/>
          <p:nvPr/>
        </p:nvSpPr>
        <p:spPr>
          <a:xfrm>
            <a:off x="731520" y="2688336"/>
            <a:ext cx="5120640" cy="457200"/>
          </a:xfrm>
          <a:prstGeom prst="rect">
            <a:avLst/>
          </a:prstGeom>
          <a:noFill/>
        </p:spPr>
        <p:txBody>
          <a:bodyPr wrap="square">
            <a:spAutoFit/>
          </a:bodyPr>
          <a:lstStyle/>
          <a:p>
            <a:pPr algn="l"/>
            <a:r>
              <a:rPr sz="1200" b="0" i="0">
                <a:solidFill>
                  <a:srgbClr val="333333"/>
                </a:solidFill>
                <a:latin typeface="Calibri"/>
              </a:rPr>
              <a:t>Hill Tracts, Coastal, Char Islands &amp; Haor zones require emergency priority interventions</a:t>
            </a:r>
          </a:p>
        </p:txBody>
      </p:sp>
      <p:sp>
        <p:nvSpPr>
          <p:cNvPr id="20" name="Rectangle 19"/>
          <p:cNvSpPr/>
          <p:nvPr/>
        </p:nvSpPr>
        <p:spPr>
          <a:xfrm>
            <a:off x="274320" y="3255264"/>
            <a:ext cx="365760" cy="38404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2608" y="3291840"/>
            <a:ext cx="329184" cy="320040"/>
          </a:xfrm>
          <a:prstGeom prst="rect">
            <a:avLst/>
          </a:prstGeom>
          <a:noFill/>
        </p:spPr>
        <p:txBody>
          <a:bodyPr wrap="square">
            <a:spAutoFit/>
          </a:bodyPr>
          <a:lstStyle/>
          <a:p>
            <a:pPr algn="ctr"/>
            <a:r>
              <a:rPr sz="1400" b="1" i="0">
                <a:solidFill>
                  <a:srgbClr val="FFFFFF"/>
                </a:solidFill>
                <a:latin typeface="Calibri"/>
              </a:rPr>
              <a:t>✓</a:t>
            </a:r>
          </a:p>
        </p:txBody>
      </p:sp>
      <p:sp>
        <p:nvSpPr>
          <p:cNvPr id="22" name="TextBox 21"/>
          <p:cNvSpPr txBox="1"/>
          <p:nvPr/>
        </p:nvSpPr>
        <p:spPr>
          <a:xfrm>
            <a:off x="731520" y="3255264"/>
            <a:ext cx="5120640" cy="457200"/>
          </a:xfrm>
          <a:prstGeom prst="rect">
            <a:avLst/>
          </a:prstGeom>
          <a:noFill/>
        </p:spPr>
        <p:txBody>
          <a:bodyPr wrap="square">
            <a:spAutoFit/>
          </a:bodyPr>
          <a:lstStyle/>
          <a:p>
            <a:pPr algn="l"/>
            <a:r>
              <a:rPr sz="1200" b="0" i="0">
                <a:solidFill>
                  <a:srgbClr val="333333"/>
                </a:solidFill>
                <a:latin typeface="Calibri"/>
              </a:rPr>
              <a:t>Affordability (0.561) and Reliability (0.531) are the most critical dimensions to address</a:t>
            </a:r>
          </a:p>
        </p:txBody>
      </p:sp>
      <p:sp>
        <p:nvSpPr>
          <p:cNvPr id="23" name="Rectangle 22"/>
          <p:cNvSpPr/>
          <p:nvPr/>
        </p:nvSpPr>
        <p:spPr>
          <a:xfrm>
            <a:off x="274320" y="3822192"/>
            <a:ext cx="365760" cy="384048"/>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858768"/>
            <a:ext cx="329184" cy="320040"/>
          </a:xfrm>
          <a:prstGeom prst="rect">
            <a:avLst/>
          </a:prstGeom>
          <a:noFill/>
        </p:spPr>
        <p:txBody>
          <a:bodyPr wrap="square">
            <a:spAutoFit/>
          </a:bodyPr>
          <a:lstStyle/>
          <a:p>
            <a:pPr algn="ctr"/>
            <a:r>
              <a:rPr sz="1400" b="1" i="0">
                <a:solidFill>
                  <a:srgbClr val="FFFFFF"/>
                </a:solidFill>
                <a:latin typeface="Calibri"/>
              </a:rPr>
              <a:t>✓</a:t>
            </a:r>
          </a:p>
        </p:txBody>
      </p:sp>
      <p:sp>
        <p:nvSpPr>
          <p:cNvPr id="25" name="TextBox 24"/>
          <p:cNvSpPr txBox="1"/>
          <p:nvPr/>
        </p:nvSpPr>
        <p:spPr>
          <a:xfrm>
            <a:off x="731520" y="3822192"/>
            <a:ext cx="5120640" cy="457200"/>
          </a:xfrm>
          <a:prstGeom prst="rect">
            <a:avLst/>
          </a:prstGeom>
          <a:noFill/>
        </p:spPr>
        <p:txBody>
          <a:bodyPr wrap="square">
            <a:spAutoFit/>
          </a:bodyPr>
          <a:lstStyle/>
          <a:p>
            <a:pPr algn="l"/>
            <a:r>
              <a:rPr sz="1200" b="0" i="0">
                <a:solidFill>
                  <a:srgbClr val="333333"/>
                </a:solidFill>
                <a:latin typeface="Calibri"/>
              </a:rPr>
              <a:t>MEPI framework provides a replicable, transparent methodology for tracking progress toward SDG 7</a:t>
            </a:r>
          </a:p>
        </p:txBody>
      </p:sp>
      <p:sp>
        <p:nvSpPr>
          <p:cNvPr id="26" name="TextBox 25"/>
          <p:cNvSpPr txBox="1"/>
          <p:nvPr/>
        </p:nvSpPr>
        <p:spPr>
          <a:xfrm>
            <a:off x="274320" y="4663440"/>
            <a:ext cx="5669280" cy="365760"/>
          </a:xfrm>
          <a:prstGeom prst="rect">
            <a:avLst/>
          </a:prstGeom>
          <a:noFill/>
        </p:spPr>
        <p:txBody>
          <a:bodyPr wrap="square">
            <a:spAutoFit/>
          </a:bodyPr>
          <a:lstStyle/>
          <a:p>
            <a:pPr algn="l"/>
            <a:r>
              <a:rPr sz="1500" b="1" i="0">
                <a:solidFill>
                  <a:srgbClr val="FF9800"/>
                </a:solidFill>
                <a:latin typeface="Calibri"/>
              </a:rPr>
              <a:t>Limitations &amp; Future Research</a:t>
            </a:r>
          </a:p>
        </p:txBody>
      </p:sp>
      <p:sp>
        <p:nvSpPr>
          <p:cNvPr id="27" name="TextBox 26"/>
          <p:cNvSpPr txBox="1"/>
          <p:nvPr/>
        </p:nvSpPr>
        <p:spPr>
          <a:xfrm>
            <a:off x="274320" y="5074920"/>
            <a:ext cx="5669280" cy="384048"/>
          </a:xfrm>
          <a:prstGeom prst="rect">
            <a:avLst/>
          </a:prstGeom>
          <a:noFill/>
        </p:spPr>
        <p:txBody>
          <a:bodyPr wrap="square">
            <a:spAutoFit/>
          </a:bodyPr>
          <a:lstStyle/>
          <a:p>
            <a:pPr algn="l"/>
            <a:r>
              <a:rPr sz="1100" b="0" i="0">
                <a:solidFill>
                  <a:srgbClr val="FF9800"/>
                </a:solidFill>
                <a:latin typeface="Calibri"/>
              </a:rPr>
              <a:t>⚠  Cross-sectional data (2022–23) — temporal trends not yet captured</a:t>
            </a:r>
          </a:p>
        </p:txBody>
      </p:sp>
      <p:sp>
        <p:nvSpPr>
          <p:cNvPr id="28" name="TextBox 27"/>
          <p:cNvSpPr txBox="1"/>
          <p:nvPr/>
        </p:nvSpPr>
        <p:spPr>
          <a:xfrm>
            <a:off x="274320" y="5495544"/>
            <a:ext cx="5669280" cy="384048"/>
          </a:xfrm>
          <a:prstGeom prst="rect">
            <a:avLst/>
          </a:prstGeom>
          <a:noFill/>
        </p:spPr>
        <p:txBody>
          <a:bodyPr wrap="square">
            <a:spAutoFit/>
          </a:bodyPr>
          <a:lstStyle/>
          <a:p>
            <a:pPr algn="l"/>
            <a:r>
              <a:rPr sz="1100" b="0" i="0">
                <a:solidFill>
                  <a:srgbClr val="FF9800"/>
                </a:solidFill>
                <a:latin typeface="Calibri"/>
              </a:rPr>
              <a:t>⚠  Composite weighting assumes equal importance across dimensions</a:t>
            </a:r>
          </a:p>
        </p:txBody>
      </p:sp>
      <p:sp>
        <p:nvSpPr>
          <p:cNvPr id="29" name="TextBox 28"/>
          <p:cNvSpPr txBox="1"/>
          <p:nvPr/>
        </p:nvSpPr>
        <p:spPr>
          <a:xfrm>
            <a:off x="274320" y="5916168"/>
            <a:ext cx="5669280" cy="384048"/>
          </a:xfrm>
          <a:prstGeom prst="rect">
            <a:avLst/>
          </a:prstGeom>
          <a:noFill/>
        </p:spPr>
        <p:txBody>
          <a:bodyPr wrap="square">
            <a:spAutoFit/>
          </a:bodyPr>
          <a:lstStyle/>
          <a:p>
            <a:pPr algn="l"/>
            <a:r>
              <a:rPr sz="1100" b="0" i="0">
                <a:solidFill>
                  <a:srgbClr val="FF9800"/>
                </a:solidFill>
                <a:latin typeface="Calibri"/>
              </a:rPr>
              <a:t>⚠  Secondary data reliance — field validation ongoing for full 492 upazilas</a:t>
            </a:r>
          </a:p>
        </p:txBody>
      </p:sp>
      <p:sp>
        <p:nvSpPr>
          <p:cNvPr id="30" name="TextBox 29"/>
          <p:cNvSpPr txBox="1"/>
          <p:nvPr/>
        </p:nvSpPr>
        <p:spPr>
          <a:xfrm>
            <a:off x="274320" y="6336792"/>
            <a:ext cx="5669280" cy="384048"/>
          </a:xfrm>
          <a:prstGeom prst="rect">
            <a:avLst/>
          </a:prstGeom>
          <a:noFill/>
        </p:spPr>
        <p:txBody>
          <a:bodyPr wrap="square">
            <a:spAutoFit/>
          </a:bodyPr>
          <a:lstStyle/>
          <a:p>
            <a:pPr algn="l"/>
            <a:r>
              <a:rPr sz="1100" b="0" i="0">
                <a:solidFill>
                  <a:srgbClr val="70AD47"/>
                </a:solidFill>
                <a:latin typeface="Calibri"/>
              </a:rPr>
              <a:t>→  Future: Panel data (2016–2030) for SDG 7 progress tracking</a:t>
            </a:r>
          </a:p>
        </p:txBody>
      </p:sp>
      <p:sp>
        <p:nvSpPr>
          <p:cNvPr id="31" name="TextBox 30"/>
          <p:cNvSpPr txBox="1"/>
          <p:nvPr/>
        </p:nvSpPr>
        <p:spPr>
          <a:xfrm>
            <a:off x="274320" y="6757416"/>
            <a:ext cx="5669280" cy="384048"/>
          </a:xfrm>
          <a:prstGeom prst="rect">
            <a:avLst/>
          </a:prstGeom>
          <a:noFill/>
        </p:spPr>
        <p:txBody>
          <a:bodyPr wrap="square">
            <a:spAutoFit/>
          </a:bodyPr>
          <a:lstStyle/>
          <a:p>
            <a:pPr algn="l"/>
            <a:r>
              <a:rPr sz="1100" b="0" i="0">
                <a:solidFill>
                  <a:srgbClr val="70AD47"/>
                </a:solidFill>
                <a:latin typeface="Calibri"/>
              </a:rPr>
              <a:t>→  Future: Machine learning for poverty prediction &amp; scenario modelling</a:t>
            </a:r>
          </a:p>
        </p:txBody>
      </p:sp>
      <p:sp>
        <p:nvSpPr>
          <p:cNvPr id="32" name="TextBox 31"/>
          <p:cNvSpPr txBox="1"/>
          <p:nvPr/>
        </p:nvSpPr>
        <p:spPr>
          <a:xfrm>
            <a:off x="274320" y="7178040"/>
            <a:ext cx="5669280" cy="384048"/>
          </a:xfrm>
          <a:prstGeom prst="rect">
            <a:avLst/>
          </a:prstGeom>
          <a:noFill/>
        </p:spPr>
        <p:txBody>
          <a:bodyPr wrap="square">
            <a:spAutoFit/>
          </a:bodyPr>
          <a:lstStyle/>
          <a:p>
            <a:pPr algn="l"/>
            <a:r>
              <a:rPr sz="1100" b="0" i="0">
                <a:solidFill>
                  <a:srgbClr val="70AD47"/>
                </a:solidFill>
                <a:latin typeface="Calibri"/>
              </a:rPr>
              <a:t>→  Future: Household-level (not upazila-level) MEPI disaggregation</a:t>
            </a:r>
          </a:p>
        </p:txBody>
      </p:sp>
      <p:sp>
        <p:nvSpPr>
          <p:cNvPr id="33" name="TextBox 32"/>
          <p:cNvSpPr txBox="1"/>
          <p:nvPr/>
        </p:nvSpPr>
        <p:spPr>
          <a:xfrm>
            <a:off x="6217920" y="1097280"/>
            <a:ext cx="5669280" cy="365760"/>
          </a:xfrm>
          <a:prstGeom prst="rect">
            <a:avLst/>
          </a:prstGeom>
          <a:noFill/>
        </p:spPr>
        <p:txBody>
          <a:bodyPr wrap="square">
            <a:spAutoFit/>
          </a:bodyPr>
          <a:lstStyle/>
          <a:p>
            <a:pPr algn="l"/>
            <a:r>
              <a:rPr sz="1500" b="1" i="0">
                <a:solidFill>
                  <a:srgbClr val="1F4E78"/>
                </a:solidFill>
                <a:latin typeface="Calibri"/>
              </a:rPr>
              <a:t>Next Steps &amp; Call to Action</a:t>
            </a:r>
          </a:p>
        </p:txBody>
      </p:sp>
      <p:sp>
        <p:nvSpPr>
          <p:cNvPr id="34" name="Rectangle 33"/>
          <p:cNvSpPr/>
          <p:nvPr/>
        </p:nvSpPr>
        <p:spPr>
          <a:xfrm>
            <a:off x="6217920" y="1554480"/>
            <a:ext cx="5669280" cy="777240"/>
          </a:xfrm>
          <a:prstGeom prst="rect">
            <a:avLst/>
          </a:prstGeom>
          <a:solidFill>
            <a:srgbClr val="FFFFFF"/>
          </a:solidFill>
          <a:ln w="19050">
            <a:solidFill>
              <a:srgbClr val="1F4E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1600200"/>
            <a:ext cx="548640" cy="411480"/>
          </a:xfrm>
          <a:prstGeom prst="rect">
            <a:avLst/>
          </a:prstGeom>
          <a:noFill/>
        </p:spPr>
        <p:txBody>
          <a:bodyPr wrap="square">
            <a:spAutoFit/>
          </a:bodyPr>
          <a:lstStyle/>
          <a:p>
            <a:pPr algn="ctr"/>
            <a:r>
              <a:rPr sz="1600" b="0" i="0">
                <a:solidFill>
                  <a:srgbClr val="1F4E78"/>
                </a:solidFill>
                <a:latin typeface="Calibri"/>
              </a:rPr>
              <a:t>📊</a:t>
            </a:r>
          </a:p>
        </p:txBody>
      </p:sp>
      <p:sp>
        <p:nvSpPr>
          <p:cNvPr id="36" name="TextBox 35"/>
          <p:cNvSpPr txBox="1"/>
          <p:nvPr/>
        </p:nvSpPr>
        <p:spPr>
          <a:xfrm>
            <a:off x="6903720" y="1600200"/>
            <a:ext cx="914400" cy="347472"/>
          </a:xfrm>
          <a:prstGeom prst="rect">
            <a:avLst/>
          </a:prstGeom>
          <a:noFill/>
        </p:spPr>
        <p:txBody>
          <a:bodyPr wrap="square">
            <a:spAutoFit/>
          </a:bodyPr>
          <a:lstStyle/>
          <a:p>
            <a:pPr algn="l"/>
            <a:r>
              <a:rPr sz="1300" b="1" i="0">
                <a:solidFill>
                  <a:srgbClr val="1F4E78"/>
                </a:solidFill>
                <a:latin typeface="Calibri"/>
              </a:rPr>
              <a:t>EXPAND</a:t>
            </a:r>
          </a:p>
        </p:txBody>
      </p:sp>
      <p:sp>
        <p:nvSpPr>
          <p:cNvPr id="37" name="TextBox 36"/>
          <p:cNvSpPr txBox="1"/>
          <p:nvPr/>
        </p:nvSpPr>
        <p:spPr>
          <a:xfrm>
            <a:off x="6903720" y="1938528"/>
            <a:ext cx="4892040" cy="347472"/>
          </a:xfrm>
          <a:prstGeom prst="rect">
            <a:avLst/>
          </a:prstGeom>
          <a:noFill/>
        </p:spPr>
        <p:txBody>
          <a:bodyPr wrap="square">
            <a:spAutoFit/>
          </a:bodyPr>
          <a:lstStyle/>
          <a:p>
            <a:pPr algn="l"/>
            <a:r>
              <a:rPr sz="1100" b="0" i="0">
                <a:solidFill>
                  <a:srgbClr val="333333"/>
                </a:solidFill>
                <a:latin typeface="Calibri"/>
              </a:rPr>
              <a:t>Scale to all 492 upazilas with complete primary data collection</a:t>
            </a:r>
          </a:p>
        </p:txBody>
      </p:sp>
      <p:sp>
        <p:nvSpPr>
          <p:cNvPr id="38" name="Rectangle 37"/>
          <p:cNvSpPr/>
          <p:nvPr/>
        </p:nvSpPr>
        <p:spPr>
          <a:xfrm>
            <a:off x="6217920" y="2441448"/>
            <a:ext cx="5669280" cy="777240"/>
          </a:xfrm>
          <a:prstGeom prst="rect">
            <a:avLst/>
          </a:prstGeom>
          <a:solidFill>
            <a:srgbClr val="FFFFFF"/>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2487168"/>
            <a:ext cx="548640" cy="411480"/>
          </a:xfrm>
          <a:prstGeom prst="rect">
            <a:avLst/>
          </a:prstGeom>
          <a:noFill/>
        </p:spPr>
        <p:txBody>
          <a:bodyPr wrap="square">
            <a:spAutoFit/>
          </a:bodyPr>
          <a:lstStyle/>
          <a:p>
            <a:pPr algn="ctr"/>
            <a:r>
              <a:rPr sz="1600" b="0" i="0">
                <a:solidFill>
                  <a:srgbClr val="70AD47"/>
                </a:solidFill>
                <a:latin typeface="Calibri"/>
              </a:rPr>
              <a:t>🗺</a:t>
            </a:r>
          </a:p>
        </p:txBody>
      </p:sp>
      <p:sp>
        <p:nvSpPr>
          <p:cNvPr id="40" name="TextBox 39"/>
          <p:cNvSpPr txBox="1"/>
          <p:nvPr/>
        </p:nvSpPr>
        <p:spPr>
          <a:xfrm>
            <a:off x="6903720" y="2487168"/>
            <a:ext cx="914400" cy="347472"/>
          </a:xfrm>
          <a:prstGeom prst="rect">
            <a:avLst/>
          </a:prstGeom>
          <a:noFill/>
        </p:spPr>
        <p:txBody>
          <a:bodyPr wrap="square">
            <a:spAutoFit/>
          </a:bodyPr>
          <a:lstStyle/>
          <a:p>
            <a:pPr algn="l"/>
            <a:r>
              <a:rPr sz="1300" b="1" i="0">
                <a:solidFill>
                  <a:srgbClr val="70AD47"/>
                </a:solidFill>
                <a:latin typeface="Calibri"/>
              </a:rPr>
              <a:t>MAP</a:t>
            </a:r>
          </a:p>
        </p:txBody>
      </p:sp>
      <p:sp>
        <p:nvSpPr>
          <p:cNvPr id="41" name="TextBox 40"/>
          <p:cNvSpPr txBox="1"/>
          <p:nvPr/>
        </p:nvSpPr>
        <p:spPr>
          <a:xfrm>
            <a:off x="6903720" y="2825496"/>
            <a:ext cx="4892040" cy="347472"/>
          </a:xfrm>
          <a:prstGeom prst="rect">
            <a:avLst/>
          </a:prstGeom>
          <a:noFill/>
        </p:spPr>
        <p:txBody>
          <a:bodyPr wrap="square">
            <a:spAutoFit/>
          </a:bodyPr>
          <a:lstStyle/>
          <a:p>
            <a:pPr algn="l"/>
            <a:r>
              <a:rPr sz="1100" b="0" i="0">
                <a:solidFill>
                  <a:srgbClr val="333333"/>
                </a:solidFill>
                <a:latin typeface="Calibri"/>
              </a:rPr>
              <a:t>Generate full interactive folium maps for policymaker dashboards</a:t>
            </a:r>
          </a:p>
        </p:txBody>
      </p:sp>
      <p:sp>
        <p:nvSpPr>
          <p:cNvPr id="42" name="Rectangle 41"/>
          <p:cNvSpPr/>
          <p:nvPr/>
        </p:nvSpPr>
        <p:spPr>
          <a:xfrm>
            <a:off x="6217920" y="3328416"/>
            <a:ext cx="5669280" cy="777240"/>
          </a:xfrm>
          <a:prstGeom prst="rect">
            <a:avLst/>
          </a:prstGeom>
          <a:solidFill>
            <a:srgbClr val="FFFFFF"/>
          </a:solidFill>
          <a:ln w="1905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309360" y="3374136"/>
            <a:ext cx="548640" cy="411480"/>
          </a:xfrm>
          <a:prstGeom prst="rect">
            <a:avLst/>
          </a:prstGeom>
          <a:noFill/>
        </p:spPr>
        <p:txBody>
          <a:bodyPr wrap="square">
            <a:spAutoFit/>
          </a:bodyPr>
          <a:lstStyle/>
          <a:p>
            <a:pPr algn="ctr"/>
            <a:r>
              <a:rPr sz="1600" b="0" i="0">
                <a:solidFill>
                  <a:srgbClr val="FF9800"/>
                </a:solidFill>
                <a:latin typeface="Calibri"/>
              </a:rPr>
              <a:t>📈</a:t>
            </a:r>
          </a:p>
        </p:txBody>
      </p:sp>
      <p:sp>
        <p:nvSpPr>
          <p:cNvPr id="44" name="TextBox 43"/>
          <p:cNvSpPr txBox="1"/>
          <p:nvPr/>
        </p:nvSpPr>
        <p:spPr>
          <a:xfrm>
            <a:off x="6903720" y="3374136"/>
            <a:ext cx="914400" cy="347472"/>
          </a:xfrm>
          <a:prstGeom prst="rect">
            <a:avLst/>
          </a:prstGeom>
          <a:noFill/>
        </p:spPr>
        <p:txBody>
          <a:bodyPr wrap="square">
            <a:spAutoFit/>
          </a:bodyPr>
          <a:lstStyle/>
          <a:p>
            <a:pPr algn="l"/>
            <a:r>
              <a:rPr sz="1300" b="1" i="0">
                <a:solidFill>
                  <a:srgbClr val="FF9800"/>
                </a:solidFill>
                <a:latin typeface="Calibri"/>
              </a:rPr>
              <a:t>TRACK</a:t>
            </a:r>
          </a:p>
        </p:txBody>
      </p:sp>
      <p:sp>
        <p:nvSpPr>
          <p:cNvPr id="45" name="TextBox 44"/>
          <p:cNvSpPr txBox="1"/>
          <p:nvPr/>
        </p:nvSpPr>
        <p:spPr>
          <a:xfrm>
            <a:off x="6903720" y="3712464"/>
            <a:ext cx="4892040" cy="347472"/>
          </a:xfrm>
          <a:prstGeom prst="rect">
            <a:avLst/>
          </a:prstGeom>
          <a:noFill/>
        </p:spPr>
        <p:txBody>
          <a:bodyPr wrap="square">
            <a:spAutoFit/>
          </a:bodyPr>
          <a:lstStyle/>
          <a:p>
            <a:pPr algn="l"/>
            <a:r>
              <a:rPr sz="1100" b="0" i="0">
                <a:solidFill>
                  <a:srgbClr val="333333"/>
                </a:solidFill>
                <a:latin typeface="Calibri"/>
              </a:rPr>
              <a:t>Establish annual MEPI tracking for SDG 7 monitoring</a:t>
            </a:r>
          </a:p>
        </p:txBody>
      </p:sp>
      <p:sp>
        <p:nvSpPr>
          <p:cNvPr id="46" name="Rectangle 45"/>
          <p:cNvSpPr/>
          <p:nvPr/>
        </p:nvSpPr>
        <p:spPr>
          <a:xfrm>
            <a:off x="6217920" y="4215384"/>
            <a:ext cx="5669280" cy="777240"/>
          </a:xfrm>
          <a:prstGeom prst="rect">
            <a:avLst/>
          </a:prstGeom>
          <a:solidFill>
            <a:srgbClr val="FFFFFF"/>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0" y="4261104"/>
            <a:ext cx="548640" cy="411480"/>
          </a:xfrm>
          <a:prstGeom prst="rect">
            <a:avLst/>
          </a:prstGeom>
          <a:noFill/>
        </p:spPr>
        <p:txBody>
          <a:bodyPr wrap="square">
            <a:spAutoFit/>
          </a:bodyPr>
          <a:lstStyle/>
          <a:p>
            <a:pPr algn="ctr"/>
            <a:r>
              <a:rPr sz="1600" b="0" i="0">
                <a:solidFill>
                  <a:srgbClr val="9B59B6"/>
                </a:solidFill>
                <a:latin typeface="Calibri"/>
              </a:rPr>
              <a:t>🤝</a:t>
            </a:r>
          </a:p>
        </p:txBody>
      </p:sp>
      <p:sp>
        <p:nvSpPr>
          <p:cNvPr id="48" name="TextBox 47"/>
          <p:cNvSpPr txBox="1"/>
          <p:nvPr/>
        </p:nvSpPr>
        <p:spPr>
          <a:xfrm>
            <a:off x="6903720" y="4261104"/>
            <a:ext cx="914400" cy="347472"/>
          </a:xfrm>
          <a:prstGeom prst="rect">
            <a:avLst/>
          </a:prstGeom>
          <a:noFill/>
        </p:spPr>
        <p:txBody>
          <a:bodyPr wrap="square">
            <a:spAutoFit/>
          </a:bodyPr>
          <a:lstStyle/>
          <a:p>
            <a:pPr algn="l"/>
            <a:r>
              <a:rPr sz="1300" b="1" i="0">
                <a:solidFill>
                  <a:srgbClr val="9B59B6"/>
                </a:solidFill>
                <a:latin typeface="Calibri"/>
              </a:rPr>
              <a:t>PARTNER</a:t>
            </a:r>
          </a:p>
        </p:txBody>
      </p:sp>
      <p:sp>
        <p:nvSpPr>
          <p:cNvPr id="49" name="TextBox 48"/>
          <p:cNvSpPr txBox="1"/>
          <p:nvPr/>
        </p:nvSpPr>
        <p:spPr>
          <a:xfrm>
            <a:off x="6903720" y="4599432"/>
            <a:ext cx="4892040" cy="347472"/>
          </a:xfrm>
          <a:prstGeom prst="rect">
            <a:avLst/>
          </a:prstGeom>
          <a:noFill/>
        </p:spPr>
        <p:txBody>
          <a:bodyPr wrap="square">
            <a:spAutoFit/>
          </a:bodyPr>
          <a:lstStyle/>
          <a:p>
            <a:pPr algn="l"/>
            <a:r>
              <a:rPr sz="1100" b="0" i="0">
                <a:solidFill>
                  <a:srgbClr val="333333"/>
                </a:solidFill>
                <a:latin typeface="Calibri"/>
              </a:rPr>
              <a:t>Collaborate with BPDB, BBS &amp; World Bank for data integration</a:t>
            </a:r>
          </a:p>
        </p:txBody>
      </p:sp>
      <p:sp>
        <p:nvSpPr>
          <p:cNvPr id="50" name="Rectangle 49"/>
          <p:cNvSpPr/>
          <p:nvPr/>
        </p:nvSpPr>
        <p:spPr>
          <a:xfrm>
            <a:off x="6217920" y="5102352"/>
            <a:ext cx="5669280" cy="777240"/>
          </a:xfrm>
          <a:prstGeom prst="rect">
            <a:avLst/>
          </a:prstGeom>
          <a:solidFill>
            <a:srgbClr val="FFFFFF"/>
          </a:solidFill>
          <a:ln w="19050">
            <a:solidFill>
              <a:srgbClr val="E74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09360" y="5148072"/>
            <a:ext cx="548640" cy="411480"/>
          </a:xfrm>
          <a:prstGeom prst="rect">
            <a:avLst/>
          </a:prstGeom>
          <a:noFill/>
        </p:spPr>
        <p:txBody>
          <a:bodyPr wrap="square">
            <a:spAutoFit/>
          </a:bodyPr>
          <a:lstStyle/>
          <a:p>
            <a:pPr algn="ctr"/>
            <a:r>
              <a:rPr sz="1600" b="0" i="0">
                <a:solidFill>
                  <a:srgbClr val="E74C3C"/>
                </a:solidFill>
                <a:latin typeface="Calibri"/>
              </a:rPr>
              <a:t>📄</a:t>
            </a:r>
          </a:p>
        </p:txBody>
      </p:sp>
      <p:sp>
        <p:nvSpPr>
          <p:cNvPr id="52" name="TextBox 51"/>
          <p:cNvSpPr txBox="1"/>
          <p:nvPr/>
        </p:nvSpPr>
        <p:spPr>
          <a:xfrm>
            <a:off x="6903720" y="5148072"/>
            <a:ext cx="914400" cy="347472"/>
          </a:xfrm>
          <a:prstGeom prst="rect">
            <a:avLst/>
          </a:prstGeom>
          <a:noFill/>
        </p:spPr>
        <p:txBody>
          <a:bodyPr wrap="square">
            <a:spAutoFit/>
          </a:bodyPr>
          <a:lstStyle/>
          <a:p>
            <a:pPr algn="l"/>
            <a:r>
              <a:rPr sz="1300" b="1" i="0">
                <a:solidFill>
                  <a:srgbClr val="E74C3C"/>
                </a:solidFill>
                <a:latin typeface="Calibri"/>
              </a:rPr>
              <a:t>PUBLISH</a:t>
            </a:r>
          </a:p>
        </p:txBody>
      </p:sp>
      <p:sp>
        <p:nvSpPr>
          <p:cNvPr id="53" name="TextBox 52"/>
          <p:cNvSpPr txBox="1"/>
          <p:nvPr/>
        </p:nvSpPr>
        <p:spPr>
          <a:xfrm>
            <a:off x="6903720" y="5486400"/>
            <a:ext cx="4892040" cy="347472"/>
          </a:xfrm>
          <a:prstGeom prst="rect">
            <a:avLst/>
          </a:prstGeom>
          <a:noFill/>
        </p:spPr>
        <p:txBody>
          <a:bodyPr wrap="square">
            <a:spAutoFit/>
          </a:bodyPr>
          <a:lstStyle/>
          <a:p>
            <a:pPr algn="l"/>
            <a:r>
              <a:rPr sz="1100" b="0" i="0">
                <a:solidFill>
                  <a:srgbClr val="333333"/>
                </a:solidFill>
                <a:latin typeface="Calibri"/>
              </a:rPr>
              <a:t>Submit findings to Energy Policy or Applied Energy journal</a:t>
            </a:r>
          </a:p>
        </p:txBody>
      </p:sp>
      <p:sp>
        <p:nvSpPr>
          <p:cNvPr id="54" name="Rectangle 53"/>
          <p:cNvSpPr/>
          <p:nvPr/>
        </p:nvSpPr>
        <p:spPr>
          <a:xfrm>
            <a:off x="6217920" y="6126480"/>
            <a:ext cx="5669280" cy="54864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0" y="6190488"/>
            <a:ext cx="5303520" cy="420624"/>
          </a:xfrm>
          <a:prstGeom prst="rect">
            <a:avLst/>
          </a:prstGeom>
          <a:noFill/>
        </p:spPr>
        <p:txBody>
          <a:bodyPr wrap="square">
            <a:spAutoFit/>
          </a:bodyPr>
          <a:lstStyle/>
          <a:p>
            <a:pPr algn="ctr"/>
            <a:r>
              <a:rPr sz="1200" b="1" i="0">
                <a:solidFill>
                  <a:srgbClr val="FFFFFF"/>
                </a:solidFill>
                <a:latin typeface="Calibri"/>
              </a:rPr>
              <a:t>Data &amp; Code: github.com/iqbal1999-tiger/energy-poverty-mapping  |  Open Source (MIT)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1F4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14800"/>
            <a:ext cx="12191695" cy="7315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731520"/>
            <a:ext cx="10332720" cy="1097280"/>
          </a:xfrm>
          <a:prstGeom prst="rect">
            <a:avLst/>
          </a:prstGeom>
          <a:noFill/>
        </p:spPr>
        <p:txBody>
          <a:bodyPr wrap="square">
            <a:spAutoFit/>
          </a:bodyPr>
          <a:lstStyle/>
          <a:p>
            <a:pPr algn="ctr"/>
            <a:r>
              <a:rPr sz="4400" b="1" i="0">
                <a:solidFill>
                  <a:srgbClr val="FFFFFF"/>
                </a:solidFill>
                <a:latin typeface="Calibri"/>
              </a:rPr>
              <a:t>Questions &amp; Discussion</a:t>
            </a:r>
          </a:p>
        </p:txBody>
      </p:sp>
      <p:sp>
        <p:nvSpPr>
          <p:cNvPr id="6" name="TextBox 5"/>
          <p:cNvSpPr txBox="1"/>
          <p:nvPr/>
        </p:nvSpPr>
        <p:spPr>
          <a:xfrm>
            <a:off x="1828800" y="1828800"/>
            <a:ext cx="8503920" cy="640080"/>
          </a:xfrm>
          <a:prstGeom prst="rect">
            <a:avLst/>
          </a:prstGeom>
          <a:noFill/>
        </p:spPr>
        <p:txBody>
          <a:bodyPr wrap="square">
            <a:spAutoFit/>
          </a:bodyPr>
          <a:lstStyle/>
          <a:p>
            <a:pPr algn="ctr"/>
            <a:r>
              <a:rPr sz="2200" b="0" i="0">
                <a:solidFill>
                  <a:srgbClr val="BFD7ED"/>
                </a:solidFill>
                <a:latin typeface="Calibri"/>
              </a:rPr>
              <a:t>Spatial Mapping of Energy Poverty in Bangladesh</a:t>
            </a:r>
          </a:p>
        </p:txBody>
      </p:sp>
      <p:sp>
        <p:nvSpPr>
          <p:cNvPr id="7" name="Rectangle 6"/>
          <p:cNvSpPr/>
          <p:nvPr/>
        </p:nvSpPr>
        <p:spPr>
          <a:xfrm>
            <a:off x="3200400" y="2560320"/>
            <a:ext cx="5760720" cy="54864"/>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2743200"/>
            <a:ext cx="8503920" cy="640080"/>
          </a:xfrm>
          <a:prstGeom prst="rect">
            <a:avLst/>
          </a:prstGeom>
          <a:noFill/>
        </p:spPr>
        <p:txBody>
          <a:bodyPr wrap="square">
            <a:spAutoFit/>
          </a:bodyPr>
          <a:lstStyle/>
          <a:p>
            <a:pPr algn="ctr"/>
            <a:r>
              <a:rPr sz="1600" b="0" i="0">
                <a:solidFill>
                  <a:srgbClr val="BFD7ED"/>
                </a:solidFill>
                <a:latin typeface="Calibri"/>
              </a:rPr>
              <a:t>Multidimensional Energy Poverty Index (MEPI) | 492 Upazilas | Bangladesh</a:t>
            </a:r>
          </a:p>
        </p:txBody>
      </p:sp>
      <p:sp>
        <p:nvSpPr>
          <p:cNvPr id="9" name="TextBox 8"/>
          <p:cNvSpPr txBox="1"/>
          <p:nvPr/>
        </p:nvSpPr>
        <p:spPr>
          <a:xfrm>
            <a:off x="457200" y="4343400"/>
            <a:ext cx="5029200" cy="365760"/>
          </a:xfrm>
          <a:prstGeom prst="rect">
            <a:avLst/>
          </a:prstGeom>
          <a:noFill/>
        </p:spPr>
        <p:txBody>
          <a:bodyPr wrap="square">
            <a:spAutoFit/>
          </a:bodyPr>
          <a:lstStyle/>
          <a:p>
            <a:pPr algn="l"/>
            <a:r>
              <a:rPr sz="1500" b="1" i="0">
                <a:solidFill>
                  <a:srgbClr val="1F4E78"/>
                </a:solidFill>
                <a:latin typeface="Calibri"/>
              </a:rPr>
              <a:t>Contact &amp; Resources</a:t>
            </a:r>
          </a:p>
        </p:txBody>
      </p:sp>
      <p:sp>
        <p:nvSpPr>
          <p:cNvPr id="10" name="TextBox 9"/>
          <p:cNvSpPr txBox="1"/>
          <p:nvPr/>
        </p:nvSpPr>
        <p:spPr>
          <a:xfrm>
            <a:off x="457200" y="4754880"/>
            <a:ext cx="5029200" cy="365760"/>
          </a:xfrm>
          <a:prstGeom prst="rect">
            <a:avLst/>
          </a:prstGeom>
          <a:noFill/>
        </p:spPr>
        <p:txBody>
          <a:bodyPr wrap="square">
            <a:spAutoFit/>
          </a:bodyPr>
          <a:lstStyle/>
          <a:p>
            <a:pPr algn="l"/>
            <a:r>
              <a:rPr sz="1300" b="0" i="0">
                <a:solidFill>
                  <a:srgbClr val="333333"/>
                </a:solidFill>
                <a:latin typeface="Calibri"/>
              </a:rPr>
              <a:t>Author: Iqbal (iqbal1999-tiger)</a:t>
            </a:r>
          </a:p>
        </p:txBody>
      </p:sp>
      <p:sp>
        <p:nvSpPr>
          <p:cNvPr id="11" name="TextBox 10"/>
          <p:cNvSpPr txBox="1"/>
          <p:nvPr/>
        </p:nvSpPr>
        <p:spPr>
          <a:xfrm>
            <a:off x="457200" y="5120640"/>
            <a:ext cx="5029200" cy="365760"/>
          </a:xfrm>
          <a:prstGeom prst="rect">
            <a:avLst/>
          </a:prstGeom>
          <a:noFill/>
        </p:spPr>
        <p:txBody>
          <a:bodyPr wrap="square">
            <a:spAutoFit/>
          </a:bodyPr>
          <a:lstStyle/>
          <a:p>
            <a:pPr algn="l"/>
            <a:r>
              <a:rPr sz="1200" b="0" i="0">
                <a:solidFill>
                  <a:srgbClr val="1F4E78"/>
                </a:solidFill>
                <a:latin typeface="Calibri"/>
              </a:rPr>
              <a:t>Repository: github.com/iqbal1999-tiger/energy-poverty-mapping</a:t>
            </a:r>
          </a:p>
        </p:txBody>
      </p:sp>
      <p:sp>
        <p:nvSpPr>
          <p:cNvPr id="12" name="TextBox 11"/>
          <p:cNvSpPr txBox="1"/>
          <p:nvPr/>
        </p:nvSpPr>
        <p:spPr>
          <a:xfrm>
            <a:off x="457200" y="5486400"/>
            <a:ext cx="5029200" cy="365760"/>
          </a:xfrm>
          <a:prstGeom prst="rect">
            <a:avLst/>
          </a:prstGeom>
          <a:noFill/>
        </p:spPr>
        <p:txBody>
          <a:bodyPr wrap="square">
            <a:spAutoFit/>
          </a:bodyPr>
          <a:lstStyle/>
          <a:p>
            <a:pPr algn="l"/>
            <a:r>
              <a:rPr sz="1200" b="0" i="0">
                <a:solidFill>
                  <a:srgbClr val="333333"/>
                </a:solidFill>
                <a:latin typeface="Calibri"/>
              </a:rPr>
              <a:t>License: Open Source (MIT) | Data: Publicly available</a:t>
            </a:r>
          </a:p>
        </p:txBody>
      </p:sp>
      <p:sp>
        <p:nvSpPr>
          <p:cNvPr id="13" name="TextBox 12"/>
          <p:cNvSpPr txBox="1"/>
          <p:nvPr/>
        </p:nvSpPr>
        <p:spPr>
          <a:xfrm>
            <a:off x="5943600" y="4343400"/>
            <a:ext cx="5943600" cy="365760"/>
          </a:xfrm>
          <a:prstGeom prst="rect">
            <a:avLst/>
          </a:prstGeom>
          <a:noFill/>
        </p:spPr>
        <p:txBody>
          <a:bodyPr wrap="square">
            <a:spAutoFit/>
          </a:bodyPr>
          <a:lstStyle/>
          <a:p>
            <a:pPr algn="l"/>
            <a:r>
              <a:rPr sz="1500" b="1" i="0">
                <a:solidFill>
                  <a:srgbClr val="1F4E78"/>
                </a:solidFill>
                <a:latin typeface="Calibri"/>
              </a:rPr>
              <a:t>Data Sources Acknowledgment</a:t>
            </a:r>
          </a:p>
        </p:txBody>
      </p:sp>
      <p:sp>
        <p:nvSpPr>
          <p:cNvPr id="14" name="TextBox 13"/>
          <p:cNvSpPr txBox="1"/>
          <p:nvPr/>
        </p:nvSpPr>
        <p:spPr>
          <a:xfrm>
            <a:off x="5943600" y="4754880"/>
            <a:ext cx="5943600" cy="1463040"/>
          </a:xfrm>
          <a:prstGeom prst="rect">
            <a:avLst/>
          </a:prstGeom>
          <a:noFill/>
        </p:spPr>
        <p:txBody>
          <a:bodyPr wrap="square">
            <a:spAutoFit/>
          </a:bodyPr>
          <a:lstStyle/>
          <a:p>
            <a:pPr algn="l"/>
            <a:r>
              <a:rPr sz="1200" b="0" i="0">
                <a:solidFill>
                  <a:srgbClr val="333333"/>
                </a:solidFill>
                <a:latin typeface="Calibri"/>
              </a:rPr>
              <a:t>• Bangladesh Bureau of Statistics (BBS) — Census 2022
• Bangladesh Power Development Board (BPDB)
• World Bank &amp; IEA — Energy Access Database
• Local Government Engineering Department (LGED)
• Primary Field Survey Data — 2023</a:t>
            </a:r>
          </a:p>
        </p:txBody>
      </p:sp>
      <p:sp>
        <p:nvSpPr>
          <p:cNvPr id="15" name="TextBox 14"/>
          <p:cNvSpPr txBox="1"/>
          <p:nvPr/>
        </p:nvSpPr>
        <p:spPr>
          <a:xfrm>
            <a:off x="457200" y="6217920"/>
            <a:ext cx="11247120" cy="365760"/>
          </a:xfrm>
          <a:prstGeom prst="rect">
            <a:avLst/>
          </a:prstGeom>
          <a:noFill/>
        </p:spPr>
        <p:txBody>
          <a:bodyPr wrap="square">
            <a:spAutoFit/>
          </a:bodyPr>
          <a:lstStyle/>
          <a:p>
            <a:pPr algn="ctr"/>
            <a:r>
              <a:rPr sz="1200" b="0" i="0">
                <a:solidFill>
                  <a:srgbClr val="888888"/>
                </a:solidFill>
                <a:latin typeface="Calibri"/>
              </a:rPr>
              <a:t>Thank you for your attention! | 2026-04-10 | Energy Poverty Mapping Research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